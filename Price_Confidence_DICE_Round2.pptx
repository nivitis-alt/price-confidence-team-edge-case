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jpg" ContentType="image/jpeg"/>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8"/>
    <p:sldId id="263" r:id="rId9"/>
    <p:sldId id="264" r:id="rId10"/>
    <p:sldId id="267" r:id="rId18"/>
    <p:sldId id="265" r:id="rId11"/>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1" d="100"/>
          <a:sy n="51" d="100"/>
        </p:scale>
        <p:origin x="260"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4B1248"/>
                </a:solidFill>
                <a:latin typeface="Arial"/>
              </a:defRPr>
            </a:pPr>
            <a:r>
              <a:rPr lang="en-US" sz="1300" b="0" i="0" u="none" strike="noStrike">
                <a:solidFill>
                  <a:srgbClr val="4B1248"/>
                </a:solidFill>
                <a:latin typeface="Arial"/>
              </a:rPr>
              <a:t>Negative reviews that complain about price</a:t>
            </a:r>
          </a:p>
        </c:rich>
      </c:tx>
      <c:layout/>
      <c:overlay val="0"/>
    </c:title>
    <c:autoTitleDeleted val="0"/>
    <c:plotArea>
      <c:layout/>
      <c:barChart>
        <c:barDir val="col"/>
        <c:grouping val="clustered"/>
        <c:varyColors val="0"/>
        <c:ser>
          <c:idx val="0"/>
          <c:order val="0"/>
          <c:tx>
            <c:strRef>
              <c:f>Sheet1!$B$1</c:f>
              <c:strCache>
                <c:ptCount val="1"/>
                <c:pt idx="0">
                  <c:v>Price complaints</c:v>
                </c:pt>
              </c:strCache>
            </c:strRef>
          </c:tx>
          <c:spPr>
            <a:solidFill>
              <a:srgbClr val="C2185B"/>
            </a:solidFill>
            <a:effectLst/>
          </c:spPr>
          <c:invertIfNegative val="0"/>
          <c:dLbls>
            <c:numFmt formatCode="0&quot;%&quot;" sourceLinked="0"/>
            <c:spPr>
              <a:noFill/>
              <a:ln>
                <a:noFill/>
              </a:ln>
              <a:effectLst/>
            </c:spPr>
            <c:txPr>
              <a:bodyPr/>
              <a:lstStyle/>
              <a:p>
                <a:pPr>
                  <a:defRPr sz="1200" b="0" i="0" u="none" strike="noStrike">
                    <a:solidFill>
                      <a:srgbClr val="2A0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&gt;5% below</c:v>
                </c:pt>
                <c:pt idx="1">
                  <c:v>Within 5%</c:v>
                </c:pt>
                <c:pt idx="2">
                  <c:v>5–15% above</c:v>
                </c:pt>
                <c:pt idx="3">
                  <c:v>&gt;15% above</c:v>
                </c:pt>
              </c:strCache>
            </c:strRef>
          </c:cat>
          <c:val>
            <c:numRef>
              <c:f>Sheet1!$B$2:$B$5</c:f>
              <c:numCache>
                <c:formatCode>General</c:formatCode>
                <c:ptCount val="4"/>
                <c:pt idx="0">
                  <c:v>22</c:v>
                </c:pt>
                <c:pt idx="1">
                  <c:v>27</c:v>
                </c:pt>
                <c:pt idx="2">
                  <c:v>44</c:v>
                </c:pt>
                <c:pt idx="3">
                  <c:v>58</c:v>
                </c:pt>
              </c:numCache>
            </c:numRef>
          </c:val>
          <c:extLst>
            <c:ext xmlns:c16="http://schemas.microsoft.com/office/drawing/2014/chart" uri="{C3380CC4-5D6E-409C-BE32-E72D297353CC}">
              <c16:uniqueId val="{00000000-DFA0-4C8C-BE3B-C0884A60D04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7516B"/>
                </a:solidFill>
                <a:latin typeface="Arial"/>
              </a:defRPr>
            </a:pPr>
            <a:endParaRPr lang="en-US"/>
          </a:p>
        </c:txPr>
        <c:crossAx val="2094734552"/>
        <c:crosses val="autoZero"/>
        <c:auto val="1"/>
        <c:lblAlgn val="ctr"/>
        <c:lblOffset val="100"/>
        <c:noMultiLvlLbl val="1"/>
      </c:catAx>
      <c:valAx>
        <c:axId val="2094734552"/>
        <c:scaling>
          <c:orientation val="minMax"/>
          <c:max val="7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Good product</c:v>
                </c:pt>
              </c:strCache>
            </c:strRef>
          </c:tx>
          <c:spPr>
            <a:ln w="34925">
              <a:solidFill>
                <a:srgbClr val="C2185B"/>
              </a:solidFill>
            </a:ln>
          </c:spPr>
          <c:marker>
            <c:symbol val="none"/>
          </c:marker>
          <c:xVal>
            <c:numRef>
              <c:f>Sheet1!$A$2:$A$14</c:f>
              <c:numCache>
                <c:formatCode>General</c:formatCode>
                <c:ptCount val="13"/>
                <c:pt idx="0">
                  <c:v>139</c:v>
                </c:pt>
                <c:pt idx="1">
                  <c:v>149</c:v>
                </c:pt>
                <c:pt idx="2">
                  <c:v>159</c:v>
                </c:pt>
                <c:pt idx="3">
                  <c:v>169</c:v>
                </c:pt>
                <c:pt idx="4">
                  <c:v>179</c:v>
                </c:pt>
                <c:pt idx="5">
                  <c:v>189</c:v>
                </c:pt>
                <c:pt idx="6">
                  <c:v>199</c:v>
                </c:pt>
                <c:pt idx="7">
                  <c:v>209</c:v>
                </c:pt>
                <c:pt idx="8">
                  <c:v>219</c:v>
                </c:pt>
                <c:pt idx="9">
                  <c:v>229</c:v>
                </c:pt>
                <c:pt idx="10">
                  <c:v>239</c:v>
                </c:pt>
                <c:pt idx="11">
                  <c:v>249</c:v>
                </c:pt>
                <c:pt idx="12">
                  <c:v>259</c:v>
                </c:pt>
              </c:numCache>
            </c:numRef>
          </c:xVal>
          <c:yVal>
            <c:numRef>
              <c:f>Sheet1!$B$2:$B$14</c:f>
              <c:numCache>
                <c:formatCode>General</c:formatCode>
                <c:ptCount val="13"/>
                <c:pt idx="0">
                  <c:v>-5955</c:v>
                </c:pt>
                <c:pt idx="1">
                  <c:v>5444</c:v>
                </c:pt>
                <c:pt idx="2">
                  <c:v>12035</c:v>
                </c:pt>
                <c:pt idx="3">
                  <c:v>15020</c:v>
                </c:pt>
                <c:pt idx="4">
                  <c:v>17075</c:v>
                </c:pt>
                <c:pt idx="5">
                  <c:v>16277</c:v>
                </c:pt>
                <c:pt idx="6">
                  <c:v>15159</c:v>
                </c:pt>
                <c:pt idx="7">
                  <c:v>13449</c:v>
                </c:pt>
                <c:pt idx="8">
                  <c:v>12150</c:v>
                </c:pt>
                <c:pt idx="9">
                  <c:v>10226</c:v>
                </c:pt>
                <c:pt idx="10">
                  <c:v>8836</c:v>
                </c:pt>
                <c:pt idx="11">
                  <c:v>7839</c:v>
                </c:pt>
                <c:pt idx="12">
                  <c:v>6950</c:v>
                </c:pt>
              </c:numCache>
            </c:numRef>
          </c:yVal>
          <c:smooth val="0"/>
        </c:ser>
        <c:ser>
          <c:idx val="1"/>
          <c:order val="1"/>
          <c:tx>
            <c:strRef>
              <c:f>Sheet1!$B$16</c:f>
              <c:strCache>
                <c:ptCount val="1"/>
                <c:pt idx="0">
                  <c:v>Typical product</c:v>
                </c:pt>
              </c:strCache>
            </c:strRef>
          </c:tx>
          <c:spPr>
            <a:ln w="28575">
              <a:solidFill>
                <a:srgbClr val="5B2A86"/>
              </a:solidFill>
            </a:ln>
          </c:spPr>
          <c:marker>
            <c:symbol val="none"/>
          </c:marker>
          <c:xVal>
            <c:numRef>
              <c:f>Sheet1!$A$17:$A$29</c:f>
              <c:numCache>
                <c:formatCode>General</c:formatCode>
                <c:ptCount val="13"/>
                <c:pt idx="0">
                  <c:v>139</c:v>
                </c:pt>
                <c:pt idx="1">
                  <c:v>149</c:v>
                </c:pt>
                <c:pt idx="2">
                  <c:v>159</c:v>
                </c:pt>
                <c:pt idx="3">
                  <c:v>169</c:v>
                </c:pt>
                <c:pt idx="4">
                  <c:v>179</c:v>
                </c:pt>
                <c:pt idx="5">
                  <c:v>189</c:v>
                </c:pt>
                <c:pt idx="6">
                  <c:v>199</c:v>
                </c:pt>
                <c:pt idx="7">
                  <c:v>209</c:v>
                </c:pt>
                <c:pt idx="8">
                  <c:v>219</c:v>
                </c:pt>
                <c:pt idx="9">
                  <c:v>229</c:v>
                </c:pt>
                <c:pt idx="10">
                  <c:v>239</c:v>
                </c:pt>
                <c:pt idx="11">
                  <c:v>249</c:v>
                </c:pt>
                <c:pt idx="12">
                  <c:v>259</c:v>
                </c:pt>
              </c:numCache>
            </c:numRef>
          </c:xVal>
          <c:yVal>
            <c:numRef>
              <c:f>Sheet1!$B$17:$B$29</c:f>
              <c:numCache>
                <c:formatCode>General</c:formatCode>
                <c:ptCount val="13"/>
                <c:pt idx="0">
                  <c:v>-5746</c:v>
                </c:pt>
                <c:pt idx="1">
                  <c:v>432</c:v>
                </c:pt>
                <c:pt idx="2">
                  <c:v>3839</c:v>
                </c:pt>
                <c:pt idx="3">
                  <c:v>5457</c:v>
                </c:pt>
                <c:pt idx="4">
                  <c:v>6306</c:v>
                </c:pt>
                <c:pt idx="5">
                  <c:v>6339</c:v>
                </c:pt>
                <c:pt idx="6">
                  <c:v>6024</c:v>
                </c:pt>
                <c:pt idx="7">
                  <c:v>5509</c:v>
                </c:pt>
                <c:pt idx="8">
                  <c:v>4854</c:v>
                </c:pt>
                <c:pt idx="9">
                  <c:v>4433</c:v>
                </c:pt>
                <c:pt idx="10">
                  <c:v>3878</c:v>
                </c:pt>
                <c:pt idx="11">
                  <c:v>3535</c:v>
                </c:pt>
                <c:pt idx="12">
                  <c:v>3020</c:v>
                </c:pt>
              </c:numCache>
            </c:numRef>
          </c:yVal>
          <c:smooth val="0"/>
        </c:ser>
        <c:ser>
          <c:idx val="2"/>
          <c:order val="2"/>
          <c:tx>
            <c:strRef>
              <c:f>Sheet1!$B$31</c:f>
              <c:strCache>
                <c:ptCount val="1"/>
                <c:pt idx="0">
                  <c:v>Weak product</c:v>
                </c:pt>
              </c:strCache>
            </c:strRef>
          </c:tx>
          <c:spPr>
            <a:ln w="28575">
              <a:solidFill>
                <a:srgbClr val="B9A3C7"/>
              </a:solidFill>
            </a:ln>
          </c:spPr>
          <c:marker>
            <c:symbol val="none"/>
          </c:marker>
          <c:xVal>
            <c:numRef>
              <c:f>Sheet1!$A$32:$A$44</c:f>
              <c:numCache>
                <c:formatCode>General</c:formatCode>
                <c:ptCount val="13"/>
                <c:pt idx="0">
                  <c:v>139</c:v>
                </c:pt>
                <c:pt idx="1">
                  <c:v>149</c:v>
                </c:pt>
                <c:pt idx="2">
                  <c:v>159</c:v>
                </c:pt>
                <c:pt idx="3">
                  <c:v>169</c:v>
                </c:pt>
                <c:pt idx="4">
                  <c:v>179</c:v>
                </c:pt>
                <c:pt idx="5">
                  <c:v>189</c:v>
                </c:pt>
                <c:pt idx="6">
                  <c:v>199</c:v>
                </c:pt>
                <c:pt idx="7">
                  <c:v>209</c:v>
                </c:pt>
                <c:pt idx="8">
                  <c:v>219</c:v>
                </c:pt>
                <c:pt idx="9">
                  <c:v>229</c:v>
                </c:pt>
                <c:pt idx="10">
                  <c:v>239</c:v>
                </c:pt>
                <c:pt idx="11">
                  <c:v>249</c:v>
                </c:pt>
                <c:pt idx="12">
                  <c:v>259</c:v>
                </c:pt>
              </c:numCache>
            </c:numRef>
          </c:xVal>
          <c:yVal>
            <c:numRef>
              <c:f>Sheet1!$B$32:$B$44</c:f>
              <c:numCache>
                <c:formatCode>General</c:formatCode>
                <c:ptCount val="13"/>
                <c:pt idx="0">
                  <c:v>-4190</c:v>
                </c:pt>
                <c:pt idx="1">
                  <c:v>-1266</c:v>
                </c:pt>
                <c:pt idx="2">
                  <c:v>530</c:v>
                </c:pt>
                <c:pt idx="3">
                  <c:v>1712</c:v>
                </c:pt>
                <c:pt idx="4">
                  <c:v>2208</c:v>
                </c:pt>
                <c:pt idx="5">
                  <c:v>2337</c:v>
                </c:pt>
                <c:pt idx="6">
                  <c:v>2251</c:v>
                </c:pt>
                <c:pt idx="7">
                  <c:v>2250</c:v>
                </c:pt>
                <c:pt idx="8">
                  <c:v>2087</c:v>
                </c:pt>
                <c:pt idx="9">
                  <c:v>2009</c:v>
                </c:pt>
                <c:pt idx="10">
                  <c:v>1886</c:v>
                </c:pt>
                <c:pt idx="11">
                  <c:v>1537</c:v>
                </c:pt>
                <c:pt idx="12">
                  <c:v>1368</c:v>
                </c:pt>
              </c:numCache>
            </c:numRef>
          </c:yVal>
          <c:smooth val="0"/>
        </c:ser>
        <c:ser>
          <c:idx val="3"/>
          <c:order val="3"/>
          <c:tx>
            <c:strRef>
              <c:f>Sheet1!$B$46</c:f>
              <c:strCache>
                <c:ptCount val="1"/>
                <c:pt idx="0">
                  <c:v>Floor</c:v>
                </c:pt>
              </c:strCache>
            </c:strRef>
          </c:tx>
          <c:spPr>
            <a:ln w="19050">
              <a:solidFill>
                <a:srgbClr val="B3261E"/>
              </a:solidFill>
              <a:prstDash val="dash"/>
            </a:ln>
          </c:spPr>
          <c:marker>
            <c:symbol val="none"/>
          </c:marker>
          <c:dLbls>
            <c:dLbl>
              <c:idx val="1"/>
              <c:tx>
                <c:rich>
                  <a:bodyPr/>
                  <a:lstStyle/>
                  <a:p>
                    <a:r>
                      <a:rPr sz="900" b="1">
                        <a:solidFill>
                          <a:srgbClr val="B3261E"/>
                        </a:solidFill>
                        <a:latin typeface="Arial"/>
                      </a:rPr>
                      <a:t>floor ₹145</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Sheet1!$A$47:$A$48</c:f>
              <c:numCache>
                <c:formatCode>General</c:formatCode>
                <c:ptCount val="2"/>
                <c:pt idx="0">
                  <c:v>145</c:v>
                </c:pt>
                <c:pt idx="1">
                  <c:v>145</c:v>
                </c:pt>
              </c:numCache>
            </c:numRef>
          </c:xVal>
          <c:yVal>
            <c:numRef>
              <c:f>Sheet1!$B$47:$B$48</c:f>
              <c:numCache>
                <c:formatCode>General</c:formatCode>
                <c:ptCount val="2"/>
                <c:pt idx="0">
                  <c:v>-6000</c:v>
                </c:pt>
                <c:pt idx="1">
                  <c:v>18000</c:v>
                </c:pt>
              </c:numCache>
            </c:numRef>
          </c:yVal>
          <c:smooth val="0"/>
        </c:ser>
        <c:ser>
          <c:idx val="4"/>
          <c:order val="4"/>
          <c:tx>
            <c:strRef>
              <c:f>Sheet1!$B$50</c:f>
              <c:strCache>
                <c:ptCount val="1"/>
                <c:pt idx="0">
                  <c:v>Good best</c:v>
                </c:pt>
              </c:strCache>
            </c:strRef>
          </c:tx>
          <c:spPr>
            <a:ln>
              <a:noFill/>
            </a:ln>
          </c:spPr>
          <c:marker>
            <c:symbol val="circle"/>
            <c:size val="8"/>
            <c:spPr>
              <a:solidFill>
                <a:srgbClr val="C2185B"/>
              </a:solidFill>
              <a:ln>
                <a:solidFill>
                  <a:srgbClr val="FFFFFF"/>
                </a:solidFill>
              </a:ln>
            </c:spPr>
          </c:marker>
          <c:dLbls>
            <c:dLbl>
              <c:idx val="0"/>
              <c:tx>
                <c:rich>
                  <a:bodyPr/>
                  <a:lstStyle/>
                  <a:p>
                    <a:r>
                      <a:rPr sz="900" b="1">
                        <a:solidFill>
                          <a:srgbClr val="C2185B"/>
                        </a:solidFill>
                        <a:latin typeface="Arial"/>
                      </a:rPr>
                      <a:t>best ₹179</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Sheet1!$A$51:$A$51</c:f>
              <c:numCache>
                <c:formatCode>General</c:formatCode>
                <c:ptCount val="1"/>
                <c:pt idx="0">
                  <c:v>179</c:v>
                </c:pt>
              </c:numCache>
            </c:numRef>
          </c:xVal>
          <c:yVal>
            <c:numRef>
              <c:f>Sheet1!$B$51:$B$51</c:f>
              <c:numCache>
                <c:formatCode>General</c:formatCode>
                <c:ptCount val="1"/>
                <c:pt idx="0">
                  <c:v>17075</c:v>
                </c:pt>
              </c:numCache>
            </c:numRef>
          </c:yVal>
          <c:smooth val="0"/>
        </c:ser>
        <c:ser>
          <c:idx val="5"/>
          <c:order val="5"/>
          <c:tx>
            <c:strRef>
              <c:f>Sheet1!$B$53</c:f>
              <c:strCache>
                <c:ptCount val="1"/>
                <c:pt idx="0">
                  <c:v>Weak note</c:v>
                </c:pt>
              </c:strCache>
            </c:strRef>
          </c:tx>
          <c:spPr>
            <a:ln>
              <a:noFill/>
            </a:ln>
          </c:spPr>
          <c:marker>
            <c:symbol val="none"/>
          </c:marker>
          <c:dLbls>
            <c:dLbl>
              <c:idx val="0"/>
              <c:tx>
                <c:rich>
                  <a:bodyPr/>
                  <a:lstStyle/>
                  <a:p>
                    <a:r>
                      <a:rPr sz="900" b="1">
                        <a:solidFill>
                          <a:srgbClr val="67516B"/>
                        </a:solidFill>
                        <a:latin typeface="Arial"/>
                      </a:rPr>
                      <a:t>weak: flat</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Sheet1!$A$54:$A$54</c:f>
              <c:numCache>
                <c:formatCode>General</c:formatCode>
                <c:ptCount val="1"/>
                <c:pt idx="0">
                  <c:v>239</c:v>
                </c:pt>
              </c:numCache>
            </c:numRef>
          </c:xVal>
          <c:yVal>
            <c:numRef>
              <c:f>Sheet1!$B$54:$B$54</c:f>
              <c:numCache>
                <c:formatCode>General</c:formatCode>
                <c:ptCount val="1"/>
                <c:pt idx="0">
                  <c:v>1886</c:v>
                </c:pt>
              </c:numCache>
            </c:numRef>
          </c:yVal>
          <c:smooth val="0"/>
        </c:ser>
        <c:axId val="-2128940872"/>
        <c:axId val="-2129643912"/>
      </c:scatterChart>
      <c:valAx>
        <c:axId val="-2128940872"/>
        <c:scaling>
          <c:orientation val="minMax"/>
          <c:max val="259.0"/>
          <c:min val="139.0"/>
        </c:scaling>
        <c:delete val="0"/>
        <c:axPos val="b"/>
        <c:numFmt formatCode="&quot;₹&quot;0" sourceLinked="0"/>
        <c:majorTickMark val="out"/>
        <c:minorTickMark val="none"/>
        <c:tickLblPos val="low"/>
        <c:spPr>
          <a:ln>
            <a:solidFill>
              <a:srgbClr val="67516B"/>
            </a:solidFill>
          </a:ln>
        </c:spPr>
        <c:txPr>
          <a:bodyPr/>
          <a:lstStyle/>
          <a:p>
            <a:pPr>
              <a:defRPr sz="900">
                <a:latin typeface="Arial"/>
              </a:defRPr>
            </a:pPr>
          </a:p>
        </c:txPr>
        <c:crossAx val="-2129643912"/>
        <c:crosses val="autoZero"/>
        <c:crossBetween val="midCat"/>
        <c:majorUnit val="20.0"/>
      </c:valAx>
      <c:valAx>
        <c:axId val="-2129643912"/>
        <c:scaling>
          <c:orientation val="minMax"/>
          <c:max val="18000.0"/>
          <c:min val="-6000.0"/>
        </c:scaling>
        <c:delete val="0"/>
        <c:axPos val="l"/>
        <c:majorGridlines>
          <c:spPr>
            <a:ln>
              <a:solidFill>
                <a:srgbClr val="E6DCE8"/>
              </a:solidFill>
            </a:ln>
          </c:spPr>
        </c:majorGridlines>
        <c:numFmt formatCode="#,##0" sourceLinked="0"/>
        <c:majorTickMark val="out"/>
        <c:minorTickMark val="none"/>
        <c:tickLblPos val="nextTo"/>
        <c:spPr>
          <a:ln>
            <a:noFill/>
          </a:ln>
        </c:spPr>
        <c:txPr>
          <a:bodyPr/>
          <a:lstStyle/>
          <a:p>
            <a:pPr>
              <a:defRPr sz="900">
                <a:latin typeface="Arial"/>
              </a:defRPr>
            </a:pPr>
          </a:p>
        </c:txPr>
        <c:crossAx val="-2128940872"/>
        <c:crosses val="autoZero"/>
        <c:crossBetween val="midCat"/>
        <c:majorUnit val="6000.0"/>
      </c:valAx>
    </c:plotArea>
    <c:legend>
      <c:legendPos val="b"/>
      <c:legendEntry>
        <c:idx val="3"/>
        <c:delete val="1"/>
      </c:legendEntry>
      <c:legendEntry>
        <c:idx val="4"/>
        <c:delete val="1"/>
      </c:legendEntry>
      <c:legendEntry>
        <c:idx val="5"/>
        <c:delete val="1"/>
      </c:legendEntry>
      <c:layout/>
      <c:overlay val="0"/>
      <c:txPr>
        <a:bodyPr/>
        <a:lstStyle/>
        <a:p>
          <a:pPr>
            <a:defRPr sz="95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4B1248"/>
                </a:solidFill>
                <a:latin typeface="Arial"/>
              </a:defRPr>
            </a:pPr>
            <a:r>
              <a:rPr lang="en-US" sz="1400" b="0" i="0" u="none" strike="noStrike">
                <a:solidFill>
                  <a:srgbClr val="4B1248"/>
                </a:solidFill>
                <a:latin typeface="Arial"/>
              </a:rPr>
              <a:t>Orders lost per impression when the price rises 10%</a:t>
            </a:r>
          </a:p>
        </c:rich>
      </c:tx>
      <c:layout/>
      <c:overlay val="0"/>
    </c:title>
    <c:autoTitleDeleted val="0"/>
    <c:plotArea>
      <c:layout/>
      <c:barChart>
        <c:barDir val="bar"/>
        <c:grouping val="clustered"/>
        <c:varyColors val="0"/>
        <c:ser>
          <c:idx val="0"/>
          <c:order val="0"/>
          <c:tx>
            <c:strRef>
              <c:f>Sheet1!$B$1</c:f>
              <c:strCache>
                <c:ptCount val="1"/>
                <c:pt idx="0">
                  <c:v>Learnt within each listing</c:v>
                </c:pt>
              </c:strCache>
            </c:strRef>
          </c:tx>
          <c:spPr>
            <a:solidFill>
              <a:srgbClr val="4B1248"/>
            </a:solidFill>
            <a:effectLst/>
          </c:spPr>
          <c:invertIfNegative val="0"/>
          <c:dLbls>
            <c:numFmt formatCode="0&quot;%&quot;" sourceLinked="0"/>
            <c:spPr>
              <a:noFill/>
              <a:ln>
                <a:noFill/>
              </a:ln>
              <a:effectLst/>
            </c:spPr>
            <c:txPr>
              <a:bodyPr/>
              <a:lstStyle/>
              <a:p>
                <a:pPr>
                  <a:defRPr sz="1200" b="0" i="0" u="none" strike="noStrike">
                    <a:solidFill>
                      <a:srgbClr val="2A0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Soap</c:v>
                </c:pt>
                <c:pt idx="1">
                  <c:v>T-shirt</c:v>
                </c:pt>
              </c:strCache>
            </c:strRef>
          </c:cat>
          <c:val>
            <c:numRef>
              <c:f>Sheet1!$B$2:$B$3</c:f>
              <c:numCache>
                <c:formatCode>General</c:formatCode>
                <c:ptCount val="2"/>
                <c:pt idx="0">
                  <c:v>20</c:v>
                </c:pt>
                <c:pt idx="1">
                  <c:v>26</c:v>
                </c:pt>
              </c:numCache>
            </c:numRef>
          </c:val>
          <c:extLst>
            <c:ext xmlns:c16="http://schemas.microsoft.com/office/drawing/2014/chart" uri="{C3380CC4-5D6E-409C-BE32-E72D297353CC}">
              <c16:uniqueId val="{00000000-5158-4EFF-AEE7-2F5CE3F1284C}"/>
            </c:ext>
          </c:extLst>
        </c:ser>
        <c:ser>
          <c:idx val="1"/>
          <c:order val="1"/>
          <c:tx>
            <c:strRef>
              <c:f>Sheet1!$C$1</c:f>
              <c:strCache>
                <c:ptCount val="1"/>
                <c:pt idx="0">
                  <c:v>Comparing different listings</c:v>
                </c:pt>
              </c:strCache>
            </c:strRef>
          </c:tx>
          <c:spPr>
            <a:solidFill>
              <a:srgbClr val="F2A7C6"/>
            </a:solidFill>
            <a:effectLst/>
          </c:spPr>
          <c:invertIfNegative val="0"/>
          <c:dLbls>
            <c:numFmt formatCode="0&quot;%&quot;" sourceLinked="0"/>
            <c:spPr>
              <a:noFill/>
              <a:ln>
                <a:noFill/>
              </a:ln>
              <a:effectLst/>
            </c:spPr>
            <c:txPr>
              <a:bodyPr/>
              <a:lstStyle/>
              <a:p>
                <a:pPr>
                  <a:defRPr sz="1200" b="0" i="0" u="none" strike="noStrike">
                    <a:solidFill>
                      <a:srgbClr val="2A0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Soap</c:v>
                </c:pt>
                <c:pt idx="1">
                  <c:v>T-shirt</c:v>
                </c:pt>
              </c:strCache>
            </c:strRef>
          </c:cat>
          <c:val>
            <c:numRef>
              <c:f>Sheet1!$C$2:$C$3</c:f>
              <c:numCache>
                <c:formatCode>General</c:formatCode>
                <c:ptCount val="2"/>
                <c:pt idx="0">
                  <c:v>7</c:v>
                </c:pt>
                <c:pt idx="1">
                  <c:v>10</c:v>
                </c:pt>
              </c:numCache>
            </c:numRef>
          </c:val>
          <c:extLst>
            <c:ext xmlns:c16="http://schemas.microsoft.com/office/drawing/2014/chart" uri="{C3380CC4-5D6E-409C-BE32-E72D297353CC}">
              <c16:uniqueId val="{00000001-5158-4EFF-AEE7-2F5CE3F1284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A0B2F"/>
                </a:solidFill>
                <a:latin typeface="Arial"/>
              </a:defRPr>
            </a:pPr>
            <a:endParaRPr lang="en-US"/>
          </a:p>
        </c:txPr>
        <c:crossAx val="2094734552"/>
        <c:crosses val="autoZero"/>
        <c:auto val="1"/>
        <c:lblAlgn val="ctr"/>
        <c:lblOffset val="100"/>
        <c:noMultiLvlLbl val="1"/>
      </c:catAx>
      <c:valAx>
        <c:axId val="2094734552"/>
        <c:scaling>
          <c:orientation val="minMax"/>
          <c:max val="32"/>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layout/>
      <c:overlay val="0"/>
      <c:txPr>
        <a:bodyPr/>
        <a:lstStyle/>
        <a:p>
          <a:pPr>
            <a:defRPr sz="12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4B1248"/>
                </a:solidFill>
                <a:latin typeface="Arial"/>
              </a:defRPr>
            </a:pPr>
            <a:r>
              <a:rPr lang="en-US" sz="1400" b="0" i="0" u="none" strike="noStrike">
                <a:solidFill>
                  <a:srgbClr val="4B1248"/>
                </a:solidFill>
                <a:latin typeface="Arial"/>
              </a:rPr>
              <a:t>Error predicting 8-week orders on held-out listings</a:t>
            </a:r>
          </a:p>
        </c:rich>
      </c:tx>
      <c:layout/>
      <c:overlay val="0"/>
    </c:title>
    <c:autoTitleDeleted val="0"/>
    <c:plotArea>
      <c:layout/>
      <c:barChart>
        <c:barDir val="bar"/>
        <c:grouping val="clustered"/>
        <c:varyColors val="0"/>
        <c:ser>
          <c:idx val="0"/>
          <c:order val="0"/>
          <c:tx>
            <c:strRef>
              <c:f>Sheet1!$B$1</c:f>
              <c:strCache>
                <c:ptCount val="1"/>
                <c:pt idx="0">
                  <c:v>Our models</c:v>
                </c:pt>
              </c:strCache>
            </c:strRef>
          </c:tx>
          <c:spPr>
            <a:solidFill>
              <a:srgbClr val="4B1248"/>
            </a:solidFill>
            <a:effectLst/>
          </c:spPr>
          <c:invertIfNegative val="0"/>
          <c:dLbls>
            <c:numFmt formatCode="0&quot;%&quot;" sourceLinked="0"/>
            <c:spPr>
              <a:noFill/>
              <a:ln>
                <a:noFill/>
              </a:ln>
              <a:effectLst/>
            </c:spPr>
            <c:txPr>
              <a:bodyPr/>
              <a:lstStyle/>
              <a:p>
                <a:pPr>
                  <a:defRPr sz="1200" b="0" i="0" u="none" strike="noStrike">
                    <a:solidFill>
                      <a:srgbClr val="2A0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Soap</c:v>
                </c:pt>
                <c:pt idx="1">
                  <c:v>T-shirt</c:v>
                </c:pt>
              </c:strCache>
            </c:strRef>
          </c:cat>
          <c:val>
            <c:numRef>
              <c:f>Sheet1!$B$2:$B$3</c:f>
              <c:numCache>
                <c:formatCode>General</c:formatCode>
                <c:ptCount val="2"/>
                <c:pt idx="0">
                  <c:v>31</c:v>
                </c:pt>
                <c:pt idx="1">
                  <c:v>41</c:v>
                </c:pt>
              </c:numCache>
            </c:numRef>
          </c:val>
          <c:extLst>
            <c:ext xmlns:c16="http://schemas.microsoft.com/office/drawing/2014/chart" uri="{C3380CC4-5D6E-409C-BE32-E72D297353CC}">
              <c16:uniqueId val="{00000000-51BA-4D01-AE7F-3C0A59A79D7A}"/>
            </c:ext>
          </c:extLst>
        </c:ser>
        <c:ser>
          <c:idx val="1"/>
          <c:order val="1"/>
          <c:tx>
            <c:strRef>
              <c:f>Sheet1!$C$1</c:f>
              <c:strCache>
                <c:ptCount val="1"/>
                <c:pt idx="0">
                  <c:v>Simple average</c:v>
                </c:pt>
              </c:strCache>
            </c:strRef>
          </c:tx>
          <c:spPr>
            <a:solidFill>
              <a:srgbClr val="F2A7C6"/>
            </a:solidFill>
            <a:effectLst/>
          </c:spPr>
          <c:invertIfNegative val="0"/>
          <c:dLbls>
            <c:numFmt formatCode="0&quot;%&quot;" sourceLinked="0"/>
            <c:spPr>
              <a:noFill/>
              <a:ln>
                <a:noFill/>
              </a:ln>
              <a:effectLst/>
            </c:spPr>
            <c:txPr>
              <a:bodyPr/>
              <a:lstStyle/>
              <a:p>
                <a:pPr>
                  <a:defRPr sz="1200" b="0" i="0" u="none" strike="noStrike">
                    <a:solidFill>
                      <a:srgbClr val="2A0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Soap</c:v>
                </c:pt>
                <c:pt idx="1">
                  <c:v>T-shirt</c:v>
                </c:pt>
              </c:strCache>
            </c:strRef>
          </c:cat>
          <c:val>
            <c:numRef>
              <c:f>Sheet1!$C$2:$C$3</c:f>
              <c:numCache>
                <c:formatCode>General</c:formatCode>
                <c:ptCount val="2"/>
                <c:pt idx="0">
                  <c:v>153</c:v>
                </c:pt>
                <c:pt idx="1">
                  <c:v>87</c:v>
                </c:pt>
              </c:numCache>
            </c:numRef>
          </c:val>
          <c:extLst>
            <c:ext xmlns:c16="http://schemas.microsoft.com/office/drawing/2014/chart" uri="{C3380CC4-5D6E-409C-BE32-E72D297353CC}">
              <c16:uniqueId val="{00000001-51BA-4D01-AE7F-3C0A59A79D7A}"/>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A0B2F"/>
                </a:solidFill>
                <a:latin typeface="Arial"/>
              </a:defRPr>
            </a:pPr>
            <a:endParaRPr lang="en-US"/>
          </a:p>
        </c:txPr>
        <c:crossAx val="2094734552"/>
        <c:crosses val="autoZero"/>
        <c:auto val="1"/>
        <c:lblAlgn val="ctr"/>
        <c:lblOffset val="100"/>
        <c:noMultiLvlLbl val="1"/>
      </c:catAx>
      <c:valAx>
        <c:axId val="2094734552"/>
        <c:scaling>
          <c:orientation val="minMax"/>
          <c:max val="185"/>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layout/>
      <c:overlay val="0"/>
      <c:txPr>
        <a:bodyPr/>
        <a:lstStyle/>
        <a:p>
          <a:pPr>
            <a:defRPr sz="12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Good product</c:v>
                </c:pt>
              </c:strCache>
            </c:strRef>
          </c:tx>
          <c:spPr>
            <a:ln w="34925">
              <a:solidFill>
                <a:srgbClr val="C2185B"/>
              </a:solidFill>
            </a:ln>
          </c:spPr>
          <c:marker>
            <c:symbol val="none"/>
          </c:marker>
          <c:xVal>
            <c:numRef>
              <c:f>Sheet1!$A$2:$A$81</c:f>
              <c:numCache>
                <c:formatCode>General</c:formatCode>
                <c:ptCount val="80"/>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123</c:v>
                </c:pt>
                <c:pt idx="63">
                  <c:v>124</c:v>
                </c:pt>
                <c:pt idx="64">
                  <c:v>126</c:v>
                </c:pt>
                <c:pt idx="65">
                  <c:v>128</c:v>
                </c:pt>
                <c:pt idx="66">
                  <c:v>130</c:v>
                </c:pt>
                <c:pt idx="67">
                  <c:v>132</c:v>
                </c:pt>
                <c:pt idx="68">
                  <c:v>134</c:v>
                </c:pt>
                <c:pt idx="69">
                  <c:v>136</c:v>
                </c:pt>
                <c:pt idx="70">
                  <c:v>138</c:v>
                </c:pt>
                <c:pt idx="71">
                  <c:v>140</c:v>
                </c:pt>
                <c:pt idx="72">
                  <c:v>142</c:v>
                </c:pt>
                <c:pt idx="73">
                  <c:v>144</c:v>
                </c:pt>
                <c:pt idx="74">
                  <c:v>146</c:v>
                </c:pt>
                <c:pt idx="75">
                  <c:v>148</c:v>
                </c:pt>
                <c:pt idx="76">
                  <c:v>150</c:v>
                </c:pt>
                <c:pt idx="77">
                  <c:v>152</c:v>
                </c:pt>
                <c:pt idx="78">
                  <c:v>154</c:v>
                </c:pt>
                <c:pt idx="79">
                  <c:v>156</c:v>
                </c:pt>
              </c:numCache>
            </c:numRef>
          </c:xVal>
          <c:yVal>
            <c:numRef>
              <c:f>Sheet1!$B$2:$B$81</c:f>
              <c:numCache>
                <c:formatCode>General</c:formatCode>
                <c:ptCount val="80"/>
                <c:pt idx="0">
                  <c:v>0</c:v>
                </c:pt>
                <c:pt idx="1">
                  <c:v>-2514</c:v>
                </c:pt>
                <c:pt idx="2">
                  <c:v>-4799</c:v>
                </c:pt>
                <c:pt idx="3">
                  <c:v>-4285</c:v>
                </c:pt>
                <c:pt idx="4">
                  <c:v>-3983</c:v>
                </c:pt>
                <c:pt idx="5">
                  <c:v>-3760</c:v>
                </c:pt>
                <c:pt idx="6">
                  <c:v>-3574</c:v>
                </c:pt>
                <c:pt idx="7">
                  <c:v>-3408</c:v>
                </c:pt>
                <c:pt idx="8">
                  <c:v>-3256</c:v>
                </c:pt>
                <c:pt idx="9">
                  <c:v>-3114</c:v>
                </c:pt>
                <c:pt idx="10">
                  <c:v>-2981</c:v>
                </c:pt>
                <c:pt idx="11">
                  <c:v>-2856</c:v>
                </c:pt>
                <c:pt idx="12">
                  <c:v>-2738</c:v>
                </c:pt>
                <c:pt idx="13">
                  <c:v>-2626</c:v>
                </c:pt>
                <c:pt idx="14">
                  <c:v>-2519</c:v>
                </c:pt>
                <c:pt idx="15">
                  <c:v>-2418</c:v>
                </c:pt>
                <c:pt idx="16">
                  <c:v>-2321</c:v>
                </c:pt>
                <c:pt idx="17">
                  <c:v>-2228</c:v>
                </c:pt>
                <c:pt idx="18">
                  <c:v>-2140</c:v>
                </c:pt>
                <c:pt idx="19">
                  <c:v>-2054</c:v>
                </c:pt>
                <c:pt idx="20">
                  <c:v>-1973</c:v>
                </c:pt>
                <c:pt idx="21">
                  <c:v>-1894</c:v>
                </c:pt>
                <c:pt idx="22">
                  <c:v>-1818</c:v>
                </c:pt>
                <c:pt idx="23">
                  <c:v>-1745</c:v>
                </c:pt>
                <c:pt idx="24">
                  <c:v>-1674</c:v>
                </c:pt>
                <c:pt idx="25">
                  <c:v>-1606</c:v>
                </c:pt>
                <c:pt idx="26">
                  <c:v>-1540</c:v>
                </c:pt>
                <c:pt idx="27">
                  <c:v>-1476</c:v>
                </c:pt>
                <c:pt idx="28">
                  <c:v>-1414</c:v>
                </c:pt>
                <c:pt idx="29">
                  <c:v>-1354</c:v>
                </c:pt>
                <c:pt idx="30">
                  <c:v>-1295</c:v>
                </c:pt>
                <c:pt idx="31">
                  <c:v>-1238</c:v>
                </c:pt>
                <c:pt idx="32">
                  <c:v>-1183</c:v>
                </c:pt>
                <c:pt idx="33">
                  <c:v>-1129</c:v>
                </c:pt>
                <c:pt idx="34">
                  <c:v>-1076</c:v>
                </c:pt>
                <c:pt idx="35">
                  <c:v>-1025</c:v>
                </c:pt>
                <c:pt idx="36">
                  <c:v>-975</c:v>
                </c:pt>
                <c:pt idx="37">
                  <c:v>-926</c:v>
                </c:pt>
                <c:pt idx="38">
                  <c:v>-879</c:v>
                </c:pt>
                <c:pt idx="39">
                  <c:v>-832</c:v>
                </c:pt>
                <c:pt idx="40">
                  <c:v>-787</c:v>
                </c:pt>
                <c:pt idx="41">
                  <c:v>-742</c:v>
                </c:pt>
                <c:pt idx="42">
                  <c:v>-698</c:v>
                </c:pt>
                <c:pt idx="43">
                  <c:v>-656</c:v>
                </c:pt>
                <c:pt idx="44">
                  <c:v>-614</c:v>
                </c:pt>
                <c:pt idx="45">
                  <c:v>-573</c:v>
                </c:pt>
                <c:pt idx="46">
                  <c:v>-533</c:v>
                </c:pt>
                <c:pt idx="47">
                  <c:v>-493</c:v>
                </c:pt>
                <c:pt idx="48">
                  <c:v>-455</c:v>
                </c:pt>
                <c:pt idx="49">
                  <c:v>-417</c:v>
                </c:pt>
                <c:pt idx="50">
                  <c:v>-380</c:v>
                </c:pt>
                <c:pt idx="51">
                  <c:v>-343</c:v>
                </c:pt>
                <c:pt idx="52">
                  <c:v>-307</c:v>
                </c:pt>
                <c:pt idx="53">
                  <c:v>-272</c:v>
                </c:pt>
                <c:pt idx="54">
                  <c:v>-237</c:v>
                </c:pt>
                <c:pt idx="55">
                  <c:v>-203</c:v>
                </c:pt>
                <c:pt idx="56">
                  <c:v>-169</c:v>
                </c:pt>
                <c:pt idx="57">
                  <c:v>-136</c:v>
                </c:pt>
                <c:pt idx="58">
                  <c:v>-104</c:v>
                </c:pt>
                <c:pt idx="59">
                  <c:v>-72</c:v>
                </c:pt>
                <c:pt idx="60">
                  <c:v>-40</c:v>
                </c:pt>
                <c:pt idx="61">
                  <c:v>-9</c:v>
                </c:pt>
                <c:pt idx="62">
                  <c:v>6</c:v>
                </c:pt>
                <c:pt idx="63">
                  <c:v>22</c:v>
                </c:pt>
                <c:pt idx="64">
                  <c:v>52</c:v>
                </c:pt>
                <c:pt idx="65">
                  <c:v>82</c:v>
                </c:pt>
                <c:pt idx="66">
                  <c:v>111</c:v>
                </c:pt>
                <c:pt idx="67">
                  <c:v>140</c:v>
                </c:pt>
                <c:pt idx="68">
                  <c:v>168</c:v>
                </c:pt>
                <c:pt idx="69">
                  <c:v>197</c:v>
                </c:pt>
                <c:pt idx="70">
                  <c:v>224</c:v>
                </c:pt>
                <c:pt idx="71">
                  <c:v>252</c:v>
                </c:pt>
                <c:pt idx="72">
                  <c:v>279</c:v>
                </c:pt>
                <c:pt idx="73">
                  <c:v>306</c:v>
                </c:pt>
                <c:pt idx="74">
                  <c:v>332</c:v>
                </c:pt>
                <c:pt idx="75">
                  <c:v>358</c:v>
                </c:pt>
                <c:pt idx="76">
                  <c:v>384</c:v>
                </c:pt>
                <c:pt idx="77">
                  <c:v>409</c:v>
                </c:pt>
                <c:pt idx="78">
                  <c:v>434</c:v>
                </c:pt>
                <c:pt idx="79">
                  <c:v>459</c:v>
                </c:pt>
              </c:numCache>
            </c:numRef>
          </c:yVal>
          <c:smooth val="0"/>
        </c:ser>
        <c:ser>
          <c:idx val="1"/>
          <c:order val="1"/>
          <c:tx>
            <c:strRef>
              <c:f>Sheet1!$B$83</c:f>
              <c:strCache>
                <c:ptCount val="1"/>
                <c:pt idx="0">
                  <c:v>Typical product</c:v>
                </c:pt>
              </c:strCache>
            </c:strRef>
          </c:tx>
          <c:spPr>
            <a:ln w="25400">
              <a:solidFill>
                <a:srgbClr val="5B2A86"/>
              </a:solidFill>
            </a:ln>
          </c:spPr>
          <c:marker>
            <c:symbol val="none"/>
          </c:marker>
          <c:xVal>
            <c:numRef>
              <c:f>Sheet1!$A$84:$A$163</c:f>
              <c:numCache>
                <c:formatCode>General</c:formatCode>
                <c:ptCount val="80"/>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123</c:v>
                </c:pt>
                <c:pt idx="63">
                  <c:v>124</c:v>
                </c:pt>
                <c:pt idx="64">
                  <c:v>126</c:v>
                </c:pt>
                <c:pt idx="65">
                  <c:v>128</c:v>
                </c:pt>
                <c:pt idx="66">
                  <c:v>130</c:v>
                </c:pt>
                <c:pt idx="67">
                  <c:v>132</c:v>
                </c:pt>
                <c:pt idx="68">
                  <c:v>134</c:v>
                </c:pt>
                <c:pt idx="69">
                  <c:v>136</c:v>
                </c:pt>
                <c:pt idx="70">
                  <c:v>138</c:v>
                </c:pt>
                <c:pt idx="71">
                  <c:v>140</c:v>
                </c:pt>
                <c:pt idx="72">
                  <c:v>142</c:v>
                </c:pt>
                <c:pt idx="73">
                  <c:v>144</c:v>
                </c:pt>
                <c:pt idx="74">
                  <c:v>146</c:v>
                </c:pt>
                <c:pt idx="75">
                  <c:v>148</c:v>
                </c:pt>
                <c:pt idx="76">
                  <c:v>150</c:v>
                </c:pt>
                <c:pt idx="77">
                  <c:v>152</c:v>
                </c:pt>
                <c:pt idx="78">
                  <c:v>154</c:v>
                </c:pt>
                <c:pt idx="79">
                  <c:v>156</c:v>
                </c:pt>
              </c:numCache>
            </c:numRef>
          </c:xVal>
          <c:yVal>
            <c:numRef>
              <c:f>Sheet1!$B$84:$B$163</c:f>
              <c:numCache>
                <c:formatCode>General</c:formatCode>
                <c:ptCount val="80"/>
                <c:pt idx="0">
                  <c:v>0</c:v>
                </c:pt>
                <c:pt idx="1">
                  <c:v>-1606</c:v>
                </c:pt>
                <c:pt idx="2">
                  <c:v>-2926</c:v>
                </c:pt>
                <c:pt idx="3">
                  <c:v>-2757</c:v>
                </c:pt>
                <c:pt idx="4">
                  <c:v>-2661</c:v>
                </c:pt>
                <c:pt idx="5">
                  <c:v>-2592</c:v>
                </c:pt>
                <c:pt idx="6">
                  <c:v>-2535</c:v>
                </c:pt>
                <c:pt idx="7">
                  <c:v>-2485</c:v>
                </c:pt>
                <c:pt idx="8">
                  <c:v>-2440</c:v>
                </c:pt>
                <c:pt idx="9">
                  <c:v>-2397</c:v>
                </c:pt>
                <c:pt idx="10">
                  <c:v>-2357</c:v>
                </c:pt>
                <c:pt idx="11">
                  <c:v>-2319</c:v>
                </c:pt>
                <c:pt idx="12">
                  <c:v>-2283</c:v>
                </c:pt>
                <c:pt idx="13">
                  <c:v>-2249</c:v>
                </c:pt>
                <c:pt idx="14">
                  <c:v>-2217</c:v>
                </c:pt>
                <c:pt idx="15">
                  <c:v>-2186</c:v>
                </c:pt>
                <c:pt idx="16">
                  <c:v>-2156</c:v>
                </c:pt>
                <c:pt idx="17">
                  <c:v>-2127</c:v>
                </c:pt>
                <c:pt idx="18">
                  <c:v>-2099</c:v>
                </c:pt>
                <c:pt idx="19">
                  <c:v>-2073</c:v>
                </c:pt>
                <c:pt idx="20">
                  <c:v>-2047</c:v>
                </c:pt>
                <c:pt idx="21">
                  <c:v>-2022</c:v>
                </c:pt>
                <c:pt idx="22">
                  <c:v>-1998</c:v>
                </c:pt>
                <c:pt idx="23">
                  <c:v>-1975</c:v>
                </c:pt>
                <c:pt idx="24">
                  <c:v>-1952</c:v>
                </c:pt>
                <c:pt idx="25">
                  <c:v>-1930</c:v>
                </c:pt>
                <c:pt idx="26">
                  <c:v>-1909</c:v>
                </c:pt>
                <c:pt idx="27">
                  <c:v>-1888</c:v>
                </c:pt>
                <c:pt idx="28">
                  <c:v>-1868</c:v>
                </c:pt>
                <c:pt idx="29">
                  <c:v>-1848</c:v>
                </c:pt>
                <c:pt idx="30">
                  <c:v>-1828</c:v>
                </c:pt>
                <c:pt idx="31">
                  <c:v>-1810</c:v>
                </c:pt>
                <c:pt idx="32">
                  <c:v>-1791</c:v>
                </c:pt>
                <c:pt idx="33">
                  <c:v>-1773</c:v>
                </c:pt>
                <c:pt idx="34">
                  <c:v>-1756</c:v>
                </c:pt>
                <c:pt idx="35">
                  <c:v>-1738</c:v>
                </c:pt>
                <c:pt idx="36">
                  <c:v>-1722</c:v>
                </c:pt>
                <c:pt idx="37">
                  <c:v>-1705</c:v>
                </c:pt>
                <c:pt idx="38">
                  <c:v>-1689</c:v>
                </c:pt>
                <c:pt idx="39">
                  <c:v>-1673</c:v>
                </c:pt>
                <c:pt idx="40">
                  <c:v>-1658</c:v>
                </c:pt>
                <c:pt idx="41">
                  <c:v>-1642</c:v>
                </c:pt>
                <c:pt idx="42">
                  <c:v>-1627</c:v>
                </c:pt>
                <c:pt idx="43">
                  <c:v>-1613</c:v>
                </c:pt>
                <c:pt idx="44">
                  <c:v>-1598</c:v>
                </c:pt>
                <c:pt idx="45">
                  <c:v>-1584</c:v>
                </c:pt>
                <c:pt idx="46">
                  <c:v>-1570</c:v>
                </c:pt>
                <c:pt idx="47">
                  <c:v>-1556</c:v>
                </c:pt>
                <c:pt idx="48">
                  <c:v>-1543</c:v>
                </c:pt>
                <c:pt idx="49">
                  <c:v>-1530</c:v>
                </c:pt>
                <c:pt idx="50">
                  <c:v>-1517</c:v>
                </c:pt>
                <c:pt idx="51">
                  <c:v>-1504</c:v>
                </c:pt>
                <c:pt idx="52">
                  <c:v>-1491</c:v>
                </c:pt>
                <c:pt idx="53">
                  <c:v>-1478</c:v>
                </c:pt>
                <c:pt idx="54">
                  <c:v>-1466</c:v>
                </c:pt>
                <c:pt idx="55">
                  <c:v>-1454</c:v>
                </c:pt>
                <c:pt idx="56">
                  <c:v>-1442</c:v>
                </c:pt>
                <c:pt idx="57">
                  <c:v>-1430</c:v>
                </c:pt>
                <c:pt idx="58">
                  <c:v>-1419</c:v>
                </c:pt>
                <c:pt idx="59">
                  <c:v>-1407</c:v>
                </c:pt>
                <c:pt idx="60">
                  <c:v>-1396</c:v>
                </c:pt>
                <c:pt idx="61">
                  <c:v>-1385</c:v>
                </c:pt>
                <c:pt idx="62">
                  <c:v>-1379</c:v>
                </c:pt>
                <c:pt idx="63">
                  <c:v>-1374</c:v>
                </c:pt>
                <c:pt idx="64">
                  <c:v>-1363</c:v>
                </c:pt>
                <c:pt idx="65">
                  <c:v>-1352</c:v>
                </c:pt>
                <c:pt idx="66">
                  <c:v>-1341</c:v>
                </c:pt>
                <c:pt idx="67">
                  <c:v>-1331</c:v>
                </c:pt>
                <c:pt idx="68">
                  <c:v>-1321</c:v>
                </c:pt>
                <c:pt idx="69">
                  <c:v>-1310</c:v>
                </c:pt>
                <c:pt idx="70">
                  <c:v>-1300</c:v>
                </c:pt>
                <c:pt idx="71">
                  <c:v>-1290</c:v>
                </c:pt>
                <c:pt idx="72">
                  <c:v>-1280</c:v>
                </c:pt>
                <c:pt idx="73">
                  <c:v>-1271</c:v>
                </c:pt>
                <c:pt idx="74">
                  <c:v>-1261</c:v>
                </c:pt>
                <c:pt idx="75">
                  <c:v>-1251</c:v>
                </c:pt>
                <c:pt idx="76">
                  <c:v>-1242</c:v>
                </c:pt>
                <c:pt idx="77">
                  <c:v>-1232</c:v>
                </c:pt>
                <c:pt idx="78">
                  <c:v>-1223</c:v>
                </c:pt>
                <c:pt idx="79">
                  <c:v>-1214</c:v>
                </c:pt>
              </c:numCache>
            </c:numRef>
          </c:yVal>
          <c:smooth val="0"/>
        </c:ser>
        <c:ser>
          <c:idx val="2"/>
          <c:order val="2"/>
          <c:tx>
            <c:strRef>
              <c:f>Sheet1!$B$165</c:f>
              <c:strCache>
                <c:ptCount val="1"/>
                <c:pt idx="0">
                  <c:v>Weak product</c:v>
                </c:pt>
              </c:strCache>
            </c:strRef>
          </c:tx>
          <c:spPr>
            <a:ln w="25400">
              <a:solidFill>
                <a:srgbClr val="B9A3C7"/>
              </a:solidFill>
            </a:ln>
          </c:spPr>
          <c:marker>
            <c:symbol val="none"/>
          </c:marker>
          <c:xVal>
            <c:numRef>
              <c:f>Sheet1!$A$166:$A$245</c:f>
              <c:numCache>
                <c:formatCode>General</c:formatCode>
                <c:ptCount val="80"/>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123</c:v>
                </c:pt>
                <c:pt idx="63">
                  <c:v>124</c:v>
                </c:pt>
                <c:pt idx="64">
                  <c:v>126</c:v>
                </c:pt>
                <c:pt idx="65">
                  <c:v>128</c:v>
                </c:pt>
                <c:pt idx="66">
                  <c:v>130</c:v>
                </c:pt>
                <c:pt idx="67">
                  <c:v>132</c:v>
                </c:pt>
                <c:pt idx="68">
                  <c:v>134</c:v>
                </c:pt>
                <c:pt idx="69">
                  <c:v>136</c:v>
                </c:pt>
                <c:pt idx="70">
                  <c:v>138</c:v>
                </c:pt>
                <c:pt idx="71">
                  <c:v>140</c:v>
                </c:pt>
                <c:pt idx="72">
                  <c:v>142</c:v>
                </c:pt>
                <c:pt idx="73">
                  <c:v>144</c:v>
                </c:pt>
                <c:pt idx="74">
                  <c:v>146</c:v>
                </c:pt>
                <c:pt idx="75">
                  <c:v>148</c:v>
                </c:pt>
                <c:pt idx="76">
                  <c:v>150</c:v>
                </c:pt>
                <c:pt idx="77">
                  <c:v>152</c:v>
                </c:pt>
                <c:pt idx="78">
                  <c:v>154</c:v>
                </c:pt>
                <c:pt idx="79">
                  <c:v>156</c:v>
                </c:pt>
              </c:numCache>
            </c:numRef>
          </c:xVal>
          <c:yVal>
            <c:numRef>
              <c:f>Sheet1!$B$166:$B$245</c:f>
              <c:numCache>
                <c:formatCode>General</c:formatCode>
                <c:ptCount val="80"/>
                <c:pt idx="0">
                  <c:v>0</c:v>
                </c:pt>
                <c:pt idx="1">
                  <c:v>-1049</c:v>
                </c:pt>
                <c:pt idx="2">
                  <c:v>-1848</c:v>
                </c:pt>
                <c:pt idx="3">
                  <c:v>-1795</c:v>
                </c:pt>
                <c:pt idx="4">
                  <c:v>-1768</c:v>
                </c:pt>
                <c:pt idx="5">
                  <c:v>-1751</c:v>
                </c:pt>
                <c:pt idx="6">
                  <c:v>-1739</c:v>
                </c:pt>
                <c:pt idx="7">
                  <c:v>-1729</c:v>
                </c:pt>
                <c:pt idx="8">
                  <c:v>-1720</c:v>
                </c:pt>
                <c:pt idx="9">
                  <c:v>-1713</c:v>
                </c:pt>
                <c:pt idx="10">
                  <c:v>-1706</c:v>
                </c:pt>
                <c:pt idx="11">
                  <c:v>-1699</c:v>
                </c:pt>
                <c:pt idx="12">
                  <c:v>-1693</c:v>
                </c:pt>
                <c:pt idx="13">
                  <c:v>-1688</c:v>
                </c:pt>
                <c:pt idx="14">
                  <c:v>-1683</c:v>
                </c:pt>
                <c:pt idx="15">
                  <c:v>-1678</c:v>
                </c:pt>
                <c:pt idx="16">
                  <c:v>-1673</c:v>
                </c:pt>
                <c:pt idx="17">
                  <c:v>-1669</c:v>
                </c:pt>
                <c:pt idx="18">
                  <c:v>-1665</c:v>
                </c:pt>
                <c:pt idx="19">
                  <c:v>-1661</c:v>
                </c:pt>
                <c:pt idx="20">
                  <c:v>-1657</c:v>
                </c:pt>
                <c:pt idx="21">
                  <c:v>-1653</c:v>
                </c:pt>
                <c:pt idx="22">
                  <c:v>-1649</c:v>
                </c:pt>
                <c:pt idx="23">
                  <c:v>-1646</c:v>
                </c:pt>
                <c:pt idx="24">
                  <c:v>-1642</c:v>
                </c:pt>
                <c:pt idx="25">
                  <c:v>-1639</c:v>
                </c:pt>
                <c:pt idx="26">
                  <c:v>-1636</c:v>
                </c:pt>
                <c:pt idx="27">
                  <c:v>-1633</c:v>
                </c:pt>
                <c:pt idx="28">
                  <c:v>-1630</c:v>
                </c:pt>
                <c:pt idx="29">
                  <c:v>-1627</c:v>
                </c:pt>
                <c:pt idx="30">
                  <c:v>-1624</c:v>
                </c:pt>
                <c:pt idx="31">
                  <c:v>-1621</c:v>
                </c:pt>
                <c:pt idx="32">
                  <c:v>-1618</c:v>
                </c:pt>
                <c:pt idx="33">
                  <c:v>-1615</c:v>
                </c:pt>
                <c:pt idx="34">
                  <c:v>-1612</c:v>
                </c:pt>
                <c:pt idx="35">
                  <c:v>-1609</c:v>
                </c:pt>
                <c:pt idx="36">
                  <c:v>-1607</c:v>
                </c:pt>
                <c:pt idx="37">
                  <c:v>-1604</c:v>
                </c:pt>
                <c:pt idx="38">
                  <c:v>-1601</c:v>
                </c:pt>
                <c:pt idx="39">
                  <c:v>-1599</c:v>
                </c:pt>
                <c:pt idx="40">
                  <c:v>-1596</c:v>
                </c:pt>
                <c:pt idx="41">
                  <c:v>-1594</c:v>
                </c:pt>
                <c:pt idx="42">
                  <c:v>-1591</c:v>
                </c:pt>
                <c:pt idx="43">
                  <c:v>-1588</c:v>
                </c:pt>
                <c:pt idx="44">
                  <c:v>-1586</c:v>
                </c:pt>
                <c:pt idx="45">
                  <c:v>-1584</c:v>
                </c:pt>
                <c:pt idx="46">
                  <c:v>-1581</c:v>
                </c:pt>
                <c:pt idx="47">
                  <c:v>-1579</c:v>
                </c:pt>
                <c:pt idx="48">
                  <c:v>-1576</c:v>
                </c:pt>
                <c:pt idx="49">
                  <c:v>-1574</c:v>
                </c:pt>
                <c:pt idx="50">
                  <c:v>-1571</c:v>
                </c:pt>
                <c:pt idx="51">
                  <c:v>-1569</c:v>
                </c:pt>
                <c:pt idx="52">
                  <c:v>-1567</c:v>
                </c:pt>
                <c:pt idx="53">
                  <c:v>-1564</c:v>
                </c:pt>
                <c:pt idx="54">
                  <c:v>-1562</c:v>
                </c:pt>
                <c:pt idx="55">
                  <c:v>-1560</c:v>
                </c:pt>
                <c:pt idx="56">
                  <c:v>-1558</c:v>
                </c:pt>
                <c:pt idx="57">
                  <c:v>-1555</c:v>
                </c:pt>
                <c:pt idx="58">
                  <c:v>-1553</c:v>
                </c:pt>
                <c:pt idx="59">
                  <c:v>-1551</c:v>
                </c:pt>
                <c:pt idx="60">
                  <c:v>-1549</c:v>
                </c:pt>
                <c:pt idx="61">
                  <c:v>-1547</c:v>
                </c:pt>
                <c:pt idx="62">
                  <c:v>-1545</c:v>
                </c:pt>
                <c:pt idx="63">
                  <c:v>-1544</c:v>
                </c:pt>
                <c:pt idx="64">
                  <c:v>-1542</c:v>
                </c:pt>
                <c:pt idx="65">
                  <c:v>-1540</c:v>
                </c:pt>
                <c:pt idx="66">
                  <c:v>-1538</c:v>
                </c:pt>
                <c:pt idx="67">
                  <c:v>-1536</c:v>
                </c:pt>
                <c:pt idx="68">
                  <c:v>-1534</c:v>
                </c:pt>
                <c:pt idx="69">
                  <c:v>-1532</c:v>
                </c:pt>
                <c:pt idx="70">
                  <c:v>-1529</c:v>
                </c:pt>
                <c:pt idx="71">
                  <c:v>-1527</c:v>
                </c:pt>
                <c:pt idx="72">
                  <c:v>-1525</c:v>
                </c:pt>
                <c:pt idx="73">
                  <c:v>-1523</c:v>
                </c:pt>
                <c:pt idx="74">
                  <c:v>-1521</c:v>
                </c:pt>
                <c:pt idx="75">
                  <c:v>-1519</c:v>
                </c:pt>
                <c:pt idx="76">
                  <c:v>-1517</c:v>
                </c:pt>
                <c:pt idx="77">
                  <c:v>-1515</c:v>
                </c:pt>
                <c:pt idx="78">
                  <c:v>-1513</c:v>
                </c:pt>
                <c:pt idx="79">
                  <c:v>-1511</c:v>
                </c:pt>
              </c:numCache>
            </c:numRef>
          </c:yVal>
          <c:smooth val="0"/>
        </c:ser>
        <c:ser>
          <c:idx val="3"/>
          <c:order val="3"/>
          <c:tx>
            <c:strRef>
              <c:f>Sheet1!$B$247</c:f>
              <c:strCache>
                <c:ptCount val="1"/>
                <c:pt idx="0">
                  <c:v>Catches up</c:v>
                </c:pt>
              </c:strCache>
            </c:strRef>
          </c:tx>
          <c:spPr>
            <a:ln>
              <a:noFill/>
            </a:ln>
          </c:spPr>
          <c:marker>
            <c:symbol val="circle"/>
            <c:size val="9"/>
            <c:spPr>
              <a:solidFill>
                <a:srgbClr val="C2185B"/>
              </a:solidFill>
              <a:ln>
                <a:solidFill>
                  <a:srgbClr val="FFFFFF"/>
                </a:solidFill>
              </a:ln>
            </c:spPr>
          </c:marker>
          <c:dLbls>
            <c:dLbl>
              <c:idx val="0"/>
              <c:tx>
                <c:rich>
                  <a:bodyPr/>
                  <a:lstStyle/>
                  <a:p>
                    <a:r>
                      <a:rPr sz="950" b="1">
                        <a:solidFill>
                          <a:srgbClr val="C2185B"/>
                        </a:solidFill>
                        <a:latin typeface="Arial"/>
                      </a:rPr>
                      <a:t>week 123</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Sheet1!$A$248:$A$248</c:f>
              <c:numCache>
                <c:formatCode>General</c:formatCode>
                <c:ptCount val="1"/>
                <c:pt idx="0">
                  <c:v>123</c:v>
                </c:pt>
              </c:numCache>
            </c:numRef>
          </c:xVal>
          <c:yVal>
            <c:numRef>
              <c:f>Sheet1!$B$248:$B$248</c:f>
              <c:numCache>
                <c:formatCode>General</c:formatCode>
                <c:ptCount val="1"/>
                <c:pt idx="0">
                  <c:v>0</c:v>
                </c:pt>
              </c:numCache>
            </c:numRef>
          </c:yVal>
          <c:smooth val="0"/>
        </c:ser>
        <c:axId val="-2128940872"/>
        <c:axId val="-2129643912"/>
      </c:scatterChart>
      <c:valAx>
        <c:axId val="-2128940872"/>
        <c:scaling>
          <c:orientation val="minMax"/>
          <c:max val="156.0"/>
          <c:min val="0.0"/>
        </c:scaling>
        <c:delete val="0"/>
        <c:axPos val="b"/>
        <c:numFmt formatCode="0&quot; wk&quot;" sourceLinked="0"/>
        <c:majorTickMark val="out"/>
        <c:minorTickMark val="none"/>
        <c:tickLblPos val="low"/>
        <c:spPr>
          <a:ln>
            <a:solidFill>
              <a:srgbClr val="67516B"/>
            </a:solidFill>
          </a:ln>
        </c:spPr>
        <c:txPr>
          <a:bodyPr/>
          <a:lstStyle/>
          <a:p>
            <a:pPr>
              <a:defRPr sz="900">
                <a:latin typeface="Arial"/>
              </a:defRPr>
            </a:pPr>
          </a:p>
        </c:txPr>
        <c:crossAx val="-2129643912"/>
        <c:crosses val="autoZero"/>
        <c:crossBetween val="midCat"/>
        <c:majorUnit val="26.0"/>
      </c:valAx>
      <c:valAx>
        <c:axId val="-2129643912"/>
        <c:scaling>
          <c:orientation val="minMax"/>
          <c:max val="1000.0"/>
          <c:min val="-5000.0"/>
        </c:scaling>
        <c:delete val="0"/>
        <c:axPos val="l"/>
        <c:majorGridlines>
          <c:spPr>
            <a:ln>
              <a:solidFill>
                <a:srgbClr val="E6DCE8"/>
              </a:solidFill>
            </a:ln>
          </c:spPr>
        </c:majorGridlines>
        <c:numFmt formatCode="#,##0" sourceLinked="0"/>
        <c:majorTickMark val="out"/>
        <c:minorTickMark val="none"/>
        <c:tickLblPos val="nextTo"/>
        <c:spPr>
          <a:ln>
            <a:noFill/>
          </a:ln>
        </c:spPr>
        <c:txPr>
          <a:bodyPr/>
          <a:lstStyle/>
          <a:p>
            <a:pPr>
              <a:defRPr sz="900">
                <a:latin typeface="Arial"/>
              </a:defRPr>
            </a:pPr>
          </a:p>
        </c:txPr>
        <c:crossAx val="-2128940872"/>
        <c:crosses val="autoZero"/>
        <c:crossBetween val="midCat"/>
        <c:majorUnit val="1000.0"/>
      </c:valAx>
    </c:plotArea>
    <c:legend>
      <c:legendPos val="b"/>
      <c:legendEntry>
        <c:idx val="3"/>
        <c:delete val="1"/>
      </c:legendEntry>
      <c:layout/>
      <c:overlay val="0"/>
      <c:txPr>
        <a:bodyPr/>
        <a:lstStyle/>
        <a:p>
          <a:pPr>
            <a:defRPr sz="95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522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Confidence: a pricing assistant for sellers moving from offline to Meesho. Story: what sellers get wrong today, how a seller should reach a price, how it should move over the product's life, and what Meesho can build, with a working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sellers told us how they price. Material is always counted; returns and advertising almost never. Seller 1's own stack shows Rs 135 of a Rs 485 order going to shipping, packaging, returns and ads. Seller 6 prices at cost on purpose to buy ratings, but his number misses packaging, returns and the free bar. After listing, sellers only apply discounts; the base price is never recomputed.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the case: how a seller arrives at a number. Step 1, the floor, is arithmetic: the seller types only what Meesho cannot know (making cost, packaging, free gifts); Meesho fills delivery fee, return and RTO rates and GST from its own data. RTO and returns are spread over the orders that actually get paid. Steps 2 to 4 use the market and the product. Launching below the floor is allowed, but only as an explicit, budgeted choice.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seller, end to end. The bill shows why his Rs 134 loses money: only about 84 of 100 parcels get paid for, so packaging, delivery, returns and his free bar are spread over those 84. Floor Rs 145. Soaps mostly sell between Rs 149 and Rs 228. At Rs 209 we expect about 69 orders placed in 12 weeks; about 58 are paid, at about Rs 61 each, which is the Rs 3,537 profit. Rs 229 earns slightly more but Rs 209 is within 5% and brings more orders, so reviews come faster.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 pricing is not a one-time act. Five moments, each with a signal Meesho already sees and a concrete move; growth moves the price up. Bottom left: the seller sees 'no orders', Meesho sees where buyers drop off, and only some drop-offs are price problems. Bottom right: which launch price pays depends on the product. In the simulator that generated our data, a good product earns most near the typical price, Rs 179 to 189, because each sale brings good reviews that bring more buyers; above that, profit falls quickly. A weak product earns about the same at any price from Rs 179 to 209: a price cut adds orders but also returns and bad reviews, so the answer is to fix the product, not the price. Below the Rs 145 floor every product loses money. For reviews, a short discount that stays above the floor (Rs 159 for 4 weeks) costs about Rs 147 per extra review and never goes into the red; going below it (Rs 129) costs about Rs 235 per review, and for a good product only catches up after about 2.4 years (week 123), while typical and weak products never do. Our own model is more cautious than the simulator about price cuts and starts Seller 6 at Rs 209, because sellers in historical data cut prices when sales are slow, which blurs the price effect; a randomised price test in the pilot settles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URLs: [1] https://sell.amazon.com/tools/automate-pricing [2] https://medium.com/meesho-tech/helping-sellers-offer-competitive-prices-in-bharats-growing-e-commerce-landscape-6313fc944d66 [3] https://zenml.io/llmops-database/building-price-prediction-and-similar-item-search-models-for-e-commerce [4] https://medium.com/mercari-engineering/price-guidance-system-74358bd96081 [5] https://videolectures.net/videos/kdd2018_ye_airbnb_dynamic_pricing [6] https://chainstoreage.com/flipkart-becomes-artificial-intelligence-provider [7] https://competera.ai/platform. Every serious pricing tool uses AI, but almost all of it points at the market: finding look-alike products and predicting what will sell. The pink column is the gap: nobody models the seller's own cost to serve, which is exactly what a first-time Meesho seller gets wrong. On the right side, the same four questions for every tool: price for a new product, returns/RTO/GST, updates later, and the seller's profit. Only Price Confidence answers yes to all four, for a product with no sales history. Backend notes: Amazon sellers share one product page, so its repricer needs no matching and follows the Featured Offer. Flipkart Commerce Cloud tracks rivals, learns elasticity from sales history and treats cost as the floor. eBay uses transformer embeddings to find recently sold look-alikes and predicts price from them. Mercari, per its own engineering blog, suggests a starting price and a floor from the item's photo, title, description, category, brand and condition using neural-network models; Smart Pricing then lowers the price until it sells or reaches the seller's floor. Airbnb uses gradient-boosted booking-probability models plus a pricing model and host rules. Competera matches rival products and optimises on elasticity from years of sales. Meesho's Price Recommendation finds identical products by image and by attributes/text and suggests a price that will sell. Price Confidence reuses that matching and adds a return and RTO model, a cost model that sets the floor, and rules that guard it; the optimiser is half because full profit optimisation needs pilot data. Dots: full = documented publicly, half = partial evidence, ring = not public (it may exist, we cannot confirm). Ideas we borrow: a hard floor crossed only on purpose, a chance-of-sale view, and an alert when a price sits at its floor without selling.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Meesho already recommends prices by matching identical listings. That tells a seller what will sell, not whether it makes money for them. Price Confidence sits on top: the seller types only what Meesho cannot know (making cost, packaging, free gifts); Meesho fills delivery fees, return and RTO rates, GST and the market band. The seller sees one price tag first, and opens the details only if they want them. Click the picture, the button or scan the QR code to watch our recorded demo of the working prototype.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chained together. A2: how many people see the listing each week. A1: how many of them order at a given price; it is a rate per impression, so exposure is handled through an offset and more views are never mistaken for better conversion. B: how many of those orders get paid and reviewed. The design rule for all three: each listing gets its own baseline, so effects are learnt from a listing changing over time, not from comparing good products with bad ones; comparing listings hides most of the price effect. We also ran Seller 6's soap through the simulator that generated the data: it agrees that launching below the floor loses money for every kind of product. Our models are more cautious than the simulator about discounts above the floor, because sellers in the data cut prices when sales are slow, which blurs the price effect; the pilot's randomised price tests fix that.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judge success on net seller profit per 1,000 views, with guardrails so buyers are not hurt and sellers are not pushed away. The pilot also runs small randomised price tests, because in historical data sellers cut prices when sales are slow, which makes price look weaker than it is. The biggest risks are data and trust: retrain on Meesho's own history, learn price within listings, and always show the working with the seller in control. The 30-day step needs the seller's own costs, which they type in, plus fees, return and RTO rates and GST, which Meesho already holds.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Our primary research: seven seller interviews and a scrape of 307 live Meesho listings across eight categories, both linked. Public sources: Meesho's tech blog on price recommendation, Meesho's supplier pricing page, a seller-fee explainer, and Meesho's offer documents. The prototype runs on synthetic data built to demonstrate the method; the assumptions are listed so every number in the deck can be traced. Competitor sources are numbered and linked on slide 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it takes to run. Almost all the data already exists inside Meesho: catalogue, weekly funnel, order outcomes, returns, reviews and the market. The seller only types making cost, packaging and gifts. The three pricing models are small regressions that retrain weekly on CPUs; a GPU is used only to read review text and embed new product photos, and product matching reuses Meesho's existing image and text embeddings. At AWS Mumbai on-demand prices (October 2026, Rs 96 per dollar: c6i about Rs 4.1 per vCPU-hour, a T4 GPU about Rs 56 an hour, S3 about Rs 2.4 per GB-month) for 10 million active listings that is about Rs 64,000 to Rs 1.25 lakh a month: about 25 paise per seller a month if spread over 5 lakh sellers. Avoiding one below-cost sale a month, which cost Seller 6 about Rs 10 per paid order, repays it about 40 times. These are order-of-magnitude estimates before any committed-use discounts.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hyperlink" Target="https://drive.google.com/drive/folders/1sz4T6iNilEnazwR4ERVVpy-jvnRNK8GQ" TargetMode="External"/><Relationship Id="rId5" Type="http://schemas.openxmlformats.org/officeDocument/2006/relationships/hyperlink" Target="https://1drv.ms/x/c/7E6E5E0312623976/IQBnx7V_17MbTaF0eWpZ_capAeKfGSo_w08fRtF22QvDRyE?e=WvLErV"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1.xml"/><Relationship Id="rId5" Type="http://schemas.openxmlformats.org/officeDocument/2006/relationships/chart" Target="../charts/chart5.xml"/><Relationship Id="rId6"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hyperlink" Target="https://sell.amazon.com/tools/automate-pricing" TargetMode="External"/><Relationship Id="rId10" Type="http://schemas.openxmlformats.org/officeDocument/2006/relationships/hyperlink" Target="https://medium.com/meesho-tech/helping-sellers-offer-competitive-prices-in-bharats-growing-e-commerce-landscape-6313fc944d66" TargetMode="External"/><Relationship Id="rId11" Type="http://schemas.openxmlformats.org/officeDocument/2006/relationships/hyperlink" Target="https://zenml.io/llmops-database/building-price-prediction-and-similar-item-search-models-for-e-commerce" TargetMode="External"/><Relationship Id="rId12" Type="http://schemas.openxmlformats.org/officeDocument/2006/relationships/hyperlink" Target="https://medium.com/mercari-engineering/price-guidance-system-74358bd96081" TargetMode="External"/><Relationship Id="rId13" Type="http://schemas.openxmlformats.org/officeDocument/2006/relationships/hyperlink" Target="https://videolectures.net/videos/kdd2018_ye_airbnb_dynamic_pricing" TargetMode="External"/><Relationship Id="rId14" Type="http://schemas.openxmlformats.org/officeDocument/2006/relationships/hyperlink" Target="https://chainstoreage.com/flipkart-becomes-artificial-intelligence-provider" TargetMode="External"/><Relationship Id="rId15" Type="http://schemas.openxmlformats.org/officeDocument/2006/relationships/hyperlink" Target="https://competera.ai/platfor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hyperlink" Target="https://medium.com/meesho-tech/helping-sellers-offer-competitive-prices-in-bharats-growing-e-commerce-landscape-6313fc944d66" TargetMode="External"/><Relationship Id="rId5" Type="http://schemas.openxmlformats.org/officeDocument/2006/relationships/hyperlink" Target="https://www.loom.com/share/c300fa0f2e26450d9860fd87da4de9cf" TargetMode="External"/><Relationship Id="rId6" Type="http://schemas.openxmlformats.org/officeDocument/2006/relationships/image" Target="../media/image8.jpg"/><Relationship Id="rId7" Type="http://schemas.openxmlformats.org/officeDocument/2006/relationships/image" Target="../media/image9.png"/><Relationship Id="rId8"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3.xml"/><Relationship Id="rId5"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eg"/><Relationship Id="rId4" Type="http://schemas.openxmlformats.org/officeDocument/2006/relationships/hyperlink" Target="https://drive.google.com/drive/folders/1sz4T6iNilEnazwR4ERVVpy-jvnRNK8GQ?usp=sharing" TargetMode="External"/><Relationship Id="rId5" Type="http://schemas.openxmlformats.org/officeDocument/2006/relationships/hyperlink" Target="https://1drv.ms/x/c/7E6E5E0312623976/IQBnx7V_17MbTaF0eWpZ_capAeKfGSo_w08fRtF22QvDRyE?e=WvLErV" TargetMode="External"/><Relationship Id="rId6" Type="http://schemas.openxmlformats.org/officeDocument/2006/relationships/hyperlink" Target="https://drive.google.com/drive/folders/16dLBNxVBHa3Gq6LbL1DDobfAsi24wJbI?usp=sharing" TargetMode="External"/><Relationship Id="rId7" Type="http://schemas.openxmlformats.org/officeDocument/2006/relationships/hyperlink" Target="https://www.loom.com/share/c300fa0f2e26450d9860fd87da4de9cf" TargetMode="External"/><Relationship Id="rId8" Type="http://schemas.openxmlformats.org/officeDocument/2006/relationships/hyperlink" Target="https://medium.com/meesho-tech/helping-sellers-offer-competitive-prices-in-bharats-growing-e-commerce-landscape-6313fc944d66" TargetMode="External"/><Relationship Id="rId9" Type="http://schemas.openxmlformats.org/officeDocument/2006/relationships/hyperlink" Target="https://supplier.meesho.com/pricing" TargetMode="External"/><Relationship Id="rId10" Type="http://schemas.openxmlformats.org/officeDocument/2006/relationships/hyperlink" Target="https://www.ecomvanshika.com/blog/meesho-seller-fees-explained" TargetMode="External"/><Relationship Id="rId11" Type="http://schemas.openxmlformats.org/officeDocument/2006/relationships/hyperlink" Target="https://www.morganstanley.com/content/dam/msdotcom/en/indiaofferdocuments/pdfs/Meesho_Limited_Notice_to_Investors.pdf" TargetMode="External"/><Relationship Id="rId12" Type="http://schemas.openxmlformats.org/officeDocument/2006/relationships/hyperlink" Target="https://www.chittorgarh.com/ipo/meesho-ipo/2516/" TargetMode="External"/><Relationship Id="rId13" Type="http://schemas.openxmlformats.org/officeDocument/2006/relationships/hyperlink" Target="https://sell.amazon.com/tools/automate-pricing" TargetMode="External"/><Relationship Id="rId14" Type="http://schemas.openxmlformats.org/officeDocument/2006/relationships/hyperlink" Target="https://medium.com/meesho-tech/helping-sellers-offer-competitive-prices-in-bharats-growing-e-commerce-landscape-6313fc944d66" TargetMode="External"/><Relationship Id="rId15" Type="http://schemas.openxmlformats.org/officeDocument/2006/relationships/hyperlink" Target="https://zenml.io/llmops-database/building-price-prediction-and-similar-item-search-models-for-e-commerce" TargetMode="External"/><Relationship Id="rId16" Type="http://schemas.openxmlformats.org/officeDocument/2006/relationships/hyperlink" Target="https://medium.com/mercari-engineering/price-guidance-system-74358bd96081" TargetMode="External"/><Relationship Id="rId17" Type="http://schemas.openxmlformats.org/officeDocument/2006/relationships/hyperlink" Target="https://videolectures.net/videos/kdd2018_ye_airbnb_dynamic_pricing" TargetMode="External"/><Relationship Id="rId18" Type="http://schemas.openxmlformats.org/officeDocument/2006/relationships/hyperlink" Target="https://chainstoreage.com/flipkart-becomes-artificial-intelligence-provider" TargetMode="External"/><Relationship Id="rId19" Type="http://schemas.openxmlformats.org/officeDocument/2006/relationships/hyperlink" Target="https://competera.ai/platform" TargetMode="External"/><Relationship Id="rId20" Type="http://schemas.openxmlformats.org/officeDocument/2006/relationships/hyperlink" Target="https://docs.google.com/spreadsheets/d/1CqF6I7doZDt92Vv2gt4HP0mBk-k3X2ez/edit?usp=sharing&amp;ouid=107791783975943016394&amp;rtpof=true&amp;sd=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965960" y="6144768"/>
            <a:ext cx="14356080" cy="914400"/>
          </a:xfrm>
          <a:prstGeom prst="rect">
            <a:avLst/>
          </a:prstGeom>
          <a:noFill/>
          <a:ln/>
        </p:spPr>
        <p:txBody>
          <a:bodyPr wrap="square" lIns="0" tIns="0" rIns="0" bIns="0" rtlCol="0" anchor="ctr"/>
          <a:lstStyle/>
          <a:p>
            <a:pPr marL="0" indent="0" algn="ctr">
              <a:buNone/>
            </a:pPr>
            <a:r>
              <a:rPr lang="en-US" sz="6000" b="1" dirty="0">
                <a:solidFill>
                  <a:srgbClr val="4B1248"/>
                </a:solidFill>
                <a:latin typeface="Arial" pitchFamily="34" charset="0"/>
                <a:ea typeface="Arial" pitchFamily="34" charset="-122"/>
                <a:cs typeface="Arial" pitchFamily="34" charset="-120"/>
              </a:rPr>
              <a:t>Price Confidence</a:t>
            </a:r>
            <a:endParaRPr lang="en-US" sz="6000" dirty="0"/>
          </a:p>
        </p:txBody>
      </p:sp>
      <p:sp>
        <p:nvSpPr>
          <p:cNvPr id="3" name="Text 1"/>
          <p:cNvSpPr txBox="1"/>
          <p:nvPr/>
        </p:nvSpPr>
        <p:spPr>
          <a:xfrm>
            <a:off x="1965960" y="7114032"/>
            <a:ext cx="14356080" cy="548640"/>
          </a:xfrm>
          <a:prstGeom prst="rect">
            <a:avLst/>
          </a:prstGeom>
          <a:noFill/>
          <a:ln/>
        </p:spPr>
        <p:txBody>
          <a:bodyPr wrap="square" lIns="0" tIns="0" rIns="0" bIns="0" rtlCol="0" anchor="ctr"/>
          <a:lstStyle/>
          <a:p>
            <a:pPr marL="0" indent="0" algn="ctr">
              <a:buNone/>
            </a:pPr>
            <a:r>
              <a:rPr lang="en-US" sz="2400" dirty="0">
                <a:solidFill>
                  <a:srgbClr val="2A0B2F"/>
                </a:solidFill>
                <a:latin typeface="Arial" pitchFamily="34" charset="0"/>
                <a:ea typeface="Arial" pitchFamily="34" charset="-122"/>
                <a:cs typeface="Arial" pitchFamily="34" charset="-120"/>
              </a:rPr>
              <a:t>How a new-to-online seller should set a price on Meesho, and keep resetting it</a:t>
            </a:r>
            <a:endParaRPr lang="en-US" sz="2400" dirty="0"/>
          </a:p>
        </p:txBody>
      </p:sp>
      <p:sp>
        <p:nvSpPr>
          <p:cNvPr id="4" name="Text 2"/>
          <p:cNvSpPr txBox="1"/>
          <p:nvPr/>
        </p:nvSpPr>
        <p:spPr>
          <a:xfrm>
            <a:off x="1965960" y="8001000"/>
            <a:ext cx="14356080" cy="502920"/>
          </a:xfrm>
          <a:prstGeom prst="rect">
            <a:avLst/>
          </a:prstGeom>
          <a:noFill/>
          <a:ln/>
        </p:spPr>
        <p:txBody>
          <a:bodyPr wrap="square" lIns="0" tIns="0" rIns="0" bIns="0" rtlCol="0" anchor="ctr"/>
          <a:lstStyle/>
          <a:p>
            <a:pPr marL="0" indent="0" algn="ctr">
              <a:buNone/>
            </a:pPr>
            <a:r>
              <a:rPr lang="en-US" sz="2600" b="1" dirty="0">
                <a:solidFill>
                  <a:srgbClr val="4B1248"/>
                </a:solidFill>
                <a:latin typeface="Arial" pitchFamily="34" charset="0"/>
                <a:ea typeface="Arial" pitchFamily="34" charset="-122"/>
                <a:cs typeface="Arial" pitchFamily="34" charset="-120"/>
              </a:rPr>
              <a:t>Team Edge Case, IIT Roorkee</a:t>
            </a:r>
            <a:endParaRPr lang="en-US" sz="2600" dirty="0"/>
          </a:p>
        </p:txBody>
      </p:sp>
      <p:sp>
        <p:nvSpPr>
          <p:cNvPr id="5" name="Text 3"/>
          <p:cNvSpPr txBox="1"/>
          <p:nvPr/>
        </p:nvSpPr>
        <p:spPr>
          <a:xfrm>
            <a:off x="1965960" y="8531352"/>
            <a:ext cx="14356080" cy="457200"/>
          </a:xfrm>
          <a:prstGeom prst="rect">
            <a:avLst/>
          </a:prstGeom>
          <a:noFill/>
          <a:ln/>
        </p:spPr>
        <p:txBody>
          <a:bodyPr wrap="square" lIns="0" tIns="0" rIns="0" bIns="0" rtlCol="0" anchor="ctr"/>
          <a:lstStyle/>
          <a:p>
            <a:pPr marL="0" indent="0" algn="ctr">
              <a:buNone/>
            </a:pPr>
            <a:r>
              <a:rPr lang="en-US" sz="2100" dirty="0">
                <a:solidFill>
                  <a:srgbClr val="2A0B2F"/>
                </a:solidFill>
                <a:latin typeface="Arial" pitchFamily="34" charset="0"/>
                <a:ea typeface="Arial" pitchFamily="34" charset="-122"/>
                <a:cs typeface="Arial" pitchFamily="34" charset="-120"/>
              </a:rPr>
              <a:t>Ishan Tandon   |   Malav Sanghvi   |   Niviti Sharma</a:t>
            </a:r>
            <a:endParaRPr lang="en-US" sz="2100" dirty="0"/>
          </a:p>
        </p:txBody>
      </p:sp>
      <p:sp>
        <p:nvSpPr>
          <p:cNvPr id="6" name="Text 4"/>
          <p:cNvSpPr txBox="1"/>
          <p:nvPr/>
        </p:nvSpPr>
        <p:spPr>
          <a:xfrm>
            <a:off x="1965960" y="9070848"/>
            <a:ext cx="14356080" cy="365760"/>
          </a:xfrm>
          <a:prstGeom prst="rect">
            <a:avLst/>
          </a:prstGeom>
          <a:noFill/>
          <a:ln/>
        </p:spPr>
        <p:txBody>
          <a:bodyPr wrap="square" lIns="0" tIns="0" rIns="0" bIns="0" rtlCol="0" anchor="ctr"/>
          <a:lstStyle/>
          <a:p>
            <a:pPr marL="0" indent="0" algn="ctr">
              <a:buNone/>
            </a:pPr>
            <a:r>
              <a:rPr lang="en-US" sz="1500" dirty="0">
                <a:solidFill>
                  <a:srgbClr val="67516B"/>
                </a:solidFill>
                <a:latin typeface="Arial" pitchFamily="34" charset="0"/>
                <a:ea typeface="Arial" pitchFamily="34" charset="-122"/>
                <a:cs typeface="Arial" pitchFamily="34" charset="-120"/>
              </a:rPr>
              <a:t>Detailed deck, Round 2</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Sellers price the parcel once, and leave out what selling online costs</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Round 1 research: 7 detailed seller interviews, tested against 307 live Meesho listings across 8 categories</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Sources</a:t>
            </a:r>
            <a:r>
              <a:rPr lang="en-US" sz="1200" dirty="0">
                <a:solidFill>
                  <a:srgbClr val="67516B"/>
                </a:solidFill>
                <a:latin typeface="Arial" pitchFamily="34" charset="0"/>
                <a:ea typeface="Arial" pitchFamily="34" charset="-122"/>
                <a:cs typeface="Arial" pitchFamily="34" charset="-120"/>
                <a:hlinkClick r:id="rId4"/>
              </a:rPr>
              <a:t>: seller outreach on Instagram (n = 7)</a:t>
            </a:r>
            <a:r>
              <a:rPr lang="en-US" sz="1200" dirty="0">
                <a:solidFill>
                  <a:srgbClr val="67516B"/>
                </a:solidFill>
                <a:latin typeface="Arial" pitchFamily="34" charset="0"/>
                <a:ea typeface="Arial" pitchFamily="34" charset="-122"/>
                <a:cs typeface="Arial" pitchFamily="34" charset="-120"/>
              </a:rPr>
              <a:t>; </a:t>
            </a:r>
            <a:r>
              <a:rPr lang="en-US" sz="1200" dirty="0">
                <a:solidFill>
                  <a:srgbClr val="67516B"/>
                </a:solidFill>
                <a:latin typeface="Arial" pitchFamily="34" charset="0"/>
                <a:ea typeface="Arial" pitchFamily="34" charset="-122"/>
                <a:cs typeface="Arial" pitchFamily="34" charset="-120"/>
                <a:hlinkClick r:id="rId5"/>
              </a:rPr>
              <a:t>307 live meesho.com listings </a:t>
            </a:r>
            <a:r>
              <a:rPr lang="en-US" sz="1200" dirty="0">
                <a:solidFill>
                  <a:srgbClr val="67516B"/>
                </a:solidFill>
                <a:latin typeface="Arial" pitchFamily="34" charset="0"/>
                <a:ea typeface="Arial" pitchFamily="34" charset="-122"/>
                <a:cs typeface="Arial" pitchFamily="34" charset="-120"/>
              </a:rPr>
              <a:t>scraped for Round 1.</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2</a:t>
            </a:r>
            <a:endParaRPr lang="en-US" sz="1200" dirty="0"/>
          </a:p>
        </p:txBody>
      </p:sp>
      <p:sp>
        <p:nvSpPr>
          <p:cNvPr id="6" name="Shape 4"/>
          <p:cNvSpPr/>
          <p:nvPr/>
        </p:nvSpPr>
        <p:spPr>
          <a:xfrm>
            <a:off x="731520" y="3886200"/>
            <a:ext cx="7040880" cy="5166360"/>
          </a:xfrm>
          <a:prstGeom prst="roundRect">
            <a:avLst>
              <a:gd name="adj" fmla="val 2124"/>
            </a:avLst>
          </a:prstGeom>
          <a:solidFill>
            <a:srgbClr val="F6EEF7"/>
          </a:solidFill>
          <a:ln w="12700">
            <a:solidFill>
              <a:srgbClr val="F6EEF7"/>
            </a:solidFill>
            <a:prstDash val="solid"/>
          </a:ln>
        </p:spPr>
        <p:txBody>
          <a:bodyPr/>
          <a:p/>
        </p:txBody>
      </p:sp>
      <p:sp>
        <p:nvSpPr>
          <p:cNvPr id="7" name="Text 5"/>
          <p:cNvSpPr txBox="1"/>
          <p:nvPr/>
        </p:nvSpPr>
        <p:spPr>
          <a:xfrm>
            <a:off x="1005840" y="4069080"/>
            <a:ext cx="6492240" cy="457200"/>
          </a:xfrm>
          <a:prstGeom prst="rect">
            <a:avLst/>
          </a:prstGeom>
          <a:noFill/>
          <a:ln/>
        </p:spPr>
        <p:txBody>
          <a:bodyPr wrap="square" lIns="0" tIns="0" rIns="0" bIns="0" rtlCol="0" anchor="t"/>
          <a:lstStyle/>
          <a:p>
            <a:pPr marL="0" indent="0">
              <a:buNone/>
            </a:pPr>
            <a:r>
              <a:rPr lang="en-US" sz="1700" b="1" dirty="0">
                <a:solidFill>
                  <a:srgbClr val="4B1248"/>
                </a:solidFill>
                <a:latin typeface="Arial" pitchFamily="34" charset="0"/>
                <a:ea typeface="Arial" pitchFamily="34" charset="-122"/>
                <a:cs typeface="Arial" pitchFamily="34" charset="-120"/>
              </a:rPr>
              <a:t>What each seller costed in when asked how they set a price</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05840" y="4617720"/>
          <a:ext cx="6492240" cy="3072384"/>
        </p:xfrm>
        <a:graphic>
          <a:graphicData uri="http://schemas.openxmlformats.org/drawingml/2006/table">
            <a:tbl>
              <a:tblPr/>
              <a:tblGrid>
                <a:gridCol w="26517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54864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tblGrid>
              <a:tr h="384048">
                <a:tc>
                  <a:txBody>
                    <a:bodyPr/>
                    <a:lstStyle/>
                    <a:p>
                      <a:pPr marL="0" indent="0" algn="l">
                        <a:buNone/>
                      </a:pP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b="1" dirty="0">
                          <a:solidFill>
                            <a:srgbClr val="67516B"/>
                          </a:solidFill>
                          <a:latin typeface="Arial" pitchFamily="34" charset="0"/>
                          <a:ea typeface="Arial" pitchFamily="34" charset="-122"/>
                          <a:cs typeface="Arial" pitchFamily="34" charset="-120"/>
                        </a:rPr>
                        <a:t>S1</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b="1" dirty="0">
                          <a:solidFill>
                            <a:srgbClr val="67516B"/>
                          </a:solidFill>
                          <a:latin typeface="Arial" pitchFamily="34" charset="0"/>
                          <a:ea typeface="Arial" pitchFamily="34" charset="-122"/>
                          <a:cs typeface="Arial" pitchFamily="34" charset="-120"/>
                        </a:rPr>
                        <a:t>S2</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b="1" dirty="0">
                          <a:solidFill>
                            <a:srgbClr val="67516B"/>
                          </a:solidFill>
                          <a:latin typeface="Arial" pitchFamily="34" charset="0"/>
                          <a:ea typeface="Arial" pitchFamily="34" charset="-122"/>
                          <a:cs typeface="Arial" pitchFamily="34" charset="-120"/>
                        </a:rPr>
                        <a:t>S3</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b="1" dirty="0">
                          <a:solidFill>
                            <a:srgbClr val="67516B"/>
                          </a:solidFill>
                          <a:latin typeface="Arial" pitchFamily="34" charset="0"/>
                          <a:ea typeface="Arial" pitchFamily="34" charset="-122"/>
                          <a:cs typeface="Arial" pitchFamily="34" charset="-120"/>
                        </a:rPr>
                        <a:t>S4</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b="1" dirty="0">
                          <a:solidFill>
                            <a:srgbClr val="67516B"/>
                          </a:solidFill>
                          <a:latin typeface="Arial" pitchFamily="34" charset="0"/>
                          <a:ea typeface="Arial" pitchFamily="34" charset="-122"/>
                          <a:cs typeface="Arial" pitchFamily="34" charset="-120"/>
                        </a:rPr>
                        <a:t>S5</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b="1" dirty="0">
                          <a:solidFill>
                            <a:srgbClr val="67516B"/>
                          </a:solidFill>
                          <a:latin typeface="Arial" pitchFamily="34" charset="0"/>
                          <a:ea typeface="Arial" pitchFamily="34" charset="-122"/>
                          <a:cs typeface="Arial" pitchFamily="34" charset="-120"/>
                        </a:rPr>
                        <a:t>S6</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b="1" dirty="0">
                          <a:solidFill>
                            <a:srgbClr val="67516B"/>
                          </a:solidFill>
                          <a:latin typeface="Arial" pitchFamily="34" charset="0"/>
                          <a:ea typeface="Arial" pitchFamily="34" charset="-122"/>
                          <a:cs typeface="Arial" pitchFamily="34" charset="-120"/>
                        </a:rPr>
                        <a:t>S7</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lgn="l">
                        <a:buNone/>
                      </a:pPr>
                      <a:r>
                        <a:rPr lang="en-US" sz="1400" dirty="0">
                          <a:solidFill>
                            <a:srgbClr val="2A0B2F"/>
                          </a:solidFill>
                          <a:latin typeface="Arial" pitchFamily="34" charset="0"/>
                          <a:ea typeface="Arial" pitchFamily="34" charset="-122"/>
                          <a:cs typeface="Arial" pitchFamily="34" charset="-120"/>
                        </a:rPr>
                        <a:t>Material / product cost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400" dirty="0">
                          <a:solidFill>
                            <a:srgbClr val="2A0B2F"/>
                          </a:solidFill>
                          <a:latin typeface="Arial" pitchFamily="34" charset="0"/>
                          <a:ea typeface="Arial" pitchFamily="34" charset="-122"/>
                          <a:cs typeface="Arial" pitchFamily="34" charset="-120"/>
                        </a:rPr>
                        <a:t>Labour / time</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400" dirty="0">
                          <a:solidFill>
                            <a:srgbClr val="2A0B2F"/>
                          </a:solidFill>
                          <a:latin typeface="Arial" pitchFamily="34" charset="0"/>
                          <a:ea typeface="Arial" pitchFamily="34" charset="-122"/>
                          <a:cs typeface="Arial" pitchFamily="34" charset="-120"/>
                        </a:rPr>
                        <a:t>Packaging</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400" dirty="0">
                          <a:solidFill>
                            <a:srgbClr val="2A0B2F"/>
                          </a:solidFill>
                          <a:latin typeface="Arial" pitchFamily="34" charset="0"/>
                          <a:ea typeface="Arial" pitchFamily="34" charset="-122"/>
                          <a:cs typeface="Arial" pitchFamily="34" charset="-120"/>
                        </a:rPr>
                        <a:t>Shipping / overheads</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400" dirty="0">
                          <a:solidFill>
                            <a:srgbClr val="2A0B2F"/>
                          </a:solidFill>
                          <a:latin typeface="Arial" pitchFamily="34" charset="0"/>
                          <a:ea typeface="Arial" pitchFamily="34" charset="-122"/>
                          <a:cs typeface="Arial" pitchFamily="34" charset="-120"/>
                        </a:rPr>
                        <a:t>Competitor price check</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400" b="1" dirty="0">
                          <a:solidFill>
                            <a:srgbClr val="C2185B"/>
                          </a:solidFill>
                          <a:latin typeface="Arial" pitchFamily="34" charset="0"/>
                          <a:ea typeface="Arial" pitchFamily="34" charset="-122"/>
                          <a:cs typeface="Arial" pitchFamily="34" charset="-120"/>
                        </a:rPr>
                        <a:t>Returns / RTO costed</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l">
                        <a:buNone/>
                      </a:pPr>
                      <a:r>
                        <a:rPr lang="en-US" sz="1400" b="1" dirty="0">
                          <a:solidFill>
                            <a:srgbClr val="C2185B"/>
                          </a:solidFill>
                          <a:latin typeface="Arial" pitchFamily="34" charset="0"/>
                          <a:ea typeface="Arial" pitchFamily="34" charset="-122"/>
                          <a:cs typeface="Arial" pitchFamily="34" charset="-120"/>
                        </a:rPr>
                        <a:t>Advertising per order</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ctr">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Text 6"/>
          <p:cNvSpPr txBox="1"/>
          <p:nvPr/>
        </p:nvSpPr>
        <p:spPr>
          <a:xfrm>
            <a:off x="1005840" y="7772400"/>
            <a:ext cx="6492240" cy="274320"/>
          </a:xfrm>
          <a:prstGeom prst="rect">
            <a:avLst/>
          </a:prstGeom>
          <a:noFill/>
          <a:ln/>
        </p:spPr>
        <p:txBody>
          <a:bodyPr wrap="square" lIns="0" tIns="0" rIns="0" bIns="0" rtlCol="0" anchor="t"/>
          <a:lstStyle/>
          <a:p>
            <a:pPr marL="0" indent="0">
              <a:buNone/>
            </a:pPr>
            <a:r>
              <a:rPr lang="en-US" sz="1150" dirty="0">
                <a:solidFill>
                  <a:srgbClr val="67516B"/>
                </a:solidFill>
                <a:latin typeface="Arial" pitchFamily="34" charset="0"/>
                <a:ea typeface="Arial" pitchFamily="34" charset="-122"/>
                <a:cs typeface="Arial" pitchFamily="34" charset="-120"/>
              </a:rPr>
              <a:t>S1, S2 apparel; S3 decor; S4, S5 crochet; S6 handmade soap; S7 custom crafts</a:t>
            </a:r>
            <a:endParaRPr lang="en-US" sz="1150" dirty="0"/>
          </a:p>
        </p:txBody>
      </p:sp>
      <p:sp>
        <p:nvSpPr>
          <p:cNvPr id="10" name="Text 7"/>
          <p:cNvSpPr txBox="1"/>
          <p:nvPr/>
        </p:nvSpPr>
        <p:spPr>
          <a:xfrm>
            <a:off x="1005840" y="8138160"/>
            <a:ext cx="6492240" cy="731520"/>
          </a:xfrm>
          <a:prstGeom prst="rect">
            <a:avLst/>
          </a:prstGeom>
          <a:noFill/>
          <a:ln/>
        </p:spPr>
        <p:txBody>
          <a:bodyPr wrap="square" lIns="0" tIns="0" rIns="0" bIns="0" rtlCol="0" anchor="t"/>
          <a:lstStyle/>
          <a:p>
            <a:pPr marL="0" indent="0">
              <a:buNone/>
            </a:pPr>
            <a:r>
              <a:rPr lang="en-US" sz="1450" b="1" dirty="0">
                <a:solidFill>
                  <a:srgbClr val="4B1248"/>
                </a:solidFill>
                <a:latin typeface="Arial" pitchFamily="34" charset="0"/>
                <a:ea typeface="Arial" pitchFamily="34" charset="-122"/>
                <a:cs typeface="Arial" pitchFamily="34" charset="-120"/>
              </a:rPr>
              <a:t>Only Seller 1 priced in both returns and advertising. 5 of 7 priced in no returns; 5 of 7 no advertising.</a:t>
            </a:r>
            <a:endParaRPr lang="en-US" sz="1450" dirty="0"/>
          </a:p>
        </p:txBody>
      </p:sp>
      <p:sp>
        <p:nvSpPr>
          <p:cNvPr id="11" name="Shape 8"/>
          <p:cNvSpPr/>
          <p:nvPr/>
        </p:nvSpPr>
        <p:spPr>
          <a:xfrm>
            <a:off x="8092440" y="3886200"/>
            <a:ext cx="4480560" cy="5166360"/>
          </a:xfrm>
          <a:prstGeom prst="roundRect">
            <a:avLst>
              <a:gd name="adj" fmla="val 2449"/>
            </a:avLst>
          </a:prstGeom>
          <a:solidFill>
            <a:srgbClr val="F6EEF7"/>
          </a:solidFill>
          <a:ln w="12700">
            <a:solidFill>
              <a:srgbClr val="F6EEF7"/>
            </a:solidFill>
            <a:prstDash val="solid"/>
          </a:ln>
        </p:spPr>
        <p:txBody>
          <a:bodyPr/>
          <a:p/>
        </p:txBody>
      </p:sp>
      <p:sp>
        <p:nvSpPr>
          <p:cNvPr id="12" name="Text 9"/>
          <p:cNvSpPr txBox="1"/>
          <p:nvPr/>
        </p:nvSpPr>
        <p:spPr>
          <a:xfrm>
            <a:off x="8366760" y="4069080"/>
            <a:ext cx="3931920" cy="457200"/>
          </a:xfrm>
          <a:prstGeom prst="rect">
            <a:avLst/>
          </a:prstGeom>
          <a:noFill/>
          <a:ln/>
        </p:spPr>
        <p:txBody>
          <a:bodyPr wrap="square" lIns="0" tIns="0" rIns="0" bIns="0" rtlCol="0" anchor="t"/>
          <a:lstStyle/>
          <a:p>
            <a:pPr marL="0" indent="0">
              <a:buNone/>
            </a:pPr>
            <a:r>
              <a:rPr lang="en-US" sz="1700" b="1" dirty="0">
                <a:solidFill>
                  <a:srgbClr val="4B1248"/>
                </a:solidFill>
                <a:latin typeface="Arial" pitchFamily="34" charset="0"/>
                <a:ea typeface="Arial" pitchFamily="34" charset="-122"/>
                <a:cs typeface="Arial" pitchFamily="34" charset="-120"/>
              </a:rPr>
              <a:t>Seller 1's cost stack, in his words</a:t>
            </a:r>
            <a:endParaRPr lang="en-US" sz="17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8366760" y="4617720"/>
          <a:ext cx="3931920" cy="2560320"/>
        </p:xfrm>
        <a:graphic>
          <a:graphicData uri="http://schemas.openxmlformats.org/drawingml/2006/table">
            <a:tbl>
              <a:tblPr/>
              <a:tblGrid>
                <a:gridCol w="2651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365760">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Product cost</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₹250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Packaging</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₹15</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Shipping</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₹70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450" b="1" dirty="0">
                          <a:solidFill>
                            <a:srgbClr val="C2185B"/>
                          </a:solidFill>
                          <a:latin typeface="Arial" pitchFamily="34" charset="0"/>
                          <a:ea typeface="Arial" pitchFamily="34" charset="-122"/>
                          <a:cs typeface="Arial" pitchFamily="34" charset="-120"/>
                        </a:rPr>
                        <a:t>Return / RTO</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b="1" dirty="0">
                          <a:solidFill>
                            <a:srgbClr val="C2185B"/>
                          </a:solidFill>
                          <a:latin typeface="Arial" pitchFamily="34" charset="0"/>
                          <a:ea typeface="Arial" pitchFamily="34" charset="-122"/>
                          <a:cs typeface="Arial" pitchFamily="34" charset="-120"/>
                        </a:rPr>
                        <a:t>₹30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450" b="1" dirty="0">
                          <a:solidFill>
                            <a:srgbClr val="C2185B"/>
                          </a:solidFill>
                          <a:latin typeface="Arial" pitchFamily="34" charset="0"/>
                          <a:ea typeface="Arial" pitchFamily="34" charset="-122"/>
                          <a:cs typeface="Arial" pitchFamily="34" charset="-120"/>
                        </a:rPr>
                        <a:t>Advertising per order</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b="1" dirty="0">
                          <a:solidFill>
                            <a:srgbClr val="C2185B"/>
                          </a:solidFill>
                          <a:latin typeface="Arial" pitchFamily="34" charset="0"/>
                          <a:ea typeface="Arial" pitchFamily="34" charset="-122"/>
                          <a:cs typeface="Arial" pitchFamily="34" charset="-120"/>
                        </a:rPr>
                        <a:t>₹20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Profit</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₹100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l">
                        <a:buNone/>
                      </a:pPr>
                      <a:r>
                        <a:rPr lang="en-US" sz="1450" b="1" dirty="0">
                          <a:solidFill>
                            <a:srgbClr val="2A0B2F"/>
                          </a:solidFill>
                          <a:latin typeface="Arial" pitchFamily="34" charset="0"/>
                          <a:ea typeface="Arial" pitchFamily="34" charset="-122"/>
                          <a:cs typeface="Arial" pitchFamily="34" charset="-120"/>
                        </a:rPr>
                        <a:t>Required revenue</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b="1" dirty="0">
                          <a:solidFill>
                            <a:srgbClr val="2A0B2F"/>
                          </a:solidFill>
                          <a:latin typeface="Arial" pitchFamily="34" charset="0"/>
                          <a:ea typeface="Arial" pitchFamily="34" charset="-122"/>
                          <a:cs typeface="Arial" pitchFamily="34" charset="-120"/>
                        </a:rPr>
                        <a:t>₹485</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4" name="Shape 10"/>
          <p:cNvSpPr/>
          <p:nvPr/>
        </p:nvSpPr>
        <p:spPr>
          <a:xfrm>
            <a:off x="8366760" y="7406640"/>
            <a:ext cx="3931920" cy="1417320"/>
          </a:xfrm>
          <a:prstGeom prst="roundRect">
            <a:avLst>
              <a:gd name="adj" fmla="val 7742"/>
            </a:avLst>
          </a:prstGeom>
          <a:solidFill>
            <a:srgbClr val="4B1248"/>
          </a:solidFill>
          <a:ln w="12700">
            <a:solidFill>
              <a:srgbClr val="4B1248"/>
            </a:solidFill>
            <a:prstDash val="solid"/>
          </a:ln>
        </p:spPr>
        <p:txBody>
          <a:bodyPr/>
          <a:p/>
        </p:txBody>
      </p:sp>
      <p:sp>
        <p:nvSpPr>
          <p:cNvPr id="15" name="Text 11"/>
          <p:cNvSpPr txBox="1"/>
          <p:nvPr/>
        </p:nvSpPr>
        <p:spPr>
          <a:xfrm>
            <a:off x="8549640" y="7543800"/>
            <a:ext cx="3566160" cy="118872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₹70 + ₹15 + ₹30 + ₹20 = ₹135</a:t>
            </a:r>
            <a:endParaRPr lang="en-US" sz="1600" dirty="0"/>
          </a:p>
          <a:p>
            <a:pPr marL="0" indent="0">
              <a:buNone/>
            </a:pPr>
            <a:r>
              <a:rPr lang="en-US" sz="1450" dirty="0">
                <a:solidFill>
                  <a:srgbClr val="FFFFFF"/>
                </a:solidFill>
                <a:latin typeface="Arial" pitchFamily="34" charset="0"/>
                <a:ea typeface="Arial" pitchFamily="34" charset="-122"/>
                <a:cs typeface="Arial" pitchFamily="34" charset="-120"/>
              </a:rPr>
              <a:t>of every order never becomes product or profit.</a:t>
            </a:r>
            <a:endParaRPr lang="en-US" sz="1600" dirty="0"/>
          </a:p>
        </p:txBody>
      </p:sp>
      <p:sp>
        <p:nvSpPr>
          <p:cNvPr id="16" name="Shape 12"/>
          <p:cNvSpPr/>
          <p:nvPr/>
        </p:nvSpPr>
        <p:spPr>
          <a:xfrm>
            <a:off x="12893040" y="3886200"/>
            <a:ext cx="4663440" cy="2514600"/>
          </a:xfrm>
          <a:prstGeom prst="roundRect">
            <a:avLst>
              <a:gd name="adj" fmla="val 4364"/>
            </a:avLst>
          </a:prstGeom>
          <a:solidFill>
            <a:srgbClr val="4B1248"/>
          </a:solidFill>
          <a:ln w="12700">
            <a:solidFill>
              <a:srgbClr val="4B1248"/>
            </a:solidFill>
            <a:prstDash val="solid"/>
          </a:ln>
        </p:spPr>
        <p:txBody>
          <a:bodyPr/>
          <a:p/>
        </p:txBody>
      </p:sp>
      <p:sp>
        <p:nvSpPr>
          <p:cNvPr id="17" name="Text 13"/>
          <p:cNvSpPr txBox="1"/>
          <p:nvPr/>
        </p:nvSpPr>
        <p:spPr>
          <a:xfrm>
            <a:off x="13167360" y="4069080"/>
            <a:ext cx="4114800" cy="2194560"/>
          </a:xfrm>
          <a:prstGeom prst="rect">
            <a:avLst/>
          </a:prstGeom>
          <a:noFill/>
          <a:ln/>
        </p:spPr>
        <p:txBody>
          <a:bodyPr wrap="square" lIns="0" tIns="0" rIns="0" bIns="0" rtlCol="0" anchor="ctr"/>
          <a:lstStyle/>
          <a:p>
            <a:pPr marL="0" indent="0">
              <a:spcAft>
                <a:spcPts val="600"/>
              </a:spcAft>
              <a:buNone/>
            </a:pPr>
            <a:r>
              <a:rPr lang="en-US" sz="1500" i="1" dirty="0">
                <a:solidFill>
                  <a:srgbClr val="FFFFFF"/>
                </a:solidFill>
                <a:latin typeface="Arial" pitchFamily="34" charset="0"/>
                <a:ea typeface="Arial" pitchFamily="34" charset="-122"/>
                <a:cs typeface="Arial" pitchFamily="34" charset="-120"/>
              </a:rPr>
              <a:t>“Currently we charge only manufacturing cost plus delivery cost. Zero profit. First want to increase sales and achieve good rating over e-commerce.”</a:t>
            </a:r>
            <a:endParaRPr lang="en-US" sz="1500" dirty="0"/>
          </a:p>
          <a:p>
            <a:pPr marL="0" indent="0">
              <a:spcAft>
                <a:spcPts val="600"/>
              </a:spcAft>
              <a:buNone/>
            </a:pPr>
            <a:r>
              <a:rPr lang="en-US" sz="1300" dirty="0">
                <a:solidFill>
                  <a:srgbClr val="F7C6DC"/>
                </a:solidFill>
                <a:latin typeface="Arial" pitchFamily="34" charset="0"/>
                <a:ea typeface="Arial" pitchFamily="34" charset="-122"/>
                <a:cs typeface="Arial" pitchFamily="34" charset="-120"/>
              </a:rPr>
              <a:t>Seller 6, handmade soap</a:t>
            </a:r>
            <a:endParaRPr lang="en-US" sz="1500" dirty="0"/>
          </a:p>
        </p:txBody>
      </p:sp>
      <p:sp>
        <p:nvSpPr>
          <p:cNvPr id="18" name="Text 14"/>
          <p:cNvSpPr txBox="1"/>
          <p:nvPr/>
        </p:nvSpPr>
        <p:spPr>
          <a:xfrm>
            <a:off x="12893040" y="6583680"/>
            <a:ext cx="4663440" cy="365760"/>
          </a:xfrm>
          <a:prstGeom prst="rect">
            <a:avLst/>
          </a:prstGeom>
          <a:noFill/>
          <a:ln/>
        </p:spPr>
        <p:txBody>
          <a:bodyPr wrap="square" lIns="0" tIns="0" rIns="0" bIns="0" rtlCol="0" anchor="t"/>
          <a:lstStyle/>
          <a:p>
            <a:pPr marL="0" indent="0">
              <a:buNone/>
            </a:pPr>
            <a:r>
              <a:rPr lang="en-US" sz="1600" b="1" dirty="0">
                <a:solidFill>
                  <a:srgbClr val="4B1248"/>
                </a:solidFill>
                <a:latin typeface="Arial" pitchFamily="34" charset="0"/>
                <a:ea typeface="Arial" pitchFamily="34" charset="-122"/>
                <a:cs typeface="Arial" pitchFamily="34" charset="-120"/>
              </a:rPr>
              <a:t>His ₹134 price leaves out</a:t>
            </a:r>
            <a:endParaRPr lang="en-US" sz="1600" dirty="0"/>
          </a:p>
        </p:txBody>
      </p:sp>
      <p:sp>
        <p:nvSpPr>
          <p:cNvPr id="19" name="Text 15"/>
          <p:cNvSpPr txBox="1"/>
          <p:nvPr/>
        </p:nvSpPr>
        <p:spPr>
          <a:xfrm>
            <a:off x="12893040" y="6967728"/>
            <a:ext cx="4663440" cy="10972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Packaging, which he never named</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A buffer for returns</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The free bar he adds to every parcel as “advertising”</a:t>
            </a:r>
            <a:endParaRPr lang="en-US" sz="1450" dirty="0"/>
          </a:p>
        </p:txBody>
      </p:sp>
      <p:sp>
        <p:nvSpPr>
          <p:cNvPr id="20" name="Text 16"/>
          <p:cNvSpPr txBox="1"/>
          <p:nvPr/>
        </p:nvSpPr>
        <p:spPr>
          <a:xfrm>
            <a:off x="12893040" y="8183880"/>
            <a:ext cx="4663440" cy="822960"/>
          </a:xfrm>
          <a:prstGeom prst="rect">
            <a:avLst/>
          </a:prstGeom>
          <a:noFill/>
          <a:ln/>
        </p:spPr>
        <p:txBody>
          <a:bodyPr wrap="square" lIns="0" tIns="0" rIns="0" bIns="0" rtlCol="0" anchor="t"/>
          <a:lstStyle/>
          <a:p>
            <a:pPr marL="0" indent="0">
              <a:buNone/>
            </a:pPr>
            <a:r>
              <a:rPr lang="en-US" sz="1500" b="1" dirty="0">
                <a:solidFill>
                  <a:srgbClr val="C2185B"/>
                </a:solidFill>
                <a:latin typeface="Arial" pitchFamily="34" charset="0"/>
                <a:ea typeface="Arial" pitchFamily="34" charset="-122"/>
                <a:cs typeface="Arial" pitchFamily="34" charset="-120"/>
              </a:rPr>
              <a:t>After listing, only discounts move, stacked on a price that is never recomputed.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A seller reaches a price in four steps: floor, band, position, launch</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The floor comes from the seller's own costs plus what Meesho already knows; everything above it comes from the market and the product</a:t>
            </a:r>
            <a:endParaRPr lang="en-US" sz="1700" dirty="0"/>
          </a:p>
        </p:txBody>
      </p:sp>
      <p:sp>
        <p:nvSpPr>
          <p:cNvPr id="4" name="Text 2"/>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3</a:t>
            </a:r>
            <a:endParaRPr lang="en-US" sz="1200" dirty="0"/>
          </a:p>
        </p:txBody>
      </p:sp>
      <p:sp>
        <p:nvSpPr>
          <p:cNvPr id="5" name="Shape 3"/>
          <p:cNvSpPr/>
          <p:nvPr/>
        </p:nvSpPr>
        <p:spPr>
          <a:xfrm>
            <a:off x="731520" y="3886200"/>
            <a:ext cx="4000500" cy="1965960"/>
          </a:xfrm>
          <a:prstGeom prst="roundRect">
            <a:avLst>
              <a:gd name="adj" fmla="val 5581"/>
            </a:avLst>
          </a:prstGeom>
          <a:solidFill>
            <a:srgbClr val="F6EEF7"/>
          </a:solidFill>
          <a:ln w="12700">
            <a:solidFill>
              <a:srgbClr val="F6EEF7"/>
            </a:solidFill>
            <a:prstDash val="solid"/>
          </a:ln>
        </p:spPr>
        <p:txBody>
          <a:bodyPr/>
          <a:p/>
        </p:txBody>
      </p:sp>
      <p:sp>
        <p:nvSpPr>
          <p:cNvPr id="6" name="Text 4"/>
          <p:cNvSpPr txBox="1"/>
          <p:nvPr/>
        </p:nvSpPr>
        <p:spPr>
          <a:xfrm>
            <a:off x="1005840" y="4023360"/>
            <a:ext cx="3451860" cy="502920"/>
          </a:xfrm>
          <a:prstGeom prst="rect">
            <a:avLst/>
          </a:prstGeom>
          <a:noFill/>
          <a:ln/>
        </p:spPr>
        <p:txBody>
          <a:bodyPr wrap="square" lIns="0" tIns="0" rIns="0" bIns="0" rtlCol="0" anchor="ctr"/>
          <a:lstStyle/>
          <a:p>
            <a:pPr marL="0" indent="0">
              <a:buNone/>
            </a:pPr>
            <a:r>
              <a:rPr lang="en-US" sz="2600" b="1" dirty="0">
                <a:solidFill>
                  <a:srgbClr val="D9780A"/>
                </a:solidFill>
                <a:latin typeface="Arial" pitchFamily="34" charset="0"/>
                <a:ea typeface="Arial" pitchFamily="34" charset="-122"/>
                <a:cs typeface="Arial" pitchFamily="34" charset="-120"/>
              </a:rPr>
              <a:t>01  </a:t>
            </a:r>
            <a:r>
              <a:rPr lang="en-US" sz="2200" b="1" dirty="0">
                <a:solidFill>
                  <a:srgbClr val="4B1248"/>
                </a:solidFill>
                <a:latin typeface="Arial" pitchFamily="34" charset="0"/>
                <a:ea typeface="Arial" pitchFamily="34" charset="-122"/>
                <a:cs typeface="Arial" pitchFamily="34" charset="-120"/>
              </a:rPr>
              <a:t>Floor</a:t>
            </a:r>
            <a:endParaRPr lang="en-US" sz="2600" dirty="0"/>
          </a:p>
        </p:txBody>
      </p:sp>
      <p:sp>
        <p:nvSpPr>
          <p:cNvPr id="7" name="Text 5"/>
          <p:cNvSpPr txBox="1"/>
          <p:nvPr/>
        </p:nvSpPr>
        <p:spPr>
          <a:xfrm>
            <a:off x="1005840" y="4590288"/>
            <a:ext cx="3451860" cy="1188720"/>
          </a:xfrm>
          <a:prstGeom prst="rect">
            <a:avLst/>
          </a:prstGeom>
          <a:noFill/>
          <a:ln/>
        </p:spPr>
        <p:txBody>
          <a:bodyPr wrap="square" lIns="0" tIns="0" rIns="0" bIns="0" rtlCol="0" anchor="t"/>
          <a:lstStyle/>
          <a:p>
            <a:pPr marL="0" indent="0">
              <a:buNone/>
            </a:pPr>
            <a:r>
              <a:rPr lang="en-US" sz="1600" dirty="0">
                <a:solidFill>
                  <a:srgbClr val="2A0B2F"/>
                </a:solidFill>
                <a:latin typeface="Arial" pitchFamily="34" charset="0"/>
                <a:ea typeface="Arial" pitchFamily="34" charset="-122"/>
                <a:cs typeface="Arial" pitchFamily="34" charset="-120"/>
              </a:rPr>
              <a:t>Lowest price where the paid orders cover every parcel sent: cost of all parcels ÷ parcels paid for, plus GST.</a:t>
            </a:r>
            <a:endParaRPr lang="en-US" sz="1600" dirty="0"/>
          </a:p>
        </p:txBody>
      </p:sp>
      <p:sp>
        <p:nvSpPr>
          <p:cNvPr id="8" name="Shape 6"/>
          <p:cNvSpPr/>
          <p:nvPr/>
        </p:nvSpPr>
        <p:spPr>
          <a:xfrm>
            <a:off x="5006340" y="3886200"/>
            <a:ext cx="4000500" cy="1965960"/>
          </a:xfrm>
          <a:prstGeom prst="roundRect">
            <a:avLst>
              <a:gd name="adj" fmla="val 5581"/>
            </a:avLst>
          </a:prstGeom>
          <a:solidFill>
            <a:srgbClr val="F6EEF7"/>
          </a:solidFill>
          <a:ln w="12700">
            <a:solidFill>
              <a:srgbClr val="F6EEF7"/>
            </a:solidFill>
            <a:prstDash val="solid"/>
          </a:ln>
        </p:spPr>
        <p:txBody>
          <a:bodyPr/>
          <a:p/>
        </p:txBody>
      </p:sp>
      <p:sp>
        <p:nvSpPr>
          <p:cNvPr id="9" name="Text 7"/>
          <p:cNvSpPr txBox="1"/>
          <p:nvPr/>
        </p:nvSpPr>
        <p:spPr>
          <a:xfrm>
            <a:off x="5280660" y="4023360"/>
            <a:ext cx="3451860" cy="502920"/>
          </a:xfrm>
          <a:prstGeom prst="rect">
            <a:avLst/>
          </a:prstGeom>
          <a:noFill/>
          <a:ln/>
        </p:spPr>
        <p:txBody>
          <a:bodyPr wrap="square" lIns="0" tIns="0" rIns="0" bIns="0" rtlCol="0" anchor="ctr"/>
          <a:lstStyle/>
          <a:p>
            <a:pPr marL="0" indent="0">
              <a:buNone/>
            </a:pPr>
            <a:r>
              <a:rPr lang="en-US" sz="2600" b="1" dirty="0">
                <a:solidFill>
                  <a:srgbClr val="D9780A"/>
                </a:solidFill>
                <a:latin typeface="Arial" pitchFamily="34" charset="0"/>
                <a:ea typeface="Arial" pitchFamily="34" charset="-122"/>
                <a:cs typeface="Arial" pitchFamily="34" charset="-120"/>
              </a:rPr>
              <a:t>02  </a:t>
            </a:r>
            <a:r>
              <a:rPr lang="en-US" sz="2200" b="1" dirty="0">
                <a:solidFill>
                  <a:srgbClr val="4B1248"/>
                </a:solidFill>
                <a:latin typeface="Arial" pitchFamily="34" charset="0"/>
                <a:ea typeface="Arial" pitchFamily="34" charset="-122"/>
                <a:cs typeface="Arial" pitchFamily="34" charset="-120"/>
              </a:rPr>
              <a:t>Band</a:t>
            </a:r>
            <a:endParaRPr lang="en-US" sz="2600" dirty="0"/>
          </a:p>
        </p:txBody>
      </p:sp>
      <p:sp>
        <p:nvSpPr>
          <p:cNvPr id="10" name="Text 8"/>
          <p:cNvSpPr txBox="1"/>
          <p:nvPr/>
        </p:nvSpPr>
        <p:spPr>
          <a:xfrm>
            <a:off x="5280660" y="4590288"/>
            <a:ext cx="3451860" cy="1188720"/>
          </a:xfrm>
          <a:prstGeom prst="rect">
            <a:avLst/>
          </a:prstGeom>
          <a:noFill/>
          <a:ln/>
        </p:spPr>
        <p:txBody>
          <a:bodyPr wrap="square" lIns="0" tIns="0" rIns="0" bIns="0" rtlCol="0" anchor="t"/>
          <a:lstStyle/>
          <a:p>
            <a:pPr marL="0" indent="0">
              <a:buNone/>
            </a:pPr>
            <a:r>
              <a:rPr lang="en-US" sz="1600" dirty="0">
                <a:solidFill>
                  <a:srgbClr val="2A0B2F"/>
                </a:solidFill>
                <a:latin typeface="Arial" pitchFamily="34" charset="0"/>
                <a:ea typeface="Arial" pitchFamily="34" charset="-122"/>
                <a:cs typeface="Arial" pitchFamily="34" charset="-120"/>
              </a:rPr>
              <a:t>What close substitutes sell for right now, with recent weeks weighted most. Not the category average.</a:t>
            </a:r>
            <a:endParaRPr lang="en-US" sz="1600" dirty="0"/>
          </a:p>
        </p:txBody>
      </p:sp>
      <p:sp>
        <p:nvSpPr>
          <p:cNvPr id="11" name="Shape 9"/>
          <p:cNvSpPr/>
          <p:nvPr/>
        </p:nvSpPr>
        <p:spPr>
          <a:xfrm>
            <a:off x="9281160" y="3886200"/>
            <a:ext cx="4000500" cy="1965960"/>
          </a:xfrm>
          <a:prstGeom prst="roundRect">
            <a:avLst>
              <a:gd name="adj" fmla="val 5581"/>
            </a:avLst>
          </a:prstGeom>
          <a:solidFill>
            <a:srgbClr val="F6EEF7"/>
          </a:solidFill>
          <a:ln w="12700">
            <a:solidFill>
              <a:srgbClr val="F6EEF7"/>
            </a:solidFill>
            <a:prstDash val="solid"/>
          </a:ln>
        </p:spPr>
        <p:txBody>
          <a:bodyPr/>
          <a:p/>
        </p:txBody>
      </p:sp>
      <p:sp>
        <p:nvSpPr>
          <p:cNvPr id="12" name="Text 10"/>
          <p:cNvSpPr txBox="1"/>
          <p:nvPr/>
        </p:nvSpPr>
        <p:spPr>
          <a:xfrm>
            <a:off x="9555480" y="4023360"/>
            <a:ext cx="3451860" cy="502920"/>
          </a:xfrm>
          <a:prstGeom prst="rect">
            <a:avLst/>
          </a:prstGeom>
          <a:noFill/>
          <a:ln/>
        </p:spPr>
        <p:txBody>
          <a:bodyPr wrap="square" lIns="0" tIns="0" rIns="0" bIns="0" rtlCol="0" anchor="ctr"/>
          <a:lstStyle/>
          <a:p>
            <a:pPr marL="0" indent="0">
              <a:buNone/>
            </a:pPr>
            <a:r>
              <a:rPr lang="en-US" sz="2600" b="1" dirty="0">
                <a:solidFill>
                  <a:srgbClr val="D9780A"/>
                </a:solidFill>
                <a:latin typeface="Arial" pitchFamily="34" charset="0"/>
                <a:ea typeface="Arial" pitchFamily="34" charset="-122"/>
                <a:cs typeface="Arial" pitchFamily="34" charset="-120"/>
              </a:rPr>
              <a:t>03  </a:t>
            </a:r>
            <a:r>
              <a:rPr lang="en-US" sz="2200" b="1" dirty="0">
                <a:solidFill>
                  <a:srgbClr val="4B1248"/>
                </a:solidFill>
                <a:latin typeface="Arial" pitchFamily="34" charset="0"/>
                <a:ea typeface="Arial" pitchFamily="34" charset="-122"/>
                <a:cs typeface="Arial" pitchFamily="34" charset="-120"/>
              </a:rPr>
              <a:t>Position</a:t>
            </a:r>
            <a:endParaRPr lang="en-US" sz="2600" dirty="0"/>
          </a:p>
        </p:txBody>
      </p:sp>
      <p:sp>
        <p:nvSpPr>
          <p:cNvPr id="13" name="Text 11"/>
          <p:cNvSpPr txBox="1"/>
          <p:nvPr/>
        </p:nvSpPr>
        <p:spPr>
          <a:xfrm>
            <a:off x="9555480" y="4590288"/>
            <a:ext cx="3451860" cy="1188720"/>
          </a:xfrm>
          <a:prstGeom prst="rect">
            <a:avLst/>
          </a:prstGeom>
          <a:noFill/>
          <a:ln/>
        </p:spPr>
        <p:txBody>
          <a:bodyPr wrap="square" lIns="0" tIns="0" rIns="0" bIns="0" rtlCol="0" anchor="t"/>
          <a:lstStyle/>
          <a:p>
            <a:pPr marL="0" indent="0">
              <a:buNone/>
            </a:pPr>
            <a:r>
              <a:rPr lang="en-US" sz="1600" dirty="0">
                <a:solidFill>
                  <a:srgbClr val="2A0B2F"/>
                </a:solidFill>
                <a:latin typeface="Arial" pitchFamily="34" charset="0"/>
                <a:ea typeface="Arial" pitchFamily="34" charset="-122"/>
                <a:cs typeface="Arial" pitchFamily="34" charset="-120"/>
              </a:rPr>
              <a:t>Where to sit in the band: reviews, rating, genuine differences, listing quality. No reviews yet: stay inside the band, never above its top.</a:t>
            </a:r>
            <a:endParaRPr lang="en-US" sz="1600" dirty="0"/>
          </a:p>
        </p:txBody>
      </p:sp>
      <p:sp>
        <p:nvSpPr>
          <p:cNvPr id="14" name="Shape 12"/>
          <p:cNvSpPr/>
          <p:nvPr/>
        </p:nvSpPr>
        <p:spPr>
          <a:xfrm>
            <a:off x="13555980" y="3886200"/>
            <a:ext cx="4000500" cy="1965960"/>
          </a:xfrm>
          <a:prstGeom prst="roundRect">
            <a:avLst>
              <a:gd name="adj" fmla="val 5581"/>
            </a:avLst>
          </a:prstGeom>
          <a:solidFill>
            <a:srgbClr val="F6EEF7"/>
          </a:solidFill>
          <a:ln w="12700">
            <a:solidFill>
              <a:srgbClr val="F6EEF7"/>
            </a:solidFill>
            <a:prstDash val="solid"/>
          </a:ln>
        </p:spPr>
        <p:txBody>
          <a:bodyPr/>
          <a:p/>
        </p:txBody>
      </p:sp>
      <p:sp>
        <p:nvSpPr>
          <p:cNvPr id="15" name="Text 13"/>
          <p:cNvSpPr txBox="1"/>
          <p:nvPr/>
        </p:nvSpPr>
        <p:spPr>
          <a:xfrm>
            <a:off x="13830300" y="4023360"/>
            <a:ext cx="3451860" cy="502920"/>
          </a:xfrm>
          <a:prstGeom prst="rect">
            <a:avLst/>
          </a:prstGeom>
          <a:noFill/>
          <a:ln/>
        </p:spPr>
        <p:txBody>
          <a:bodyPr wrap="square" lIns="0" tIns="0" rIns="0" bIns="0" rtlCol="0" anchor="ctr"/>
          <a:lstStyle/>
          <a:p>
            <a:pPr marL="0" indent="0">
              <a:buNone/>
            </a:pPr>
            <a:r>
              <a:rPr lang="en-US" sz="2600" b="1" dirty="0">
                <a:solidFill>
                  <a:srgbClr val="D9780A"/>
                </a:solidFill>
                <a:latin typeface="Arial" pitchFamily="34" charset="0"/>
                <a:ea typeface="Arial" pitchFamily="34" charset="-122"/>
                <a:cs typeface="Arial" pitchFamily="34" charset="-120"/>
              </a:rPr>
              <a:t>04  </a:t>
            </a:r>
            <a:r>
              <a:rPr lang="en-US" sz="2200" b="1" dirty="0">
                <a:solidFill>
                  <a:srgbClr val="4B1248"/>
                </a:solidFill>
                <a:latin typeface="Arial" pitchFamily="34" charset="0"/>
                <a:ea typeface="Arial" pitchFamily="34" charset="-122"/>
                <a:cs typeface="Arial" pitchFamily="34" charset="-120"/>
              </a:rPr>
              <a:t>Launch</a:t>
            </a:r>
            <a:endParaRPr lang="en-US" sz="2600" dirty="0"/>
          </a:p>
        </p:txBody>
      </p:sp>
      <p:sp>
        <p:nvSpPr>
          <p:cNvPr id="16" name="Text 14"/>
          <p:cNvSpPr txBox="1"/>
          <p:nvPr/>
        </p:nvSpPr>
        <p:spPr>
          <a:xfrm>
            <a:off x="13830300" y="4590288"/>
            <a:ext cx="3451860" cy="1188720"/>
          </a:xfrm>
          <a:prstGeom prst="rect">
            <a:avLst/>
          </a:prstGeom>
          <a:noFill/>
          <a:ln/>
        </p:spPr>
        <p:txBody>
          <a:bodyPr wrap="square" lIns="0" tIns="0" rIns="0" bIns="0" rtlCol="0" anchor="t"/>
          <a:lstStyle/>
          <a:p>
            <a:pPr marL="0" indent="0">
              <a:buNone/>
            </a:pPr>
            <a:r>
              <a:rPr lang="en-US" sz="1600" dirty="0">
                <a:solidFill>
                  <a:srgbClr val="2A0B2F"/>
                </a:solidFill>
                <a:latin typeface="Arial" pitchFamily="34" charset="0"/>
                <a:ea typeface="Arial" pitchFamily="34" charset="-122"/>
                <a:cs typeface="Arial" pitchFamily="34" charset="-120"/>
              </a:rPr>
              <a:t>The price with the best expected 12-week profit. Going below the floor is a budgeted choice, with a stop.</a:t>
            </a:r>
            <a:endParaRPr lang="en-US" sz="1600" dirty="0"/>
          </a:p>
        </p:txBody>
      </p:sp>
      <p:sp>
        <p:nvSpPr>
          <p:cNvPr id="17" name="Text 15"/>
          <p:cNvSpPr txBox="1"/>
          <p:nvPr/>
        </p:nvSpPr>
        <p:spPr>
          <a:xfrm>
            <a:off x="731520" y="6053328"/>
            <a:ext cx="1133856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What goes into the floor, why online is different, and who provides it</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6510528"/>
          <a:ext cx="11338560" cy="2560320"/>
        </p:xfrm>
        <a:graphic>
          <a:graphicData uri="http://schemas.openxmlformats.org/drawingml/2006/table">
            <a:tbl>
              <a:tblPr/>
              <a:tblGrid>
                <a:gridCol w="292608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365760">
                <a:tc>
                  <a:txBody>
                    <a:bodyPr/>
                    <a:lstStyle/>
                    <a:p>
                      <a:pPr marL="0" indent="0">
                        <a:buNone/>
                      </a:pPr>
                      <a:r>
                        <a:rPr lang="en-US" sz="1400" b="1" dirty="0">
                          <a:solidFill>
                            <a:srgbClr val="67516B"/>
                          </a:solidFill>
                          <a:latin typeface="Arial" pitchFamily="34" charset="0"/>
                          <a:ea typeface="Arial" pitchFamily="34" charset="-122"/>
                          <a:cs typeface="Arial" pitchFamily="34" charset="-120"/>
                        </a:rPr>
                        <a:t>Cost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67516B"/>
                          </a:solidFill>
                          <a:latin typeface="Arial" pitchFamily="34" charset="0"/>
                          <a:ea typeface="Arial" pitchFamily="34" charset="-122"/>
                          <a:cs typeface="Arial" pitchFamily="34" charset="-120"/>
                        </a:rPr>
                        <a:t>Why it matters online</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67516B"/>
                          </a:solidFill>
                          <a:latin typeface="Arial" pitchFamily="34" charset="0"/>
                          <a:ea typeface="Arial" pitchFamily="34" charset="-122"/>
                          <a:cs typeface="Arial" pitchFamily="34" charset="-120"/>
                        </a:rPr>
                        <a:t>Comes from</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2A0B2F"/>
                          </a:solidFill>
                          <a:latin typeface="Arial" pitchFamily="34" charset="0"/>
                          <a:ea typeface="Arial" pitchFamily="34" charset="-122"/>
                          <a:cs typeface="Arial" pitchFamily="34" charset="-120"/>
                        </a:rPr>
                        <a:t>Making cost and packaging</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dirty="0">
                          <a:solidFill>
                            <a:srgbClr val="2A0B2F"/>
                          </a:solidFill>
                          <a:latin typeface="Arial" pitchFamily="34" charset="0"/>
                          <a:ea typeface="Arial" pitchFamily="34" charset="-122"/>
                          <a:cs typeface="Arial" pitchFamily="34" charset="-120"/>
                        </a:rPr>
                        <a:t>The only costs most offline sellers already count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C2185B"/>
                          </a:solidFill>
                          <a:latin typeface="Arial" pitchFamily="34" charset="0"/>
                          <a:ea typeface="Arial" pitchFamily="34" charset="-122"/>
                          <a:cs typeface="Arial" pitchFamily="34" charset="-120"/>
                        </a:rPr>
                        <a:t>Seller types it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b="1" dirty="0">
                          <a:solidFill>
                            <a:srgbClr val="2A0B2F"/>
                          </a:solidFill>
                          <a:latin typeface="Arial" pitchFamily="34" charset="0"/>
                          <a:ea typeface="Arial" pitchFamily="34" charset="-122"/>
                          <a:cs typeface="Arial" pitchFamily="34" charset="-120"/>
                        </a:rPr>
                        <a:t>Delivery on every parcel</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dirty="0">
                          <a:solidFill>
                            <a:srgbClr val="2A0B2F"/>
                          </a:solidFill>
                          <a:latin typeface="Arial" pitchFamily="34" charset="0"/>
                          <a:ea typeface="Arial" pitchFamily="34" charset="-122"/>
                          <a:cs typeface="Arial" pitchFamily="34" charset="-120"/>
                        </a:rPr>
                        <a:t>Paid even on parcels that come back as RTO or returns</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5B2A86"/>
                          </a:solidFill>
                          <a:latin typeface="Arial" pitchFamily="34" charset="0"/>
                          <a:ea typeface="Arial" pitchFamily="34" charset="-122"/>
                          <a:cs typeface="Arial" pitchFamily="34" charset="-120"/>
                        </a:rPr>
                        <a:t>Meesho: fee by weight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400" b="1" dirty="0">
                          <a:solidFill>
                            <a:srgbClr val="2A0B2F"/>
                          </a:solidFill>
                          <a:latin typeface="Arial" pitchFamily="34" charset="0"/>
                          <a:ea typeface="Arial" pitchFamily="34" charset="-122"/>
                          <a:cs typeface="Arial" pitchFamily="34" charset="-120"/>
                        </a:rPr>
                        <a:t>Customer returns</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dirty="0">
                          <a:solidFill>
                            <a:srgbClr val="2A0B2F"/>
                          </a:solidFill>
                          <a:latin typeface="Arial" pitchFamily="34" charset="0"/>
                          <a:ea typeface="Arial" pitchFamily="34" charset="-122"/>
                          <a:cs typeface="Arial" pitchFamily="34" charset="-120"/>
                        </a:rPr>
                        <a:t>Refund plus pickup; a returned soap cannot be resold</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5B2A86"/>
                          </a:solidFill>
                          <a:latin typeface="Arial" pitchFamily="34" charset="0"/>
                          <a:ea typeface="Arial" pitchFamily="34" charset="-122"/>
                          <a:cs typeface="Arial" pitchFamily="34" charset="-120"/>
                        </a:rPr>
                        <a:t>Meesho: category history</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400" b="1" dirty="0">
                          <a:solidFill>
                            <a:srgbClr val="2A0B2F"/>
                          </a:solidFill>
                          <a:latin typeface="Arial" pitchFamily="34" charset="0"/>
                          <a:ea typeface="Arial" pitchFamily="34" charset="-122"/>
                          <a:cs typeface="Arial" pitchFamily="34" charset="-120"/>
                        </a:rPr>
                        <a:t>RTO</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dirty="0">
                          <a:solidFill>
                            <a:srgbClr val="2A0B2F"/>
                          </a:solidFill>
                          <a:latin typeface="Arial" pitchFamily="34" charset="0"/>
                          <a:ea typeface="Arial" pitchFamily="34" charset="-122"/>
                          <a:cs typeface="Arial" pitchFamily="34" charset="-120"/>
                        </a:rPr>
                        <a:t>Buyer refuses or can't be reached, mostly cash on delivery</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5B2A86"/>
                          </a:solidFill>
                          <a:latin typeface="Arial" pitchFamily="34" charset="0"/>
                          <a:ea typeface="Arial" pitchFamily="34" charset="-122"/>
                          <a:cs typeface="Arial" pitchFamily="34" charset="-120"/>
                        </a:rPr>
                        <a:t>Meesho: category, COD mix</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400" b="1" dirty="0">
                          <a:solidFill>
                            <a:srgbClr val="2A0B2F"/>
                          </a:solidFill>
                          <a:latin typeface="Arial" pitchFamily="34" charset="0"/>
                          <a:ea typeface="Arial" pitchFamily="34" charset="-122"/>
                          <a:cs typeface="Arial" pitchFamily="34" charset="-120"/>
                        </a:rPr>
                        <a:t>Free gifts and ads per order</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dirty="0">
                          <a:solidFill>
                            <a:srgbClr val="2A0B2F"/>
                          </a:solidFill>
                          <a:latin typeface="Arial" pitchFamily="34" charset="0"/>
                          <a:ea typeface="Arial" pitchFamily="34" charset="-122"/>
                          <a:cs typeface="Arial" pitchFamily="34" charset="-120"/>
                        </a:rPr>
                        <a:t>A free sample costs nothing on paper offline; online it is in every parcel</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C2185B"/>
                          </a:solidFill>
                          <a:latin typeface="Arial" pitchFamily="34" charset="0"/>
                          <a:ea typeface="Arial" pitchFamily="34" charset="-122"/>
                          <a:cs typeface="Arial" pitchFamily="34" charset="-120"/>
                        </a:rPr>
                        <a:t>Seller types it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400" b="1" dirty="0">
                          <a:solidFill>
                            <a:srgbClr val="2A0B2F"/>
                          </a:solidFill>
                          <a:latin typeface="Arial" pitchFamily="34" charset="0"/>
                          <a:ea typeface="Arial" pitchFamily="34" charset="-122"/>
                          <a:cs typeface="Arial" pitchFamily="34" charset="-120"/>
                        </a:rPr>
                        <a:t>GST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dirty="0">
                          <a:solidFill>
                            <a:srgbClr val="2A0B2F"/>
                          </a:solidFill>
                          <a:latin typeface="Arial" pitchFamily="34" charset="0"/>
                          <a:ea typeface="Arial" pitchFamily="34" charset="-122"/>
                          <a:cs typeface="Arial" pitchFamily="34" charset="-120"/>
                        </a:rPr>
                        <a:t>Part of the listed price that never reaches the seller</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00" b="1" dirty="0">
                          <a:solidFill>
                            <a:srgbClr val="5B2A86"/>
                          </a:solidFill>
                          <a:latin typeface="Arial" pitchFamily="34" charset="0"/>
                          <a:ea typeface="Arial" pitchFamily="34" charset="-122"/>
                          <a:cs typeface="Arial" pitchFamily="34" charset="-120"/>
                        </a:rPr>
                        <a:t>Meesho: rate by category</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Shape 16"/>
          <p:cNvSpPr/>
          <p:nvPr/>
        </p:nvSpPr>
        <p:spPr>
          <a:xfrm>
            <a:off x="12390120" y="6053328"/>
            <a:ext cx="5166360" cy="3017520"/>
          </a:xfrm>
          <a:prstGeom prst="roundRect">
            <a:avLst>
              <a:gd name="adj" fmla="val 3636"/>
            </a:avLst>
          </a:prstGeom>
          <a:solidFill>
            <a:srgbClr val="4B1248"/>
          </a:solidFill>
          <a:ln w="12700">
            <a:solidFill>
              <a:srgbClr val="4B1248"/>
            </a:solidFill>
            <a:prstDash val="solid"/>
          </a:ln>
        </p:spPr>
        <p:txBody>
          <a:bodyPr/>
          <a:p/>
        </p:txBody>
      </p:sp>
      <p:sp>
        <p:nvSpPr>
          <p:cNvPr id="20" name="Text 17"/>
          <p:cNvSpPr txBox="1"/>
          <p:nvPr/>
        </p:nvSpPr>
        <p:spPr>
          <a:xfrm>
            <a:off x="12664440" y="6217920"/>
            <a:ext cx="4617720" cy="2697480"/>
          </a:xfrm>
          <a:prstGeom prst="rect">
            <a:avLst/>
          </a:prstGeom>
          <a:noFill/>
          <a:ln/>
        </p:spPr>
        <p:txBody>
          <a:bodyPr wrap="square" lIns="0" tIns="0" rIns="0" bIns="0" rtlCol="0" anchor="ctr"/>
          <a:lstStyle/>
          <a:p>
            <a:pPr marL="0" indent="0">
              <a:spcAft>
                <a:spcPts val="900"/>
              </a:spcAft>
              <a:buNone/>
            </a:pPr>
            <a:r>
              <a:rPr lang="en-US" sz="1800" b="1" dirty="0">
                <a:solidFill>
                  <a:srgbClr val="FFFFFF"/>
                </a:solidFill>
                <a:latin typeface="Arial" pitchFamily="34" charset="0"/>
                <a:ea typeface="Arial" pitchFamily="34" charset="-122"/>
                <a:cs typeface="Arial" pitchFamily="34" charset="-120"/>
              </a:rPr>
              <a:t>The very first price, with no sales history</a:t>
            </a:r>
            <a:endParaRPr lang="en-US" sz="1800" dirty="0"/>
          </a:p>
          <a:p>
            <a:pPr marL="0" indent="0">
              <a:spcAft>
                <a:spcPts val="900"/>
              </a:spcAft>
              <a:buNone/>
            </a:pPr>
            <a:r>
              <a:rPr lang="en-US" sz="1450" dirty="0">
                <a:solidFill>
                  <a:srgbClr val="FFFFFF"/>
                </a:solidFill>
                <a:latin typeface="Arial" pitchFamily="34" charset="0"/>
                <a:ea typeface="Arial" pitchFamily="34" charset="-122"/>
                <a:cs typeface="Arial" pitchFamily="34" charset="-120"/>
              </a:rPr>
              <a:t>Borrow history from similar listings: how listings like this sold in their first weeks, and what buyers pay today.</a:t>
            </a:r>
            <a:endParaRPr lang="en-US" sz="1800" dirty="0"/>
          </a:p>
          <a:p>
            <a:pPr marL="0" indent="0">
              <a:spcAft>
                <a:spcPts val="900"/>
              </a:spcAft>
              <a:buNone/>
            </a:pPr>
            <a:r>
              <a:rPr lang="en-US" sz="1450" dirty="0">
                <a:solidFill>
                  <a:srgbClr val="FFFFFF"/>
                </a:solidFill>
                <a:latin typeface="Arial" pitchFamily="34" charset="0"/>
                <a:ea typeface="Arial" pitchFamily="34" charset="-122"/>
                <a:cs typeface="Arial" pitchFamily="34" charset="-120"/>
              </a:rPr>
              <a:t>No reviews yet, so stay inside the band, never above its top.</a:t>
            </a:r>
            <a:endParaRPr lang="en-US" sz="1800" dirty="0"/>
          </a:p>
          <a:p>
            <a:pPr marL="0" indent="0">
              <a:spcAft>
                <a:spcPts val="900"/>
              </a:spcAft>
              <a:buNone/>
            </a:pPr>
            <a:r>
              <a:rPr lang="en-US" sz="1450" dirty="0">
                <a:solidFill>
                  <a:srgbClr val="FFFFFF"/>
                </a:solidFill>
                <a:latin typeface="Arial" pitchFamily="34" charset="0"/>
                <a:ea typeface="Arial" pitchFamily="34" charset="-122"/>
                <a:cs typeface="Arial" pitchFamily="34" charset="-120"/>
              </a:rPr>
              <a:t>Re-check after 2 weeks or 15 reviews, as real orders replace the borrowed history.</a:t>
            </a:r>
            <a:endParaRPr lang="en-US" sz="1800" dirty="0"/>
          </a:p>
          <a:p>
            <a:pPr marL="0" indent="0">
              <a:spcAft>
                <a:spcPts val="900"/>
              </a:spcAft>
              <a:buNone/>
            </a:pPr>
            <a:r>
              <a:rPr lang="en-US" sz="1350" dirty="0">
                <a:solidFill>
                  <a:srgbClr val="F7C6DC"/>
                </a:solidFill>
                <a:latin typeface="Arial" pitchFamily="34" charset="0"/>
                <a:ea typeface="Arial" pitchFamily="34" charset="-122"/>
                <a:cs typeface="Arial" pitchFamily="34" charset="-120"/>
              </a:rPr>
              <a:t>Floor above the band? Don't cut below it: sell a pack, lighten packaging, or don't list.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Seller 6's soap: his ₹134 loses money; ₹209 is where to start</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Handmade herbal soap, 200 g: materials ₹64, packaging ₹12, a free bar worth ₹15. Demo assumptions: ₹30 delivery, 5% GST, synthetic market data</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Numbers from the Price Confidence demo, trained on 150 synthetic soap listings. Orders placed include parcels that come back; paid orders are those kept.</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4</a:t>
            </a:r>
            <a:endParaRPr lang="en-US" sz="1200" dirty="0"/>
          </a:p>
        </p:txBody>
      </p:sp>
      <p:sp>
        <p:nvSpPr>
          <p:cNvPr id="6" name="Shape 4"/>
          <p:cNvSpPr/>
          <p:nvPr/>
        </p:nvSpPr>
        <p:spPr>
          <a:xfrm>
            <a:off x="731520" y="3886200"/>
            <a:ext cx="5577840" cy="5166360"/>
          </a:xfrm>
          <a:prstGeom prst="roundRect">
            <a:avLst>
              <a:gd name="adj" fmla="val 2124"/>
            </a:avLst>
          </a:prstGeom>
          <a:solidFill>
            <a:srgbClr val="F6EEF7"/>
          </a:solidFill>
          <a:ln w="12700">
            <a:solidFill>
              <a:srgbClr val="F6EEF7"/>
            </a:solidFill>
            <a:prstDash val="solid"/>
          </a:ln>
        </p:spPr>
        <p:txBody>
          <a:bodyPr/>
          <a:p/>
        </p:txBody>
      </p:sp>
      <p:sp>
        <p:nvSpPr>
          <p:cNvPr id="7" name="Text 5"/>
          <p:cNvSpPr txBox="1"/>
          <p:nvPr/>
        </p:nvSpPr>
        <p:spPr>
          <a:xfrm>
            <a:off x="1005840" y="4041648"/>
            <a:ext cx="5029200" cy="411480"/>
          </a:xfrm>
          <a:prstGeom prst="rect">
            <a:avLst/>
          </a:prstGeom>
          <a:noFill/>
          <a:ln/>
        </p:spPr>
        <p:txBody>
          <a:bodyPr wrap="square" lIns="0" tIns="0" rIns="0" bIns="0" rtlCol="0" anchor="t"/>
          <a:lstStyle/>
          <a:p>
            <a:pPr marL="0" indent="0">
              <a:buNone/>
            </a:pPr>
            <a:r>
              <a:rPr lang="en-US" sz="1700" b="1" dirty="0">
                <a:solidFill>
                  <a:srgbClr val="4B1248"/>
                </a:solidFill>
                <a:latin typeface="Arial" pitchFamily="34" charset="0"/>
                <a:ea typeface="Arial" pitchFamily="34" charset="-122"/>
                <a:cs typeface="Arial" pitchFamily="34" charset="-120"/>
              </a:rPr>
              <a:t>What one paid order really costs him</a:t>
            </a:r>
            <a:endParaRPr lang="en-US" sz="1700" dirty="0"/>
          </a:p>
        </p:txBody>
      </p:sp>
      <p:sp>
        <p:nvSpPr>
          <p:cNvPr id="8" name="Text 6"/>
          <p:cNvSpPr txBox="1"/>
          <p:nvPr/>
        </p:nvSpPr>
        <p:spPr>
          <a:xfrm>
            <a:off x="1005840" y="4498848"/>
            <a:ext cx="5029200" cy="914400"/>
          </a:xfrm>
          <a:prstGeom prst="rect">
            <a:avLst/>
          </a:prstGeom>
          <a:noFill/>
          <a:ln/>
        </p:spPr>
        <p:txBody>
          <a:bodyPr wrap="square" lIns="0" tIns="0" rIns="0" bIns="0" rtlCol="0" anchor="t"/>
          <a:lstStyle/>
          <a:p>
            <a:pPr marL="0" indent="0">
              <a:buNone/>
            </a:pPr>
            <a:r>
              <a:rPr lang="en-US" sz="1350" dirty="0">
                <a:solidFill>
                  <a:srgbClr val="67516B"/>
                </a:solidFill>
                <a:latin typeface="Arial" pitchFamily="34" charset="0"/>
                <a:ea typeface="Arial" pitchFamily="34" charset="-122"/>
                <a:cs typeface="Arial" pitchFamily="34" charset="-120"/>
              </a:rPr>
              <a:t>Of 100 parcels, about 10 come back undelivered and 6% of the delivered ones are returned. Only about 84 get paid for, so they carry the cost of all 100.</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5486400"/>
          <a:ext cx="5029200" cy="3145536"/>
        </p:xfrm>
        <a:graphic>
          <a:graphicData uri="http://schemas.openxmlformats.org/drawingml/2006/table">
            <a:tbl>
              <a:tblPr/>
              <a:tblGrid>
                <a:gridCol w="3931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393192">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Making cost, incl. pieces lost in returns</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₹68</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0"/>
                  </a:ext>
                </a:extLst>
              </a:tr>
              <a:tr h="393192">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Packaging</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₹14</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Meesho delivery</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₹36</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Return pickups</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₹2</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Free bar</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₹18</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lgn="l">
                        <a:buNone/>
                      </a:pPr>
                      <a:r>
                        <a:rPr lang="en-US" sz="1450" b="1" dirty="0">
                          <a:solidFill>
                            <a:srgbClr val="2A0B2F"/>
                          </a:solidFill>
                          <a:latin typeface="Arial" pitchFamily="34" charset="0"/>
                          <a:ea typeface="Arial" pitchFamily="34" charset="-122"/>
                          <a:cs typeface="Arial" pitchFamily="34" charset="-120"/>
                        </a:rPr>
                        <a:t>Cost of one paid order</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b="1" dirty="0">
                          <a:solidFill>
                            <a:srgbClr val="2A0B2F"/>
                          </a:solidFill>
                          <a:latin typeface="Arial" pitchFamily="34" charset="0"/>
                          <a:ea typeface="Arial" pitchFamily="34" charset="-122"/>
                          <a:cs typeface="Arial" pitchFamily="34" charset="-120"/>
                        </a:rPr>
                        <a:t>₹138</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lgn="l">
                        <a:buNone/>
                      </a:pPr>
                      <a:r>
                        <a:rPr lang="en-US" sz="1450" dirty="0">
                          <a:solidFill>
                            <a:srgbClr val="2A0B2F"/>
                          </a:solidFill>
                          <a:latin typeface="Arial" pitchFamily="34" charset="0"/>
                          <a:ea typeface="Arial" pitchFamily="34" charset="-122"/>
                          <a:cs typeface="Arial" pitchFamily="34" charset="-120"/>
                        </a:rPr>
                        <a:t>GST (5%)</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450" dirty="0">
                          <a:solidFill>
                            <a:srgbClr val="2A0B2F"/>
                          </a:solidFill>
                          <a:latin typeface="Arial" pitchFamily="34" charset="0"/>
                          <a:ea typeface="Arial" pitchFamily="34" charset="-122"/>
                          <a:cs typeface="Arial" pitchFamily="34" charset="-120"/>
                        </a:rPr>
                        <a:t>₹7</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lgn="l">
                        <a:buNone/>
                      </a:pPr>
                      <a:r>
                        <a:rPr lang="en-US" sz="1700" b="1" dirty="0">
                          <a:solidFill>
                            <a:srgbClr val="B42318"/>
                          </a:solidFill>
                          <a:latin typeface="Arial" pitchFamily="34" charset="0"/>
                          <a:ea typeface="Arial" pitchFamily="34" charset="-122"/>
                          <a:cs typeface="Arial" pitchFamily="34" charset="-120"/>
                        </a:rPr>
                        <a:t>Floor price</a:t>
                      </a:r>
                      <a:endParaRPr lang="en-US" sz="17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lgn="r">
                        <a:buNone/>
                      </a:pPr>
                      <a:r>
                        <a:rPr lang="en-US" sz="1700" b="1" dirty="0">
                          <a:solidFill>
                            <a:srgbClr val="B42318"/>
                          </a:solidFill>
                          <a:latin typeface="Arial" pitchFamily="34" charset="0"/>
                          <a:ea typeface="Arial" pitchFamily="34" charset="-122"/>
                          <a:cs typeface="Arial" pitchFamily="34" charset="-120"/>
                        </a:rPr>
                        <a:t>₹145</a:t>
                      </a:r>
                      <a:endParaRPr lang="en-US" sz="17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Shape 7"/>
          <p:cNvSpPr/>
          <p:nvPr/>
        </p:nvSpPr>
        <p:spPr>
          <a:xfrm>
            <a:off x="6629400" y="3886200"/>
            <a:ext cx="4754880" cy="3611880"/>
          </a:xfrm>
          <a:prstGeom prst="roundRect">
            <a:avLst>
              <a:gd name="adj" fmla="val 5063"/>
            </a:avLst>
          </a:prstGeom>
          <a:solidFill>
            <a:srgbClr val="FFF4F9"/>
          </a:solidFill>
          <a:ln w="31750">
            <a:solidFill>
              <a:srgbClr val="C2185B"/>
            </a:solidFill>
            <a:prstDash val="solid"/>
          </a:ln>
        </p:spPr>
        <p:txBody>
          <a:bodyPr/>
          <a:p/>
        </p:txBody>
      </p:sp>
      <p:sp>
        <p:nvSpPr>
          <p:cNvPr id="11" name="Shape 8"/>
          <p:cNvSpPr/>
          <p:nvPr/>
        </p:nvSpPr>
        <p:spPr>
          <a:xfrm>
            <a:off x="6903720" y="4114800"/>
            <a:ext cx="256032" cy="256032"/>
          </a:xfrm>
          <a:prstGeom prst="ellipse">
            <a:avLst/>
          </a:prstGeom>
          <a:solidFill>
            <a:srgbClr val="FFFFFF"/>
          </a:solidFill>
          <a:ln w="25400">
            <a:solidFill>
              <a:srgbClr val="C2185B"/>
            </a:solidFill>
            <a:prstDash val="solid"/>
          </a:ln>
        </p:spPr>
        <p:txBody>
          <a:bodyPr/>
          <a:p/>
        </p:txBody>
      </p:sp>
      <p:sp>
        <p:nvSpPr>
          <p:cNvPr id="12" name="Text 9"/>
          <p:cNvSpPr txBox="1"/>
          <p:nvPr/>
        </p:nvSpPr>
        <p:spPr>
          <a:xfrm>
            <a:off x="7360920" y="4069080"/>
            <a:ext cx="3200400" cy="411480"/>
          </a:xfrm>
          <a:prstGeom prst="rect">
            <a:avLst/>
          </a:prstGeom>
          <a:noFill/>
          <a:ln/>
        </p:spPr>
        <p:txBody>
          <a:bodyPr wrap="square" lIns="0" tIns="0" rIns="0" bIns="0" rtlCol="0" anchor="ctr"/>
          <a:lstStyle/>
          <a:p>
            <a:pPr marL="0" indent="0">
              <a:buNone/>
            </a:pPr>
            <a:r>
              <a:rPr lang="en-US" sz="1900" b="1" dirty="0">
                <a:solidFill>
                  <a:srgbClr val="67516B"/>
                </a:solidFill>
                <a:latin typeface="Arial" pitchFamily="34" charset="0"/>
                <a:ea typeface="Arial" pitchFamily="34" charset="-122"/>
                <a:cs typeface="Arial" pitchFamily="34" charset="-120"/>
              </a:rPr>
              <a:t>Start at</a:t>
            </a:r>
            <a:endParaRPr lang="en-US" sz="1900" dirty="0"/>
          </a:p>
        </p:txBody>
      </p:sp>
      <p:sp>
        <p:nvSpPr>
          <p:cNvPr id="13" name="Text 10"/>
          <p:cNvSpPr txBox="1"/>
          <p:nvPr/>
        </p:nvSpPr>
        <p:spPr>
          <a:xfrm>
            <a:off x="7315200" y="4480560"/>
            <a:ext cx="3840480" cy="1325880"/>
          </a:xfrm>
          <a:prstGeom prst="rect">
            <a:avLst/>
          </a:prstGeom>
          <a:noFill/>
          <a:ln/>
        </p:spPr>
        <p:txBody>
          <a:bodyPr wrap="square" lIns="0" tIns="0" rIns="0" bIns="0" rtlCol="0" anchor="ctr"/>
          <a:lstStyle/>
          <a:p>
            <a:pPr marL="0" indent="0">
              <a:buNone/>
            </a:pPr>
            <a:r>
              <a:rPr lang="en-US" sz="8800" b="1" dirty="0">
                <a:solidFill>
                  <a:srgbClr val="4B1248"/>
                </a:solidFill>
                <a:latin typeface="Arial" pitchFamily="34" charset="0"/>
                <a:ea typeface="Arial" pitchFamily="34" charset="-122"/>
                <a:cs typeface="Arial" pitchFamily="34" charset="-120"/>
              </a:rPr>
              <a:t>₹209</a:t>
            </a:r>
            <a:endParaRPr lang="en-US" sz="8800" dirty="0"/>
          </a:p>
        </p:txBody>
      </p:sp>
      <p:sp>
        <p:nvSpPr>
          <p:cNvPr id="14" name="Text 11"/>
          <p:cNvSpPr txBox="1"/>
          <p:nvPr/>
        </p:nvSpPr>
        <p:spPr>
          <a:xfrm>
            <a:off x="7360920" y="5897880"/>
            <a:ext cx="3840480" cy="777240"/>
          </a:xfrm>
          <a:prstGeom prst="rect">
            <a:avLst/>
          </a:prstGeom>
          <a:noFill/>
          <a:ln/>
        </p:spPr>
        <p:txBody>
          <a:bodyPr wrap="square" lIns="0" tIns="0" rIns="0" bIns="0" rtlCol="0" anchor="t"/>
          <a:lstStyle/>
          <a:p>
            <a:pPr marL="0" indent="0">
              <a:spcAft>
                <a:spcPts val="400"/>
              </a:spcAft>
              <a:buNone/>
            </a:pPr>
            <a:r>
              <a:rPr lang="en-US" sz="1600" b="1" dirty="0">
                <a:solidFill>
                  <a:srgbClr val="2A0B2F"/>
                </a:solidFill>
                <a:latin typeface="Arial" pitchFamily="34" charset="0"/>
                <a:ea typeface="Arial" pitchFamily="34" charset="-122"/>
                <a:cs typeface="Arial" pitchFamily="34" charset="-120"/>
              </a:rPr>
              <a:t>Good range ₹189 to ₹229</a:t>
            </a:r>
            <a:endParaRPr lang="en-US" sz="1600" dirty="0"/>
          </a:p>
          <a:p>
            <a:pPr marL="0" indent="0">
              <a:spcAft>
                <a:spcPts val="400"/>
              </a:spcAft>
              <a:buNone/>
            </a:pPr>
            <a:r>
              <a:rPr lang="en-US" sz="1600" dirty="0">
                <a:solidFill>
                  <a:srgbClr val="2A0B2F"/>
                </a:solidFill>
                <a:latin typeface="Arial" pitchFamily="34" charset="0"/>
                <a:ea typeface="Arial" pitchFamily="34" charset="-122"/>
                <a:cs typeface="Arial" pitchFamily="34" charset="-120"/>
              </a:rPr>
              <a:t>Keeps about ₹61 on each paid order</a:t>
            </a:r>
            <a:endParaRPr lang="en-US" sz="1600" dirty="0"/>
          </a:p>
        </p:txBody>
      </p:sp>
      <p:sp>
        <p:nvSpPr>
          <p:cNvPr id="15" name="Text 12"/>
          <p:cNvSpPr txBox="1"/>
          <p:nvPr/>
        </p:nvSpPr>
        <p:spPr>
          <a:xfrm>
            <a:off x="7360920" y="6812280"/>
            <a:ext cx="3840480" cy="457200"/>
          </a:xfrm>
          <a:prstGeom prst="rect">
            <a:avLst/>
          </a:prstGeom>
          <a:noFill/>
          <a:ln/>
        </p:spPr>
        <p:txBody>
          <a:bodyPr wrap="square" lIns="0" tIns="0" rIns="0" bIns="0" rtlCol="0" anchor="ctr"/>
          <a:lstStyle/>
          <a:p>
            <a:pPr marL="0" indent="0">
              <a:buNone/>
            </a:pPr>
            <a:r>
              <a:rPr lang="en-US" sz="1700" b="1" dirty="0">
                <a:solidFill>
                  <a:srgbClr val="B42318"/>
                </a:solidFill>
                <a:latin typeface="Arial" pitchFamily="34" charset="0"/>
                <a:ea typeface="Arial" pitchFamily="34" charset="-122"/>
                <a:cs typeface="Arial" pitchFamily="34" charset="-120"/>
              </a:rPr>
              <a:t>Never list below ₹145</a:t>
            </a:r>
            <a:endParaRPr lang="en-US" sz="1700" dirty="0"/>
          </a:p>
        </p:txBody>
      </p:sp>
      <p:sp>
        <p:nvSpPr>
          <p:cNvPr id="16" name="Text 13"/>
          <p:cNvSpPr txBox="1"/>
          <p:nvPr/>
        </p:nvSpPr>
        <p:spPr>
          <a:xfrm>
            <a:off x="11750040" y="3886200"/>
            <a:ext cx="580644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Why ₹209</a:t>
            </a:r>
            <a:endParaRPr lang="en-US" sz="1800" dirty="0"/>
          </a:p>
        </p:txBody>
      </p:sp>
      <p:sp>
        <p:nvSpPr>
          <p:cNvPr id="17" name="Text 14"/>
          <p:cNvSpPr txBox="1"/>
          <p:nvPr/>
        </p:nvSpPr>
        <p:spPr>
          <a:xfrm>
            <a:off x="11750040" y="4315968"/>
            <a:ext cx="5806440" cy="324612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Most soaps sell for ₹149 to ₹228, typically ₹186; demand rose 2% in the last 4 weeks.</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12 weeks at ₹209: about 69 orders placed, 58 of them paid. 58 × ₹61 ≈ ₹3,537 profit.</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At ₹179: 107 orders placed but only ₹2,973. ₹229 earns a little more (₹3,627); within 5%, we take the lower price for faster reviews.</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At this price level 44% of negative reviews mention price, against 27% near ₹186.</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His offline ₹134 loses about ₹10 on every paid order.</a:t>
            </a:r>
            <a:endParaRPr lang="en-US" sz="1450" dirty="0"/>
          </a:p>
        </p:txBody>
      </p:sp>
      <p:sp>
        <p:nvSpPr>
          <p:cNvPr id="18" name="Shape 15"/>
          <p:cNvSpPr/>
          <p:nvPr/>
        </p:nvSpPr>
        <p:spPr>
          <a:xfrm>
            <a:off x="6812280" y="8247888"/>
            <a:ext cx="10607040" cy="109728"/>
          </a:xfrm>
          <a:prstGeom prst="roundRect">
            <a:avLst>
              <a:gd name="adj" fmla="val 50000"/>
            </a:avLst>
          </a:prstGeom>
          <a:solidFill>
            <a:srgbClr val="E3D5E6"/>
          </a:solidFill>
          <a:ln w="12700">
            <a:solidFill>
              <a:srgbClr val="E3D5E6"/>
            </a:solidFill>
            <a:prstDash val="solid"/>
          </a:ln>
        </p:spPr>
        <p:txBody>
          <a:bodyPr/>
          <a:p/>
        </p:txBody>
      </p:sp>
      <p:sp>
        <p:nvSpPr>
          <p:cNvPr id="19" name="Shape 16"/>
          <p:cNvSpPr/>
          <p:nvPr/>
        </p:nvSpPr>
        <p:spPr>
          <a:xfrm>
            <a:off x="9273113" y="8174736"/>
            <a:ext cx="6703649" cy="256032"/>
          </a:xfrm>
          <a:prstGeom prst="roundRect">
            <a:avLst>
              <a:gd name="adj" fmla="val 50000"/>
            </a:avLst>
          </a:prstGeom>
          <a:solidFill>
            <a:srgbClr val="EBD6EE"/>
          </a:solidFill>
          <a:ln w="12700">
            <a:solidFill>
              <a:srgbClr val="EBD6EE"/>
            </a:solidFill>
            <a:prstDash val="solid"/>
          </a:ln>
        </p:spPr>
        <p:txBody>
          <a:bodyPr/>
          <a:p/>
        </p:txBody>
      </p:sp>
      <p:sp>
        <p:nvSpPr>
          <p:cNvPr id="20" name="Shape 17"/>
          <p:cNvSpPr/>
          <p:nvPr/>
        </p:nvSpPr>
        <p:spPr>
          <a:xfrm>
            <a:off x="12667366" y="8211312"/>
            <a:ext cx="3394253" cy="182880"/>
          </a:xfrm>
          <a:prstGeom prst="roundRect">
            <a:avLst>
              <a:gd name="adj" fmla="val 50000"/>
            </a:avLst>
          </a:prstGeom>
          <a:solidFill>
            <a:srgbClr val="C2185B"/>
          </a:solidFill>
          <a:ln w="12700">
            <a:solidFill>
              <a:srgbClr val="C2185B"/>
            </a:solidFill>
            <a:prstDash val="solid"/>
          </a:ln>
        </p:spPr>
        <p:txBody>
          <a:bodyPr/>
          <a:p/>
        </p:txBody>
      </p:sp>
      <p:sp>
        <p:nvSpPr>
          <p:cNvPr id="21" name="Shape 18"/>
          <p:cNvSpPr/>
          <p:nvPr/>
        </p:nvSpPr>
        <p:spPr>
          <a:xfrm>
            <a:off x="12399081" y="8065008"/>
            <a:ext cx="27432" cy="475488"/>
          </a:xfrm>
          <a:prstGeom prst="rect">
            <a:avLst/>
          </a:prstGeom>
          <a:solidFill>
            <a:srgbClr val="67516B"/>
          </a:solidFill>
          <a:ln w="12700">
            <a:solidFill>
              <a:srgbClr val="67516B"/>
            </a:solidFill>
            <a:prstDash val="solid"/>
          </a:ln>
        </p:spPr>
        <p:txBody>
          <a:bodyPr/>
          <a:p/>
        </p:txBody>
      </p:sp>
      <p:sp>
        <p:nvSpPr>
          <p:cNvPr id="22" name="Shape 19"/>
          <p:cNvSpPr/>
          <p:nvPr/>
        </p:nvSpPr>
        <p:spPr>
          <a:xfrm>
            <a:off x="7986552" y="8065008"/>
            <a:ext cx="27432" cy="475488"/>
          </a:xfrm>
          <a:prstGeom prst="rect">
            <a:avLst/>
          </a:prstGeom>
          <a:solidFill>
            <a:srgbClr val="9C8AA0"/>
          </a:solidFill>
          <a:ln w="12700">
            <a:solidFill>
              <a:srgbClr val="9C8AA0"/>
            </a:solidFill>
            <a:prstDash val="solid"/>
          </a:ln>
        </p:spPr>
        <p:txBody>
          <a:bodyPr/>
          <a:p/>
        </p:txBody>
      </p:sp>
      <p:sp>
        <p:nvSpPr>
          <p:cNvPr id="23" name="Shape 20"/>
          <p:cNvSpPr/>
          <p:nvPr/>
        </p:nvSpPr>
        <p:spPr>
          <a:xfrm>
            <a:off x="8906256" y="7955280"/>
            <a:ext cx="54864" cy="694944"/>
          </a:xfrm>
          <a:prstGeom prst="rect">
            <a:avLst/>
          </a:prstGeom>
          <a:solidFill>
            <a:srgbClr val="B42318"/>
          </a:solidFill>
          <a:ln w="12700">
            <a:solidFill>
              <a:srgbClr val="B42318"/>
            </a:solidFill>
            <a:prstDash val="solid"/>
          </a:ln>
        </p:spPr>
        <p:txBody>
          <a:bodyPr/>
          <a:p/>
        </p:txBody>
      </p:sp>
      <p:sp>
        <p:nvSpPr>
          <p:cNvPr id="24" name="Shape 21"/>
          <p:cNvSpPr/>
          <p:nvPr/>
        </p:nvSpPr>
        <p:spPr>
          <a:xfrm>
            <a:off x="14227332" y="8165592"/>
            <a:ext cx="274320" cy="274320"/>
          </a:xfrm>
          <a:prstGeom prst="ellipse">
            <a:avLst/>
          </a:prstGeom>
          <a:solidFill>
            <a:srgbClr val="C2185B"/>
          </a:solidFill>
          <a:ln w="25400">
            <a:solidFill>
              <a:srgbClr val="FFFFFF"/>
            </a:solidFill>
            <a:prstDash val="solid"/>
          </a:ln>
        </p:spPr>
        <p:txBody>
          <a:bodyPr/>
          <a:p/>
        </p:txBody>
      </p:sp>
      <p:sp>
        <p:nvSpPr>
          <p:cNvPr id="25" name="Text 22"/>
          <p:cNvSpPr txBox="1"/>
          <p:nvPr/>
        </p:nvSpPr>
        <p:spPr>
          <a:xfrm>
            <a:off x="6994428" y="7680960"/>
            <a:ext cx="2011680" cy="292608"/>
          </a:xfrm>
          <a:prstGeom prst="rect">
            <a:avLst/>
          </a:prstGeom>
          <a:noFill/>
          <a:ln/>
        </p:spPr>
        <p:txBody>
          <a:bodyPr wrap="square" lIns="0" tIns="0" rIns="0" bIns="0" rtlCol="0" anchor="ctr"/>
          <a:lstStyle/>
          <a:p>
            <a:pPr marL="0" indent="0" algn="ctr">
              <a:buNone/>
            </a:pPr>
            <a:r>
              <a:rPr lang="en-US" sz="1300" dirty="0">
                <a:solidFill>
                  <a:srgbClr val="67516B"/>
                </a:solidFill>
                <a:latin typeface="Arial" pitchFamily="34" charset="0"/>
                <a:ea typeface="Arial" pitchFamily="34" charset="-122"/>
                <a:cs typeface="Arial" pitchFamily="34" charset="-120"/>
              </a:rPr>
              <a:t>Offline ₹134</a:t>
            </a:r>
            <a:endParaRPr lang="en-US" sz="1300" dirty="0"/>
          </a:p>
        </p:txBody>
      </p:sp>
      <p:sp>
        <p:nvSpPr>
          <p:cNvPr id="26" name="Text 23"/>
          <p:cNvSpPr txBox="1"/>
          <p:nvPr/>
        </p:nvSpPr>
        <p:spPr>
          <a:xfrm>
            <a:off x="13358652" y="7680960"/>
            <a:ext cx="2011680" cy="292608"/>
          </a:xfrm>
          <a:prstGeom prst="rect">
            <a:avLst/>
          </a:prstGeom>
          <a:noFill/>
          <a:ln/>
        </p:spPr>
        <p:txBody>
          <a:bodyPr wrap="square" lIns="0" tIns="0" rIns="0" bIns="0" rtlCol="0" anchor="ctr"/>
          <a:lstStyle/>
          <a:p>
            <a:pPr marL="0" indent="0" algn="ctr">
              <a:buNone/>
            </a:pPr>
            <a:r>
              <a:rPr lang="en-US" sz="1300" b="1" dirty="0">
                <a:solidFill>
                  <a:srgbClr val="C2185B"/>
                </a:solidFill>
                <a:latin typeface="Arial" pitchFamily="34" charset="0"/>
                <a:ea typeface="Arial" pitchFamily="34" charset="-122"/>
                <a:cs typeface="Arial" pitchFamily="34" charset="-120"/>
              </a:rPr>
              <a:t>Start ₹209</a:t>
            </a:r>
            <a:endParaRPr lang="en-US" sz="1300" dirty="0"/>
          </a:p>
        </p:txBody>
      </p:sp>
      <p:sp>
        <p:nvSpPr>
          <p:cNvPr id="27" name="Text 24"/>
          <p:cNvSpPr txBox="1"/>
          <p:nvPr/>
        </p:nvSpPr>
        <p:spPr>
          <a:xfrm>
            <a:off x="7927848" y="8705088"/>
            <a:ext cx="2011680" cy="292608"/>
          </a:xfrm>
          <a:prstGeom prst="rect">
            <a:avLst/>
          </a:prstGeom>
          <a:noFill/>
          <a:ln/>
        </p:spPr>
        <p:txBody>
          <a:bodyPr wrap="square" lIns="0" tIns="0" rIns="0" bIns="0" rtlCol="0" anchor="ctr"/>
          <a:lstStyle/>
          <a:p>
            <a:pPr marL="0" indent="0" algn="ctr">
              <a:buNone/>
            </a:pPr>
            <a:r>
              <a:rPr lang="en-US" sz="1300" b="1" dirty="0">
                <a:solidFill>
                  <a:srgbClr val="B42318"/>
                </a:solidFill>
                <a:latin typeface="Arial" pitchFamily="34" charset="0"/>
                <a:ea typeface="Arial" pitchFamily="34" charset="-122"/>
                <a:cs typeface="Arial" pitchFamily="34" charset="-120"/>
              </a:rPr>
              <a:t>Floor ₹145</a:t>
            </a:r>
            <a:endParaRPr lang="en-US" sz="1300" dirty="0"/>
          </a:p>
        </p:txBody>
      </p:sp>
      <p:sp>
        <p:nvSpPr>
          <p:cNvPr id="28" name="Text 25"/>
          <p:cNvSpPr txBox="1"/>
          <p:nvPr/>
        </p:nvSpPr>
        <p:spPr>
          <a:xfrm>
            <a:off x="11406957" y="8705088"/>
            <a:ext cx="2011680" cy="292608"/>
          </a:xfrm>
          <a:prstGeom prst="rect">
            <a:avLst/>
          </a:prstGeom>
          <a:noFill/>
          <a:ln/>
        </p:spPr>
        <p:txBody>
          <a:bodyPr wrap="square" lIns="0" tIns="0" rIns="0" bIns="0" rtlCol="0" anchor="ctr"/>
          <a:lstStyle/>
          <a:p>
            <a:pPr marL="0" indent="0" algn="ctr">
              <a:buNone/>
            </a:pPr>
            <a:r>
              <a:rPr lang="en-US" sz="1300" dirty="0">
                <a:solidFill>
                  <a:srgbClr val="67516B"/>
                </a:solidFill>
                <a:latin typeface="Arial" pitchFamily="34" charset="0"/>
                <a:ea typeface="Arial" pitchFamily="34" charset="-122"/>
                <a:cs typeface="Arial" pitchFamily="34" charset="-120"/>
              </a:rPr>
              <a:t>Typical ₹186</a:t>
            </a:r>
            <a:endParaRPr lang="en-US" sz="1300" dirty="0"/>
          </a:p>
        </p:txBody>
      </p:sp>
      <p:sp>
        <p:nvSpPr>
          <p:cNvPr id="29" name="Text 26"/>
          <p:cNvSpPr txBox="1"/>
          <p:nvPr/>
        </p:nvSpPr>
        <p:spPr>
          <a:xfrm>
            <a:off x="13600786" y="8705088"/>
            <a:ext cx="3566160" cy="292608"/>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Shaded: where most soaps sell, ₹149 to ₹228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Move the price at five moments, and let quality decide how low to go</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Meesho sees what the seller can't: the funnel, the reviews, and which price pays for which product. Example: Seller 6's soap, demo data</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Demo data. Right: the simulator that generated the data, 150 runs per price; our model is more cautious about price cuts. The 8% rating premium is a demo-data finding.</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5</a:t>
            </a:r>
            <a:endParaRPr lang="en-US" sz="1200" dirty="0"/>
          </a:p>
        </p:txBody>
      </p:sp>
      <p:sp>
        <p:nvSpPr>
          <p:cNvPr id="6" name="TextBox 5"/>
          <p:cNvSpPr txBox="1"/>
          <p:nvPr/>
        </p:nvSpPr>
        <p:spPr>
          <a:xfrm>
            <a:off x="731520" y="3767328"/>
            <a:ext cx="16824960" cy="292608"/>
          </a:xfrm>
          <a:prstGeom prst="rect">
            <a:avLst/>
          </a:prstGeom>
          <a:noFill/>
        </p:spPr>
        <p:txBody>
          <a:bodyPr wrap="square" lIns="0" rIns="0" tIns="0" bIns="0" anchor="ctr">
            <a:spAutoFit/>
          </a:bodyPr>
          <a:lstStyle/>
          <a:p>
            <a:pPr algn="l">
              <a:spcAft>
                <a:spcPts val="0"/>
              </a:spcAft>
            </a:pPr>
            <a:r>
              <a:rPr sz="1300" b="1">
                <a:solidFill>
                  <a:srgbClr val="C2185B"/>
                </a:solidFill>
                <a:latin typeface="Arial"/>
              </a:rPr>
              <a:t>Over the product's life: when to move the price</a:t>
            </a:r>
          </a:p>
        </p:txBody>
      </p:sp>
      <p:sp>
        <p:nvSpPr>
          <p:cNvPr id="7" name="Pentagon 6"/>
          <p:cNvSpPr/>
          <p:nvPr/>
        </p:nvSpPr>
        <p:spPr>
          <a:xfrm>
            <a:off x="731520" y="4096512"/>
            <a:ext cx="3474720" cy="457200"/>
          </a:xfrm>
          <a:prstGeom prst="homePlate">
            <a:avLst>
              <a:gd name="adj" fmla="val 38000"/>
            </a:avLst>
          </a:prstGeom>
          <a:solidFill>
            <a:srgbClr val="4B1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096512"/>
            <a:ext cx="2834639" cy="457200"/>
          </a:xfrm>
          <a:prstGeom prst="rect">
            <a:avLst/>
          </a:prstGeom>
          <a:noFill/>
        </p:spPr>
        <p:txBody>
          <a:bodyPr wrap="square" lIns="0" rIns="0" tIns="0" bIns="0" anchor="ctr">
            <a:spAutoFit/>
          </a:bodyPr>
          <a:lstStyle/>
          <a:p>
            <a:pPr algn="l">
              <a:spcAft>
                <a:spcPts val="0"/>
              </a:spcAft>
            </a:pPr>
            <a:r>
              <a:rPr sz="1400" b="1">
                <a:solidFill>
                  <a:srgbClr val="FFFFFF"/>
                </a:solidFill>
                <a:latin typeface="Arial"/>
              </a:rPr>
              <a:t>01  Launch</a:t>
            </a:r>
          </a:p>
        </p:txBody>
      </p:sp>
      <p:sp>
        <p:nvSpPr>
          <p:cNvPr id="9" name="TextBox 8"/>
          <p:cNvSpPr txBox="1"/>
          <p:nvPr/>
        </p:nvSpPr>
        <p:spPr>
          <a:xfrm>
            <a:off x="868680" y="4626864"/>
            <a:ext cx="3063240" cy="822960"/>
          </a:xfrm>
          <a:prstGeom prst="rect">
            <a:avLst/>
          </a:prstGeom>
          <a:noFill/>
        </p:spPr>
        <p:txBody>
          <a:bodyPr wrap="square" lIns="0" rIns="0" tIns="0" bIns="0" anchor="t">
            <a:spAutoFit/>
          </a:bodyPr>
          <a:lstStyle/>
          <a:p>
            <a:pPr algn="l">
              <a:spcAft>
                <a:spcPts val="300"/>
              </a:spcAft>
            </a:pPr>
            <a:r>
              <a:rPr sz="1250" b="0">
                <a:solidFill>
                  <a:srgbClr val="2A0B2F"/>
                </a:solidFill>
                <a:latin typeface="Arial"/>
              </a:rPr>
              <a:t>Floor from costs, start from the band.</a:t>
            </a:r>
          </a:p>
          <a:p>
            <a:pPr algn="l">
              <a:spcAft>
                <a:spcPts val="0"/>
              </a:spcAft>
            </a:pPr>
            <a:r>
              <a:rPr sz="1250" b="1">
                <a:solidFill>
                  <a:srgbClr val="4B1248"/>
                </a:solidFill>
                <a:latin typeface="Arial"/>
              </a:rPr>
              <a:t>Floor ₹145, start ₹209</a:t>
            </a:r>
          </a:p>
        </p:txBody>
      </p:sp>
      <p:sp>
        <p:nvSpPr>
          <p:cNvPr id="10" name="Chevron 9"/>
          <p:cNvSpPr/>
          <p:nvPr/>
        </p:nvSpPr>
        <p:spPr>
          <a:xfrm>
            <a:off x="4069080" y="4096512"/>
            <a:ext cx="3474720" cy="457200"/>
          </a:xfrm>
          <a:prstGeom prst="chevron">
            <a:avLst>
              <a:gd name="adj" fmla="val 28000"/>
            </a:avLst>
          </a:prstGeom>
          <a:solidFill>
            <a:srgbClr val="4B1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4096512"/>
            <a:ext cx="2834639" cy="457200"/>
          </a:xfrm>
          <a:prstGeom prst="rect">
            <a:avLst/>
          </a:prstGeom>
          <a:noFill/>
        </p:spPr>
        <p:txBody>
          <a:bodyPr wrap="square" lIns="0" rIns="0" tIns="0" bIns="0" anchor="ctr">
            <a:spAutoFit/>
          </a:bodyPr>
          <a:lstStyle/>
          <a:p>
            <a:pPr algn="l">
              <a:spcAft>
                <a:spcPts val="0"/>
              </a:spcAft>
            </a:pPr>
            <a:r>
              <a:rPr sz="1400" b="1">
                <a:solidFill>
                  <a:srgbClr val="FFFFFF"/>
                </a:solidFill>
                <a:latin typeface="Arial"/>
              </a:rPr>
              <a:t>02  Discovery</a:t>
            </a:r>
          </a:p>
        </p:txBody>
      </p:sp>
      <p:sp>
        <p:nvSpPr>
          <p:cNvPr id="12" name="TextBox 11"/>
          <p:cNvSpPr txBox="1"/>
          <p:nvPr/>
        </p:nvSpPr>
        <p:spPr>
          <a:xfrm>
            <a:off x="4206240" y="4626864"/>
            <a:ext cx="3063240" cy="822960"/>
          </a:xfrm>
          <a:prstGeom prst="rect">
            <a:avLst/>
          </a:prstGeom>
          <a:noFill/>
        </p:spPr>
        <p:txBody>
          <a:bodyPr wrap="square" lIns="0" rIns="0" tIns="0" bIns="0" anchor="t">
            <a:spAutoFit/>
          </a:bodyPr>
          <a:lstStyle/>
          <a:p>
            <a:pPr algn="l">
              <a:spcAft>
                <a:spcPts val="300"/>
              </a:spcAft>
            </a:pPr>
            <a:r>
              <a:rPr sz="1250" b="0">
                <a:solidFill>
                  <a:srgbClr val="2A0B2F"/>
                </a:solidFill>
                <a:latin typeface="Arial"/>
              </a:rPr>
              <a:t>Views but no orders for 2 weeks: read the funnel first.</a:t>
            </a:r>
          </a:p>
          <a:p>
            <a:pPr algn="l">
              <a:spcAft>
                <a:spcPts val="0"/>
              </a:spcAft>
            </a:pPr>
            <a:r>
              <a:rPr sz="1250" b="1">
                <a:solidFill>
                  <a:srgbClr val="4B1248"/>
                </a:solidFill>
                <a:latin typeface="Arial"/>
              </a:rPr>
              <a:t>Toward ₹186, never below ₹145</a:t>
            </a:r>
          </a:p>
        </p:txBody>
      </p:sp>
      <p:sp>
        <p:nvSpPr>
          <p:cNvPr id="13" name="Chevron 12"/>
          <p:cNvSpPr/>
          <p:nvPr/>
        </p:nvSpPr>
        <p:spPr>
          <a:xfrm>
            <a:off x="7406640" y="4096512"/>
            <a:ext cx="3474720" cy="457200"/>
          </a:xfrm>
          <a:prstGeom prst="chevron">
            <a:avLst>
              <a:gd name="adj" fmla="val 28000"/>
            </a:avLst>
          </a:prstGeom>
          <a:solidFill>
            <a:srgbClr val="4B1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4096512"/>
            <a:ext cx="2834639" cy="457200"/>
          </a:xfrm>
          <a:prstGeom prst="rect">
            <a:avLst/>
          </a:prstGeom>
          <a:noFill/>
        </p:spPr>
        <p:txBody>
          <a:bodyPr wrap="square" lIns="0" rIns="0" tIns="0" bIns="0" anchor="ctr">
            <a:spAutoFit/>
          </a:bodyPr>
          <a:lstStyle/>
          <a:p>
            <a:pPr algn="l">
              <a:spcAft>
                <a:spcPts val="0"/>
              </a:spcAft>
            </a:pPr>
            <a:r>
              <a:rPr sz="1400" b="1">
                <a:solidFill>
                  <a:srgbClr val="FFFFFF"/>
                </a:solidFill>
                <a:latin typeface="Arial"/>
              </a:rPr>
              <a:t>03  Growth</a:t>
            </a:r>
          </a:p>
        </p:txBody>
      </p:sp>
      <p:sp>
        <p:nvSpPr>
          <p:cNvPr id="15" name="TextBox 14"/>
          <p:cNvSpPr txBox="1"/>
          <p:nvPr/>
        </p:nvSpPr>
        <p:spPr>
          <a:xfrm>
            <a:off x="7543800" y="4626864"/>
            <a:ext cx="3063240" cy="822960"/>
          </a:xfrm>
          <a:prstGeom prst="rect">
            <a:avLst/>
          </a:prstGeom>
          <a:noFill/>
        </p:spPr>
        <p:txBody>
          <a:bodyPr wrap="square" lIns="0" rIns="0" tIns="0" bIns="0" anchor="t">
            <a:spAutoFit/>
          </a:bodyPr>
          <a:lstStyle/>
          <a:p>
            <a:pPr algn="l">
              <a:spcAft>
                <a:spcPts val="300"/>
              </a:spcAft>
            </a:pPr>
            <a:r>
              <a:rPr sz="1250" b="0">
                <a:solidFill>
                  <a:srgbClr val="2A0B2F"/>
                </a:solidFill>
                <a:latin typeface="Arial"/>
              </a:rPr>
              <a:t>4.1 stars and 30+ reviews: sales hold about 8% higher.</a:t>
            </a:r>
          </a:p>
          <a:p>
            <a:pPr algn="l">
              <a:spcAft>
                <a:spcPts val="0"/>
              </a:spcAft>
            </a:pPr>
            <a:r>
              <a:rPr sz="1250" b="1">
                <a:solidFill>
                  <a:srgbClr val="4B1248"/>
                </a:solidFill>
                <a:latin typeface="Arial"/>
              </a:rPr>
              <a:t>Try ₹229; keep it if orders hold</a:t>
            </a:r>
          </a:p>
        </p:txBody>
      </p:sp>
      <p:sp>
        <p:nvSpPr>
          <p:cNvPr id="16" name="Chevron 15"/>
          <p:cNvSpPr/>
          <p:nvPr/>
        </p:nvSpPr>
        <p:spPr>
          <a:xfrm>
            <a:off x="10744200" y="4096512"/>
            <a:ext cx="3474720" cy="457200"/>
          </a:xfrm>
          <a:prstGeom prst="chevron">
            <a:avLst>
              <a:gd name="adj" fmla="val 28000"/>
            </a:avLst>
          </a:prstGeom>
          <a:solidFill>
            <a:srgbClr val="4B1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09960" y="4096512"/>
            <a:ext cx="2834639" cy="457200"/>
          </a:xfrm>
          <a:prstGeom prst="rect">
            <a:avLst/>
          </a:prstGeom>
          <a:noFill/>
        </p:spPr>
        <p:txBody>
          <a:bodyPr wrap="square" lIns="0" rIns="0" tIns="0" bIns="0" anchor="ctr">
            <a:spAutoFit/>
          </a:bodyPr>
          <a:lstStyle/>
          <a:p>
            <a:pPr algn="l">
              <a:spcAft>
                <a:spcPts val="0"/>
              </a:spcAft>
            </a:pPr>
            <a:r>
              <a:rPr sz="1400" b="1">
                <a:solidFill>
                  <a:srgbClr val="FFFFFF"/>
                </a:solidFill>
                <a:latin typeface="Arial"/>
              </a:rPr>
              <a:t>04  Sales and festivals</a:t>
            </a:r>
          </a:p>
        </p:txBody>
      </p:sp>
      <p:sp>
        <p:nvSpPr>
          <p:cNvPr id="18" name="TextBox 17"/>
          <p:cNvSpPr txBox="1"/>
          <p:nvPr/>
        </p:nvSpPr>
        <p:spPr>
          <a:xfrm>
            <a:off x="10881360" y="4626864"/>
            <a:ext cx="3063240" cy="822960"/>
          </a:xfrm>
          <a:prstGeom prst="rect">
            <a:avLst/>
          </a:prstGeom>
          <a:noFill/>
        </p:spPr>
        <p:txBody>
          <a:bodyPr wrap="square" lIns="0" rIns="0" tIns="0" bIns="0" anchor="t">
            <a:spAutoFit/>
          </a:bodyPr>
          <a:lstStyle/>
          <a:p>
            <a:pPr algn="l">
              <a:spcAft>
                <a:spcPts val="300"/>
              </a:spcAft>
            </a:pPr>
            <a:r>
              <a:rPr sz="1250" b="0">
                <a:solidFill>
                  <a:srgbClr val="2A0B2F"/>
                </a:solidFill>
                <a:latin typeface="Arial"/>
              </a:rPr>
              <a:t>Check the price after the discount against the floor.</a:t>
            </a:r>
          </a:p>
          <a:p>
            <a:pPr algn="l">
              <a:spcAft>
                <a:spcPts val="0"/>
              </a:spcAft>
            </a:pPr>
            <a:r>
              <a:rPr sz="1250" b="1">
                <a:solidFill>
                  <a:srgbClr val="4B1248"/>
                </a:solidFill>
                <a:latin typeface="Arial"/>
              </a:rPr>
              <a:t>20% off: ₹167, still above ₹145</a:t>
            </a:r>
          </a:p>
        </p:txBody>
      </p:sp>
      <p:sp>
        <p:nvSpPr>
          <p:cNvPr id="19" name="Chevron 18"/>
          <p:cNvSpPr/>
          <p:nvPr/>
        </p:nvSpPr>
        <p:spPr>
          <a:xfrm>
            <a:off x="14081760" y="4096512"/>
            <a:ext cx="3474720" cy="457200"/>
          </a:xfrm>
          <a:prstGeom prst="chevron">
            <a:avLst>
              <a:gd name="adj" fmla="val 28000"/>
            </a:avLst>
          </a:prstGeom>
          <a:solidFill>
            <a:srgbClr val="4B1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447520" y="4096512"/>
            <a:ext cx="2834639" cy="457200"/>
          </a:xfrm>
          <a:prstGeom prst="rect">
            <a:avLst/>
          </a:prstGeom>
          <a:noFill/>
        </p:spPr>
        <p:txBody>
          <a:bodyPr wrap="square" lIns="0" rIns="0" tIns="0" bIns="0" anchor="ctr">
            <a:spAutoFit/>
          </a:bodyPr>
          <a:lstStyle/>
          <a:p>
            <a:pPr algn="l">
              <a:spcAft>
                <a:spcPts val="0"/>
              </a:spcAft>
            </a:pPr>
            <a:r>
              <a:rPr sz="1400" b="1">
                <a:solidFill>
                  <a:srgbClr val="FFFFFF"/>
                </a:solidFill>
                <a:latin typeface="Arial"/>
              </a:rPr>
              <a:t>05  Mature or slowing</a:t>
            </a:r>
          </a:p>
        </p:txBody>
      </p:sp>
      <p:sp>
        <p:nvSpPr>
          <p:cNvPr id="21" name="TextBox 20"/>
          <p:cNvSpPr txBox="1"/>
          <p:nvPr/>
        </p:nvSpPr>
        <p:spPr>
          <a:xfrm>
            <a:off x="14218920" y="4626864"/>
            <a:ext cx="3063240" cy="822960"/>
          </a:xfrm>
          <a:prstGeom prst="rect">
            <a:avLst/>
          </a:prstGeom>
          <a:noFill/>
        </p:spPr>
        <p:txBody>
          <a:bodyPr wrap="square" lIns="0" rIns="0" tIns="0" bIns="0" anchor="t">
            <a:spAutoFit/>
          </a:bodyPr>
          <a:lstStyle/>
          <a:p>
            <a:pPr algn="l">
              <a:spcAft>
                <a:spcPts val="300"/>
              </a:spcAft>
            </a:pPr>
            <a:r>
              <a:rPr sz="1250" b="0">
                <a:solidFill>
                  <a:srgbClr val="2A0B2F"/>
                </a:solidFill>
                <a:latin typeface="Arial"/>
              </a:rPr>
              <a:t>Returns above 9% raise the floor; read the reasons first.</a:t>
            </a:r>
          </a:p>
          <a:p>
            <a:pPr algn="l">
              <a:spcAft>
                <a:spcPts val="0"/>
              </a:spcAft>
            </a:pPr>
            <a:r>
              <a:rPr sz="1250" b="1">
                <a:solidFill>
                  <a:srgbClr val="4B1248"/>
                </a:solidFill>
                <a:latin typeface="Arial"/>
              </a:rPr>
              <a:t>“It melts”: fix the product</a:t>
            </a:r>
          </a:p>
        </p:txBody>
      </p:sp>
      <p:sp>
        <p:nvSpPr>
          <p:cNvPr id="22" name="TextBox 21"/>
          <p:cNvSpPr txBox="1"/>
          <p:nvPr/>
        </p:nvSpPr>
        <p:spPr>
          <a:xfrm>
            <a:off x="731520" y="5577840"/>
            <a:ext cx="10469880" cy="292608"/>
          </a:xfrm>
          <a:prstGeom prst="rect">
            <a:avLst/>
          </a:prstGeom>
          <a:noFill/>
        </p:spPr>
        <p:txBody>
          <a:bodyPr wrap="square" lIns="0" rIns="0" tIns="0" bIns="0" anchor="ctr">
            <a:spAutoFit/>
          </a:bodyPr>
          <a:lstStyle/>
          <a:p>
            <a:pPr algn="l">
              <a:spcAft>
                <a:spcPts val="0"/>
              </a:spcAft>
            </a:pPr>
            <a:r>
              <a:rPr sz="1300" b="1">
                <a:solidFill>
                  <a:srgbClr val="C2185B"/>
                </a:solidFill>
                <a:latin typeface="Arial"/>
              </a:rPr>
              <a:t>Inside any week: where buyers drop off tells the seller whether price is the problem</a:t>
            </a:r>
          </a:p>
        </p:txBody>
      </p:sp>
      <p:sp>
        <p:nvSpPr>
          <p:cNvPr id="23" name="Pentagon 22"/>
          <p:cNvSpPr/>
          <p:nvPr/>
        </p:nvSpPr>
        <p:spPr>
          <a:xfrm>
            <a:off x="731520" y="5916168"/>
            <a:ext cx="2181758" cy="402336"/>
          </a:xfrm>
          <a:prstGeom prst="homePlate">
            <a:avLst>
              <a:gd name="adj" fmla="val 38000"/>
            </a:avLst>
          </a:prstGeom>
          <a:solidFill>
            <a:srgbClr val="E7D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5916168"/>
            <a:ext cx="1751990" cy="402336"/>
          </a:xfrm>
          <a:prstGeom prst="rect">
            <a:avLst/>
          </a:prstGeom>
          <a:noFill/>
        </p:spPr>
        <p:txBody>
          <a:bodyPr wrap="square" lIns="0" rIns="0" tIns="0" bIns="0" anchor="ctr">
            <a:spAutoFit/>
          </a:bodyPr>
          <a:lstStyle/>
          <a:p>
            <a:pPr algn="l">
              <a:spcAft>
                <a:spcPts val="0"/>
              </a:spcAft>
            </a:pPr>
            <a:r>
              <a:rPr sz="1250" b="1">
                <a:solidFill>
                  <a:srgbClr val="2A0B2F"/>
                </a:solidFill>
                <a:latin typeface="Arial"/>
              </a:rPr>
              <a:t>Seen</a:t>
            </a:r>
          </a:p>
        </p:txBody>
      </p:sp>
      <p:sp>
        <p:nvSpPr>
          <p:cNvPr id="25" name="Rounded Rectangle 24"/>
          <p:cNvSpPr/>
          <p:nvPr/>
        </p:nvSpPr>
        <p:spPr>
          <a:xfrm>
            <a:off x="768096" y="6400800"/>
            <a:ext cx="1980590" cy="2697480"/>
          </a:xfrm>
          <a:prstGeom prst="roundRect">
            <a:avLst>
              <a:gd name="adj" fmla="val 6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6492240"/>
            <a:ext cx="1724558" cy="2542032"/>
          </a:xfrm>
          <a:prstGeom prst="rect">
            <a:avLst/>
          </a:prstGeom>
          <a:noFill/>
        </p:spPr>
        <p:txBody>
          <a:bodyPr wrap="square" lIns="0" rIns="0" tIns="0" bIns="0" anchor="t">
            <a:spAutoFit/>
          </a:bodyPr>
          <a:lstStyle/>
          <a:p>
            <a:pPr algn="l">
              <a:spcAft>
                <a:spcPts val="400"/>
              </a:spcAft>
            </a:pPr>
            <a:r>
              <a:rPr sz="1400" b="1">
                <a:solidFill>
                  <a:srgbClr val="2A0B2F"/>
                </a:solidFill>
                <a:latin typeface="Arial"/>
              </a:rPr>
              <a:t>Seen, not clicked</a:t>
            </a:r>
          </a:p>
          <a:p>
            <a:pPr algn="l">
              <a:spcAft>
                <a:spcPts val="900"/>
              </a:spcAft>
            </a:pPr>
            <a:r>
              <a:rPr sz="1300" b="0">
                <a:solidFill>
                  <a:srgbClr val="67516B"/>
                </a:solidFill>
                <a:latin typeface="Arial"/>
              </a:rPr>
              <a:t>Price looks high, or a weak photo.</a:t>
            </a:r>
          </a:p>
          <a:p>
            <a:pPr algn="l">
              <a:spcAft>
                <a:spcPts val="0"/>
              </a:spcAft>
            </a:pPr>
            <a:r>
              <a:rPr sz="1300" b="1">
                <a:solidFill>
                  <a:srgbClr val="C2185B"/>
                </a:solidFill>
                <a:latin typeface="Arial"/>
              </a:rPr>
              <a:t>Price Confidence </a:t>
            </a:r>
            <a:r>
              <a:rPr sz="1300" b="0">
                <a:solidFill>
                  <a:srgbClr val="5B2A86"/>
                </a:solidFill>
                <a:latin typeface="Arial"/>
              </a:rPr>
              <a:t>compares his click rate with similar listings and shows where he sits in the band.</a:t>
            </a:r>
          </a:p>
        </p:txBody>
      </p:sp>
      <p:sp>
        <p:nvSpPr>
          <p:cNvPr id="27" name="Chevron 26"/>
          <p:cNvSpPr/>
          <p:nvPr/>
        </p:nvSpPr>
        <p:spPr>
          <a:xfrm>
            <a:off x="2803550" y="5916168"/>
            <a:ext cx="2181758" cy="402336"/>
          </a:xfrm>
          <a:prstGeom prst="chevron">
            <a:avLst>
              <a:gd name="adj" fmla="val 28000"/>
            </a:avLst>
          </a:prstGeom>
          <a:solidFill>
            <a:srgbClr val="C9A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77870" y="5916168"/>
            <a:ext cx="1751990" cy="402336"/>
          </a:xfrm>
          <a:prstGeom prst="rect">
            <a:avLst/>
          </a:prstGeom>
          <a:noFill/>
        </p:spPr>
        <p:txBody>
          <a:bodyPr wrap="square" lIns="0" rIns="0" tIns="0" bIns="0" anchor="ctr">
            <a:spAutoFit/>
          </a:bodyPr>
          <a:lstStyle/>
          <a:p>
            <a:pPr algn="l">
              <a:spcAft>
                <a:spcPts val="0"/>
              </a:spcAft>
            </a:pPr>
            <a:r>
              <a:rPr sz="1250" b="1">
                <a:solidFill>
                  <a:srgbClr val="2A0B2F"/>
                </a:solidFill>
                <a:latin typeface="Arial"/>
              </a:rPr>
              <a:t>Clicked</a:t>
            </a:r>
          </a:p>
        </p:txBody>
      </p:sp>
      <p:sp>
        <p:nvSpPr>
          <p:cNvPr id="29" name="Rounded Rectangle 28"/>
          <p:cNvSpPr/>
          <p:nvPr/>
        </p:nvSpPr>
        <p:spPr>
          <a:xfrm>
            <a:off x="2840126" y="6400800"/>
            <a:ext cx="1980590" cy="2697480"/>
          </a:xfrm>
          <a:prstGeom prst="roundRect">
            <a:avLst>
              <a:gd name="adj" fmla="val 6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68142" y="6492240"/>
            <a:ext cx="1724558" cy="2542032"/>
          </a:xfrm>
          <a:prstGeom prst="rect">
            <a:avLst/>
          </a:prstGeom>
          <a:noFill/>
        </p:spPr>
        <p:txBody>
          <a:bodyPr wrap="square" lIns="0" rIns="0" tIns="0" bIns="0" anchor="t">
            <a:spAutoFit/>
          </a:bodyPr>
          <a:lstStyle/>
          <a:p>
            <a:pPr algn="l">
              <a:spcAft>
                <a:spcPts val="400"/>
              </a:spcAft>
            </a:pPr>
            <a:r>
              <a:rPr sz="1400" b="1">
                <a:solidFill>
                  <a:srgbClr val="2A0B2F"/>
                </a:solidFill>
                <a:latin typeface="Arial"/>
              </a:rPr>
              <a:t>Clicked, no cart</a:t>
            </a:r>
          </a:p>
          <a:p>
            <a:pPr algn="l">
              <a:spcAft>
                <a:spcPts val="900"/>
              </a:spcAft>
            </a:pPr>
            <a:r>
              <a:rPr sz="1300" b="0">
                <a:solidFill>
                  <a:srgbClr val="67516B"/>
                </a:solidFill>
                <a:latin typeface="Arial"/>
              </a:rPr>
              <a:t>The page doesn't justify the price.</a:t>
            </a:r>
          </a:p>
          <a:p>
            <a:pPr algn="l">
              <a:spcAft>
                <a:spcPts val="0"/>
              </a:spcAft>
            </a:pPr>
            <a:r>
              <a:rPr sz="1300" b="1">
                <a:solidFill>
                  <a:srgbClr val="C2185B"/>
                </a:solidFill>
                <a:latin typeface="Arial"/>
              </a:rPr>
              <a:t>Price Confidence </a:t>
            </a:r>
            <a:r>
              <a:rPr sz="1300" b="0">
                <a:solidFill>
                  <a:srgbClr val="5B2A86"/>
                </a:solidFill>
                <a:latin typeface="Arial"/>
              </a:rPr>
              <a:t>points to the listing checklist first and holds the price.</a:t>
            </a:r>
          </a:p>
        </p:txBody>
      </p:sp>
      <p:sp>
        <p:nvSpPr>
          <p:cNvPr id="31" name="Chevron 30"/>
          <p:cNvSpPr/>
          <p:nvPr/>
        </p:nvSpPr>
        <p:spPr>
          <a:xfrm>
            <a:off x="4875580" y="5916168"/>
            <a:ext cx="2181758" cy="402336"/>
          </a:xfrm>
          <a:prstGeom prst="chevron">
            <a:avLst>
              <a:gd name="adj" fmla="val 28000"/>
            </a:avLst>
          </a:prstGeom>
          <a:solidFill>
            <a:srgbClr val="9C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49900" y="5916168"/>
            <a:ext cx="1751990" cy="402336"/>
          </a:xfrm>
          <a:prstGeom prst="rect">
            <a:avLst/>
          </a:prstGeom>
          <a:noFill/>
        </p:spPr>
        <p:txBody>
          <a:bodyPr wrap="square" lIns="0" rIns="0" tIns="0" bIns="0" anchor="ctr">
            <a:spAutoFit/>
          </a:bodyPr>
          <a:lstStyle/>
          <a:p>
            <a:pPr algn="l">
              <a:spcAft>
                <a:spcPts val="0"/>
              </a:spcAft>
            </a:pPr>
            <a:r>
              <a:rPr sz="1250" b="1">
                <a:solidFill>
                  <a:srgbClr val="FFFFFF"/>
                </a:solidFill>
                <a:latin typeface="Arial"/>
              </a:rPr>
              <a:t>In cart</a:t>
            </a:r>
          </a:p>
        </p:txBody>
      </p:sp>
      <p:sp>
        <p:nvSpPr>
          <p:cNvPr id="33" name="Rounded Rectangle 32"/>
          <p:cNvSpPr/>
          <p:nvPr/>
        </p:nvSpPr>
        <p:spPr>
          <a:xfrm>
            <a:off x="4912156" y="6400800"/>
            <a:ext cx="1980590" cy="2697480"/>
          </a:xfrm>
          <a:prstGeom prst="roundRect">
            <a:avLst>
              <a:gd name="adj" fmla="val 6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40172" y="6492240"/>
            <a:ext cx="1724558" cy="2542032"/>
          </a:xfrm>
          <a:prstGeom prst="rect">
            <a:avLst/>
          </a:prstGeom>
          <a:noFill/>
        </p:spPr>
        <p:txBody>
          <a:bodyPr wrap="square" lIns="0" rIns="0" tIns="0" bIns="0" anchor="t">
            <a:spAutoFit/>
          </a:bodyPr>
          <a:lstStyle/>
          <a:p>
            <a:pPr algn="l">
              <a:spcAft>
                <a:spcPts val="400"/>
              </a:spcAft>
            </a:pPr>
            <a:r>
              <a:rPr sz="1400" b="1">
                <a:solidFill>
                  <a:srgbClr val="2A0B2F"/>
                </a:solidFill>
                <a:latin typeface="Arial"/>
              </a:rPr>
              <a:t>In cart, no order</a:t>
            </a:r>
          </a:p>
          <a:p>
            <a:pPr algn="l">
              <a:spcAft>
                <a:spcPts val="900"/>
              </a:spcAft>
            </a:pPr>
            <a:r>
              <a:rPr sz="1300" b="0">
                <a:solidFill>
                  <a:srgbClr val="67516B"/>
                </a:solidFill>
                <a:latin typeface="Arial"/>
              </a:rPr>
              <a:t>The buyer hesitates on price.</a:t>
            </a:r>
          </a:p>
          <a:p>
            <a:pPr algn="l">
              <a:spcAft>
                <a:spcPts val="0"/>
              </a:spcAft>
            </a:pPr>
            <a:r>
              <a:rPr sz="1300" b="1">
                <a:solidFill>
                  <a:srgbClr val="C2185B"/>
                </a:solidFill>
                <a:latin typeface="Arial"/>
              </a:rPr>
              <a:t>Price Confidence </a:t>
            </a:r>
            <a:r>
              <a:rPr sz="1300" b="0">
                <a:solidFill>
                  <a:srgbClr val="5B2A86"/>
                </a:solidFill>
                <a:latin typeface="Arial"/>
              </a:rPr>
              <a:t>suggests a small cut or coupon, only if it stays above his floor.</a:t>
            </a:r>
          </a:p>
        </p:txBody>
      </p:sp>
      <p:sp>
        <p:nvSpPr>
          <p:cNvPr id="35" name="Chevron 34"/>
          <p:cNvSpPr/>
          <p:nvPr/>
        </p:nvSpPr>
        <p:spPr>
          <a:xfrm>
            <a:off x="6947611" y="5916168"/>
            <a:ext cx="2181758" cy="402336"/>
          </a:xfrm>
          <a:prstGeom prst="chevron">
            <a:avLst>
              <a:gd name="adj" fmla="val 28000"/>
            </a:avLst>
          </a:prstGeom>
          <a:solidFill>
            <a:srgbClr val="6E3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21931" y="5916168"/>
            <a:ext cx="1751990" cy="402336"/>
          </a:xfrm>
          <a:prstGeom prst="rect">
            <a:avLst/>
          </a:prstGeom>
          <a:noFill/>
        </p:spPr>
        <p:txBody>
          <a:bodyPr wrap="square" lIns="0" rIns="0" tIns="0" bIns="0" anchor="ctr">
            <a:spAutoFit/>
          </a:bodyPr>
          <a:lstStyle/>
          <a:p>
            <a:pPr algn="l">
              <a:spcAft>
                <a:spcPts val="0"/>
              </a:spcAft>
            </a:pPr>
            <a:r>
              <a:rPr sz="1250" b="1">
                <a:solidFill>
                  <a:srgbClr val="FFFFFF"/>
                </a:solidFill>
                <a:latin typeface="Arial"/>
              </a:rPr>
              <a:t>Ordered</a:t>
            </a:r>
          </a:p>
        </p:txBody>
      </p:sp>
      <p:sp>
        <p:nvSpPr>
          <p:cNvPr id="37" name="Rounded Rectangle 36"/>
          <p:cNvSpPr/>
          <p:nvPr/>
        </p:nvSpPr>
        <p:spPr>
          <a:xfrm>
            <a:off x="6984187" y="6400800"/>
            <a:ext cx="1980590" cy="2697480"/>
          </a:xfrm>
          <a:prstGeom prst="roundRect">
            <a:avLst>
              <a:gd name="adj" fmla="val 6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12203" y="6492240"/>
            <a:ext cx="1724558" cy="2542032"/>
          </a:xfrm>
          <a:prstGeom prst="rect">
            <a:avLst/>
          </a:prstGeom>
          <a:noFill/>
        </p:spPr>
        <p:txBody>
          <a:bodyPr wrap="square" lIns="0" rIns="0" tIns="0" bIns="0" anchor="t">
            <a:spAutoFit/>
          </a:bodyPr>
          <a:lstStyle/>
          <a:p>
            <a:pPr algn="l">
              <a:spcAft>
                <a:spcPts val="400"/>
              </a:spcAft>
            </a:pPr>
            <a:r>
              <a:rPr sz="1400" b="1">
                <a:solidFill>
                  <a:srgbClr val="2A0B2F"/>
                </a:solidFill>
                <a:latin typeface="Arial"/>
              </a:rPr>
              <a:t>Ordered, not kept</a:t>
            </a:r>
          </a:p>
          <a:p>
            <a:pPr algn="l">
              <a:spcAft>
                <a:spcPts val="900"/>
              </a:spcAft>
            </a:pPr>
            <a:r>
              <a:rPr sz="1300" b="0">
                <a:solidFill>
                  <a:srgbClr val="67516B"/>
                </a:solidFill>
                <a:latin typeface="Arial"/>
              </a:rPr>
              <a:t>Returns for quality, or RTO on cash on delivery.</a:t>
            </a:r>
          </a:p>
          <a:p>
            <a:pPr algn="l">
              <a:spcAft>
                <a:spcPts val="0"/>
              </a:spcAft>
            </a:pPr>
            <a:r>
              <a:rPr sz="1300" b="1">
                <a:solidFill>
                  <a:srgbClr val="C2185B"/>
                </a:solidFill>
                <a:latin typeface="Arial"/>
              </a:rPr>
              <a:t>Price Confidence </a:t>
            </a:r>
            <a:r>
              <a:rPr sz="1300" b="0">
                <a:solidFill>
                  <a:srgbClr val="5B2A86"/>
                </a:solidFill>
                <a:latin typeface="Arial"/>
              </a:rPr>
              <a:t>won't cut price for a quality problem; builds the COD mix into the floor.</a:t>
            </a:r>
          </a:p>
        </p:txBody>
      </p:sp>
      <p:sp>
        <p:nvSpPr>
          <p:cNvPr id="39" name="Chevron 38"/>
          <p:cNvSpPr/>
          <p:nvPr/>
        </p:nvSpPr>
        <p:spPr>
          <a:xfrm>
            <a:off x="9019641" y="5916168"/>
            <a:ext cx="2181758" cy="402336"/>
          </a:xfrm>
          <a:prstGeom prst="chevron">
            <a:avLst>
              <a:gd name="adj" fmla="val 28000"/>
            </a:avLst>
          </a:prstGeom>
          <a:solidFill>
            <a:srgbClr val="4B1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93961" y="5916168"/>
            <a:ext cx="1751990" cy="402336"/>
          </a:xfrm>
          <a:prstGeom prst="rect">
            <a:avLst/>
          </a:prstGeom>
          <a:noFill/>
        </p:spPr>
        <p:txBody>
          <a:bodyPr wrap="square" lIns="0" rIns="0" tIns="0" bIns="0" anchor="ctr">
            <a:spAutoFit/>
          </a:bodyPr>
          <a:lstStyle/>
          <a:p>
            <a:pPr algn="l">
              <a:spcAft>
                <a:spcPts val="0"/>
              </a:spcAft>
            </a:pPr>
            <a:r>
              <a:rPr sz="1250" b="1">
                <a:solidFill>
                  <a:srgbClr val="FFFFFF"/>
                </a:solidFill>
                <a:latin typeface="Arial"/>
              </a:rPr>
              <a:t>Kept, reviewed</a:t>
            </a:r>
          </a:p>
        </p:txBody>
      </p:sp>
      <p:sp>
        <p:nvSpPr>
          <p:cNvPr id="41" name="Rounded Rectangle 40"/>
          <p:cNvSpPr/>
          <p:nvPr/>
        </p:nvSpPr>
        <p:spPr>
          <a:xfrm>
            <a:off x="9056217" y="6400800"/>
            <a:ext cx="1980590" cy="2697480"/>
          </a:xfrm>
          <a:prstGeom prst="roundRect">
            <a:avLst>
              <a:gd name="adj" fmla="val 6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84233" y="6492240"/>
            <a:ext cx="1724558" cy="2542032"/>
          </a:xfrm>
          <a:prstGeom prst="rect">
            <a:avLst/>
          </a:prstGeom>
          <a:noFill/>
        </p:spPr>
        <p:txBody>
          <a:bodyPr wrap="square" lIns="0" rIns="0" tIns="0" bIns="0" anchor="t">
            <a:spAutoFit/>
          </a:bodyPr>
          <a:lstStyle/>
          <a:p>
            <a:pPr algn="l">
              <a:spcAft>
                <a:spcPts val="400"/>
              </a:spcAft>
            </a:pPr>
            <a:r>
              <a:rPr sz="1400" b="1">
                <a:solidFill>
                  <a:srgbClr val="2A0B2F"/>
                </a:solidFill>
                <a:latin typeface="Arial"/>
              </a:rPr>
              <a:t>Negative reviews</a:t>
            </a:r>
          </a:p>
          <a:p>
            <a:pPr algn="l">
              <a:spcAft>
                <a:spcPts val="900"/>
              </a:spcAft>
            </a:pPr>
            <a:r>
              <a:rPr sz="1300" b="0">
                <a:solidFill>
                  <a:srgbClr val="67516B"/>
                </a:solidFill>
                <a:latin typeface="Arial"/>
              </a:rPr>
              <a:t>About the price, or the product?</a:t>
            </a:r>
          </a:p>
          <a:p>
            <a:pPr algn="l">
              <a:spcAft>
                <a:spcPts val="0"/>
              </a:spcAft>
            </a:pPr>
            <a:r>
              <a:rPr sz="1300" b="1">
                <a:solidFill>
                  <a:srgbClr val="C2185B"/>
                </a:solidFill>
                <a:latin typeface="Arial"/>
              </a:rPr>
              <a:t>Price Confidence </a:t>
            </a:r>
            <a:r>
              <a:rPr sz="1300" b="0">
                <a:solidFill>
                  <a:srgbClr val="5B2A86"/>
                </a:solidFill>
                <a:latin typeface="Arial"/>
              </a:rPr>
              <a:t>splits review text: price complaints rise from 27% to 44% of negatives above the typical price.</a:t>
            </a:r>
          </a:p>
        </p:txBody>
      </p:sp>
      <p:sp>
        <p:nvSpPr>
          <p:cNvPr id="43" name="Rounded Rectangle 42"/>
          <p:cNvSpPr/>
          <p:nvPr/>
        </p:nvSpPr>
        <p:spPr>
          <a:xfrm>
            <a:off x="11475720" y="5577840"/>
            <a:ext cx="6080760" cy="3520440"/>
          </a:xfrm>
          <a:prstGeom prst="roundRect">
            <a:avLst>
              <a:gd name="adj" fmla="val 4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04320" y="5650992"/>
            <a:ext cx="5623560" cy="329184"/>
          </a:xfrm>
          <a:prstGeom prst="rect">
            <a:avLst/>
          </a:prstGeom>
          <a:noFill/>
        </p:spPr>
        <p:txBody>
          <a:bodyPr wrap="square" lIns="0" rIns="0" tIns="0" bIns="0" anchor="ctr">
            <a:spAutoFit/>
          </a:bodyPr>
          <a:lstStyle/>
          <a:p>
            <a:pPr>
              <a:spcAft>
                <a:spcPts val="0"/>
              </a:spcAft>
            </a:pPr>
            <a:r>
              <a:rPr sz="1400" b="1">
                <a:solidFill>
                  <a:srgbClr val="4B1248"/>
                </a:solidFill>
                <a:latin typeface="Arial"/>
              </a:rPr>
              <a:t>Which price pays? It depends on the product</a:t>
            </a:r>
          </a:p>
        </p:txBody>
      </p:sp>
      <p:sp>
        <p:nvSpPr>
          <p:cNvPr id="45" name="TextBox 44"/>
          <p:cNvSpPr txBox="1"/>
          <p:nvPr/>
        </p:nvSpPr>
        <p:spPr>
          <a:xfrm>
            <a:off x="11704320" y="5989320"/>
            <a:ext cx="5623560" cy="256032"/>
          </a:xfrm>
          <a:prstGeom prst="rect">
            <a:avLst/>
          </a:prstGeom>
          <a:noFill/>
        </p:spPr>
        <p:txBody>
          <a:bodyPr wrap="square" lIns="0" rIns="0" tIns="0" bIns="0" anchor="ctr">
            <a:spAutoFit/>
          </a:bodyPr>
          <a:lstStyle/>
          <a:p>
            <a:pPr>
              <a:spcAft>
                <a:spcPts val="0"/>
              </a:spcAft>
            </a:pPr>
            <a:r>
              <a:rPr sz="1050" b="0">
                <a:solidFill>
                  <a:srgbClr val="67516B"/>
                </a:solidFill>
                <a:latin typeface="Arial"/>
              </a:rPr>
              <a:t>26-week profit at each launch price, with Seller 6's costs (₹, demo simulator)</a:t>
            </a:r>
          </a:p>
        </p:txBody>
      </p:sp>
      <p:graphicFrame>
        <p:nvGraphicFramePr>
          <p:cNvPr id="46" name="Chart 45"/>
          <p:cNvGraphicFramePr>
            <a:graphicFrameLocks noGrp="1"/>
          </p:cNvGraphicFramePr>
          <p:nvPr/>
        </p:nvGraphicFramePr>
        <p:xfrm>
          <a:off x="11567160" y="6236208"/>
          <a:ext cx="5897880" cy="1783080"/>
        </p:xfrm>
        <a:graphic>
          <a:graphicData uri="http://schemas.openxmlformats.org/drawingml/2006/chart">
            <c:chart xmlns:c="http://schemas.openxmlformats.org/drawingml/2006/chart" r:id="rId6"/>
          </a:graphicData>
        </a:graphic>
      </p:graphicFrame>
      <p:sp>
        <p:nvSpPr>
          <p:cNvPr id="47" name="TextBox 46"/>
          <p:cNvSpPr txBox="1"/>
          <p:nvPr/>
        </p:nvSpPr>
        <p:spPr>
          <a:xfrm>
            <a:off x="11704320" y="8046720"/>
            <a:ext cx="5623560" cy="1024128"/>
          </a:xfrm>
          <a:prstGeom prst="rect">
            <a:avLst/>
          </a:prstGeom>
          <a:noFill/>
        </p:spPr>
        <p:txBody>
          <a:bodyPr wrap="square" lIns="0" rIns="0" tIns="0" bIns="0" anchor="t">
            <a:spAutoFit/>
          </a:bodyPr>
          <a:lstStyle/>
          <a:p>
            <a:pPr>
              <a:spcAft>
                <a:spcPts val="400"/>
              </a:spcAft>
            </a:pPr>
            <a:r>
              <a:rPr sz="1100" b="1">
                <a:solidFill>
                  <a:srgbClr val="2A0B2F"/>
                </a:solidFill>
                <a:latin typeface="Arial"/>
              </a:rPr>
              <a:t>Good product: best near the typical price, ₹179–189. </a:t>
            </a:r>
            <a:r>
              <a:rPr sz="1100" b="0">
                <a:solidFill>
                  <a:srgbClr val="2A0B2F"/>
                </a:solidFill>
                <a:latin typeface="Arial"/>
              </a:rPr>
              <a:t>Each sale brings good reviews and more buyers. </a:t>
            </a:r>
            <a:r>
              <a:rPr sz="1100" b="1">
                <a:solidFill>
                  <a:srgbClr val="2A0B2F"/>
                </a:solidFill>
                <a:latin typeface="Arial"/>
              </a:rPr>
              <a:t>Weak product: a cut adds orders, not profit. </a:t>
            </a:r>
            <a:r>
              <a:rPr sz="1100" b="0">
                <a:solidFill>
                  <a:srgbClr val="2A0B2F"/>
                </a:solidFill>
                <a:latin typeface="Arial"/>
              </a:rPr>
              <a:t>Fix the product.</a:t>
            </a:r>
          </a:p>
          <a:p>
            <a:pPr>
              <a:spcAft>
                <a:spcPts val="0"/>
              </a:spcAft>
            </a:pPr>
            <a:r>
              <a:rPr sz="1100" b="1">
                <a:solidFill>
                  <a:srgbClr val="C2185B"/>
                </a:solidFill>
                <a:latin typeface="Arial"/>
              </a:rPr>
              <a:t>Reviews: discount, but stay above the floor. </a:t>
            </a:r>
            <a:r>
              <a:rPr sz="1100" b="0">
                <a:solidFill>
                  <a:srgbClr val="2A0B2F"/>
                </a:solidFill>
                <a:latin typeface="Arial"/>
              </a:rPr>
              <a:t>₹159 costs about ₹147 a review; ₹129 about ₹235 and never pays back. Our model is more cautious (starts at ₹209); a pilot price test settles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Others use AI to match products; </a:t>
            </a:r>
            <a:r>
              <a:rPr lang="en-US" sz="3600" b="1" dirty="0">
                <a:solidFill>
                  <a:srgbClr val="C2185B"/>
                </a:solidFill>
                <a:latin typeface="Arial" pitchFamily="34" charset="0"/>
                <a:ea typeface="Arial" pitchFamily="34" charset="-122"/>
                <a:cs typeface="Arial" pitchFamily="34" charset="-120"/>
              </a:rPr>
              <a:t>none we found models full seller cost</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What seven live tools and our design run in the backend, and whether they do the four jobs a new seller needs, from the public sources numbered below</a:t>
            </a:r>
            <a:endParaRPr lang="en-US" sz="1700" dirty="0"/>
          </a:p>
        </p:txBody>
      </p:sp>
      <p:sp>
        <p:nvSpPr>
          <p:cNvPr id="4" name="Text 2"/>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6</a:t>
            </a:r>
            <a:endParaRPr lang="en-US" sz="1200" dirty="0"/>
          </a:p>
        </p:txBody>
      </p:sp>
      <p:sp>
        <p:nvSpPr>
          <p:cNvPr id="5" name="Text 3"/>
          <p:cNvSpPr txBox="1"/>
          <p:nvPr/>
        </p:nvSpPr>
        <p:spPr>
          <a:xfrm>
            <a:off x="2697480" y="3886200"/>
            <a:ext cx="5376672" cy="347472"/>
          </a:xfrm>
          <a:prstGeom prst="rect">
            <a:avLst/>
          </a:prstGeom>
          <a:noFill/>
          <a:ln/>
        </p:spPr>
        <p:txBody>
          <a:bodyPr wrap="square" lIns="0" tIns="0" rIns="0" bIns="0" rtlCol="0" anchor="ctr"/>
          <a:lstStyle/>
          <a:p>
            <a:pPr marL="0" indent="0" algn="ctr">
              <a:buNone/>
            </a:pPr>
            <a:r>
              <a:rPr lang="en-US" sz="1300" b="1" dirty="0">
                <a:solidFill>
                  <a:srgbClr val="C2185B"/>
                </a:solidFill>
                <a:latin typeface="Arial" pitchFamily="34" charset="0"/>
                <a:ea typeface="Arial" pitchFamily="34" charset="-122"/>
                <a:cs typeface="Arial" pitchFamily="34" charset="-120"/>
              </a:rPr>
              <a:t>What runs in the backend</a:t>
            </a:r>
            <a:endParaRPr lang="en-US" sz="1300" dirty="0"/>
          </a:p>
        </p:txBody>
      </p:sp>
      <p:sp>
        <p:nvSpPr>
          <p:cNvPr id="6" name="Text 4"/>
          <p:cNvSpPr txBox="1"/>
          <p:nvPr/>
        </p:nvSpPr>
        <p:spPr>
          <a:xfrm>
            <a:off x="8183880" y="3886200"/>
            <a:ext cx="5925312" cy="347472"/>
          </a:xfrm>
          <a:prstGeom prst="rect">
            <a:avLst/>
          </a:prstGeom>
          <a:noFill/>
          <a:ln/>
        </p:spPr>
        <p:txBody>
          <a:bodyPr wrap="square" lIns="0" tIns="0" rIns="0" bIns="0" rtlCol="0" anchor="ctr"/>
          <a:lstStyle/>
          <a:p>
            <a:pPr marL="0" indent="0" algn="ctr">
              <a:buNone/>
            </a:pPr>
            <a:r>
              <a:rPr lang="en-US" sz="1300" b="1" dirty="0">
                <a:solidFill>
                  <a:srgbClr val="C2185B"/>
                </a:solidFill>
                <a:latin typeface="Arial" pitchFamily="34" charset="0"/>
                <a:ea typeface="Arial" pitchFamily="34" charset="-122"/>
                <a:cs typeface="Arial" pitchFamily="34" charset="-120"/>
              </a:rPr>
              <a:t>Does it do the four jobs a new seller needs?</a:t>
            </a:r>
            <a:endParaRPr lang="en-US" sz="1300" dirty="0"/>
          </a:p>
        </p:txBody>
      </p:sp>
      <p:sp>
        <p:nvSpPr>
          <p:cNvPr id="7" name="Shape 5"/>
          <p:cNvSpPr/>
          <p:nvPr/>
        </p:nvSpPr>
        <p:spPr>
          <a:xfrm>
            <a:off x="731520" y="4261104"/>
            <a:ext cx="13377672" cy="658368"/>
          </a:xfrm>
          <a:prstGeom prst="rect">
            <a:avLst/>
          </a:prstGeom>
          <a:solidFill>
            <a:srgbClr val="F3E8F4"/>
          </a:solidFill>
          <a:ln w="12700">
            <a:solidFill>
              <a:srgbClr val="F3E8F4"/>
            </a:solidFill>
            <a:prstDash val="solid"/>
          </a:ln>
        </p:spPr>
        <p:txBody>
          <a:bodyPr/>
          <a:p/>
        </p:txBody>
      </p:sp>
      <p:sp>
        <p:nvSpPr>
          <p:cNvPr id="8" name="Shape 6"/>
          <p:cNvSpPr/>
          <p:nvPr/>
        </p:nvSpPr>
        <p:spPr>
          <a:xfrm>
            <a:off x="7178040" y="4261104"/>
            <a:ext cx="896112" cy="3858768"/>
          </a:xfrm>
          <a:prstGeom prst="rect">
            <a:avLst/>
          </a:prstGeom>
          <a:solidFill>
            <a:srgbClr val="FCE4EF"/>
          </a:solidFill>
          <a:ln w="12700">
            <a:solidFill>
              <a:srgbClr val="FCE4EF"/>
            </a:solidFill>
            <a:prstDash val="solid"/>
          </a:ln>
        </p:spPr>
        <p:txBody>
          <a:bodyPr/>
          <a:p/>
        </p:txBody>
      </p:sp>
      <p:sp>
        <p:nvSpPr>
          <p:cNvPr id="9" name="Text 7"/>
          <p:cNvSpPr txBox="1"/>
          <p:nvPr/>
        </p:nvSpPr>
        <p:spPr>
          <a:xfrm>
            <a:off x="868680" y="4261104"/>
            <a:ext cx="1783080" cy="658368"/>
          </a:xfrm>
          <a:prstGeom prst="rect">
            <a:avLst/>
          </a:prstGeom>
          <a:noFill/>
          <a:ln/>
        </p:spPr>
        <p:txBody>
          <a:bodyPr wrap="square" lIns="0" tIns="0" rIns="0" bIns="0" rtlCol="0" anchor="ctr"/>
          <a:lstStyle/>
          <a:p>
            <a:pPr marL="0" indent="0">
              <a:buNone/>
            </a:pPr>
            <a:r>
              <a:rPr lang="en-US" sz="1300" b="1" dirty="0">
                <a:solidFill>
                  <a:srgbClr val="4B1248"/>
                </a:solidFill>
                <a:latin typeface="Arial" pitchFamily="34" charset="0"/>
                <a:ea typeface="Arial" pitchFamily="34" charset="-122"/>
                <a:cs typeface="Arial" pitchFamily="34" charset="-120"/>
              </a:rPr>
              <a:t>Tool</a:t>
            </a:r>
            <a:endParaRPr lang="en-US" sz="1300" dirty="0"/>
          </a:p>
        </p:txBody>
      </p:sp>
      <p:sp>
        <p:nvSpPr>
          <p:cNvPr id="10" name="Text 8"/>
          <p:cNvSpPr txBox="1"/>
          <p:nvPr/>
        </p:nvSpPr>
        <p:spPr>
          <a:xfrm>
            <a:off x="2734056" y="4261104"/>
            <a:ext cx="822960" cy="658368"/>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Rules engine</a:t>
            </a:r>
            <a:endParaRPr lang="en-US" sz="1200" dirty="0"/>
          </a:p>
        </p:txBody>
      </p:sp>
      <p:sp>
        <p:nvSpPr>
          <p:cNvPr id="11" name="Text 9"/>
          <p:cNvSpPr txBox="1"/>
          <p:nvPr/>
        </p:nvSpPr>
        <p:spPr>
          <a:xfrm>
            <a:off x="3630168" y="4261104"/>
            <a:ext cx="822960" cy="658368"/>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Image AI</a:t>
            </a:r>
            <a:endParaRPr lang="en-US" sz="1200" dirty="0"/>
          </a:p>
        </p:txBody>
      </p:sp>
      <p:sp>
        <p:nvSpPr>
          <p:cNvPr id="12" name="Text 10"/>
          <p:cNvSpPr txBox="1"/>
          <p:nvPr/>
        </p:nvSpPr>
        <p:spPr>
          <a:xfrm>
            <a:off x="4526280" y="4261104"/>
            <a:ext cx="822960" cy="658368"/>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Text AI</a:t>
            </a:r>
            <a:endParaRPr lang="en-US" sz="1200" dirty="0"/>
          </a:p>
        </p:txBody>
      </p:sp>
      <p:sp>
        <p:nvSpPr>
          <p:cNvPr id="13" name="Text 11"/>
          <p:cNvSpPr txBox="1"/>
          <p:nvPr/>
        </p:nvSpPr>
        <p:spPr>
          <a:xfrm>
            <a:off x="5422392" y="4261104"/>
            <a:ext cx="822960" cy="658368"/>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Forecast model</a:t>
            </a:r>
            <a:endParaRPr lang="en-US" sz="1200" dirty="0"/>
          </a:p>
        </p:txBody>
      </p:sp>
      <p:sp>
        <p:nvSpPr>
          <p:cNvPr id="14" name="Text 12"/>
          <p:cNvSpPr txBox="1"/>
          <p:nvPr/>
        </p:nvSpPr>
        <p:spPr>
          <a:xfrm>
            <a:off x="6318504" y="4261104"/>
            <a:ext cx="822960" cy="658368"/>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Price optimiser</a:t>
            </a:r>
            <a:endParaRPr lang="en-US" sz="1200" dirty="0"/>
          </a:p>
        </p:txBody>
      </p:sp>
      <p:sp>
        <p:nvSpPr>
          <p:cNvPr id="15" name="Text 13"/>
          <p:cNvSpPr txBox="1"/>
          <p:nvPr/>
        </p:nvSpPr>
        <p:spPr>
          <a:xfrm>
            <a:off x="7214616" y="4261104"/>
            <a:ext cx="822960" cy="658368"/>
          </a:xfrm>
          <a:prstGeom prst="rect">
            <a:avLst/>
          </a:prstGeom>
          <a:noFill/>
          <a:ln/>
        </p:spPr>
        <p:txBody>
          <a:bodyPr wrap="square" lIns="0" tIns="0" rIns="0" bIns="0" rtlCol="0" anchor="ctr"/>
          <a:lstStyle/>
          <a:p>
            <a:pPr marL="0" indent="0" algn="ctr">
              <a:buNone/>
            </a:pPr>
            <a:r>
              <a:rPr lang="en-US" sz="1200" b="1" dirty="0">
                <a:solidFill>
                  <a:srgbClr val="C2185B"/>
                </a:solidFill>
                <a:latin typeface="Arial" pitchFamily="34" charset="0"/>
                <a:ea typeface="Arial" pitchFamily="34" charset="-122"/>
                <a:cs typeface="Arial" pitchFamily="34" charset="-120"/>
              </a:rPr>
              <a:t>Cost model</a:t>
            </a:r>
            <a:endParaRPr lang="en-US" sz="1200" dirty="0"/>
          </a:p>
        </p:txBody>
      </p:sp>
      <p:sp>
        <p:nvSpPr>
          <p:cNvPr id="16" name="Text 14"/>
          <p:cNvSpPr txBox="1"/>
          <p:nvPr/>
        </p:nvSpPr>
        <p:spPr>
          <a:xfrm>
            <a:off x="8257032" y="4261104"/>
            <a:ext cx="1335024" cy="658368"/>
          </a:xfrm>
          <a:prstGeom prst="rect">
            <a:avLst/>
          </a:prstGeom>
          <a:noFill/>
          <a:ln/>
        </p:spPr>
        <p:txBody>
          <a:bodyPr wrap="square" lIns="0" tIns="0" rIns="0" bIns="0" rtlCol="0" anchor="ctr"/>
          <a:lstStyle/>
          <a:p>
            <a:pPr marL="0" indent="0">
              <a:buNone/>
            </a:pPr>
            <a:r>
              <a:rPr lang="en-US" sz="1200" b="1" dirty="0">
                <a:solidFill>
                  <a:srgbClr val="4B1248"/>
                </a:solidFill>
                <a:latin typeface="Arial" pitchFamily="34" charset="0"/>
                <a:ea typeface="Arial" pitchFamily="34" charset="-122"/>
                <a:cs typeface="Arial" pitchFamily="34" charset="-120"/>
              </a:rPr>
              <a:t>Price for a new product?</a:t>
            </a:r>
            <a:endParaRPr lang="en-US" sz="1200" dirty="0"/>
          </a:p>
        </p:txBody>
      </p:sp>
      <p:sp>
        <p:nvSpPr>
          <p:cNvPr id="17" name="Text 15"/>
          <p:cNvSpPr txBox="1"/>
          <p:nvPr/>
        </p:nvSpPr>
        <p:spPr>
          <a:xfrm>
            <a:off x="9738360" y="4261104"/>
            <a:ext cx="1335024" cy="658368"/>
          </a:xfrm>
          <a:prstGeom prst="rect">
            <a:avLst/>
          </a:prstGeom>
          <a:noFill/>
          <a:ln/>
        </p:spPr>
        <p:txBody>
          <a:bodyPr wrap="square" lIns="0" tIns="0" rIns="0" bIns="0" rtlCol="0" anchor="ctr"/>
          <a:lstStyle/>
          <a:p>
            <a:pPr marL="0" indent="0">
              <a:buNone/>
            </a:pPr>
            <a:r>
              <a:rPr lang="en-US" sz="1200" b="1" dirty="0">
                <a:solidFill>
                  <a:srgbClr val="4B1248"/>
                </a:solidFill>
                <a:latin typeface="Arial" pitchFamily="34" charset="0"/>
                <a:ea typeface="Arial" pitchFamily="34" charset="-122"/>
                <a:cs typeface="Arial" pitchFamily="34" charset="-120"/>
              </a:rPr>
              <a:t>Counts returns, RTO and GST?</a:t>
            </a:r>
            <a:endParaRPr lang="en-US" sz="1200" dirty="0"/>
          </a:p>
        </p:txBody>
      </p:sp>
      <p:sp>
        <p:nvSpPr>
          <p:cNvPr id="18" name="Text 16"/>
          <p:cNvSpPr txBox="1"/>
          <p:nvPr/>
        </p:nvSpPr>
        <p:spPr>
          <a:xfrm>
            <a:off x="11219688" y="4261104"/>
            <a:ext cx="1335024" cy="658368"/>
          </a:xfrm>
          <a:prstGeom prst="rect">
            <a:avLst/>
          </a:prstGeom>
          <a:noFill/>
          <a:ln/>
        </p:spPr>
        <p:txBody>
          <a:bodyPr wrap="square" lIns="0" tIns="0" rIns="0" bIns="0" rtlCol="0" anchor="ctr"/>
          <a:lstStyle/>
          <a:p>
            <a:pPr marL="0" indent="0">
              <a:buNone/>
            </a:pPr>
            <a:r>
              <a:rPr lang="en-US" sz="1200" b="1" dirty="0">
                <a:solidFill>
                  <a:srgbClr val="4B1248"/>
                </a:solidFill>
                <a:latin typeface="Arial" pitchFamily="34" charset="0"/>
                <a:ea typeface="Arial" pitchFamily="34" charset="-122"/>
                <a:cs typeface="Arial" pitchFamily="34" charset="-120"/>
              </a:rPr>
              <a:t>Updates the price later?</a:t>
            </a:r>
            <a:endParaRPr lang="en-US" sz="1200" dirty="0"/>
          </a:p>
        </p:txBody>
      </p:sp>
      <p:sp>
        <p:nvSpPr>
          <p:cNvPr id="19" name="Text 17"/>
          <p:cNvSpPr txBox="1"/>
          <p:nvPr/>
        </p:nvSpPr>
        <p:spPr>
          <a:xfrm>
            <a:off x="12701016" y="4261104"/>
            <a:ext cx="1335024" cy="658368"/>
          </a:xfrm>
          <a:prstGeom prst="rect">
            <a:avLst/>
          </a:prstGeom>
          <a:noFill/>
          <a:ln/>
        </p:spPr>
        <p:txBody>
          <a:bodyPr wrap="square" lIns="0" tIns="0" rIns="0" bIns="0" rtlCol="0" anchor="ctr"/>
          <a:lstStyle/>
          <a:p>
            <a:pPr marL="0" indent="0">
              <a:buNone/>
            </a:pPr>
            <a:r>
              <a:rPr lang="en-US" sz="1200" b="1" dirty="0">
                <a:solidFill>
                  <a:srgbClr val="4B1248"/>
                </a:solidFill>
                <a:latin typeface="Arial" pitchFamily="34" charset="0"/>
                <a:ea typeface="Arial" pitchFamily="34" charset="-122"/>
                <a:cs typeface="Arial" pitchFamily="34" charset="-120"/>
              </a:rPr>
              <a:t>Aims for the seller's profit?</a:t>
            </a:r>
            <a:endParaRPr lang="en-US" sz="1200" dirty="0"/>
          </a:p>
        </p:txBody>
      </p:sp>
      <p:sp>
        <p:nvSpPr>
          <p:cNvPr id="20" name="Shape 18"/>
          <p:cNvSpPr/>
          <p:nvPr/>
        </p:nvSpPr>
        <p:spPr>
          <a:xfrm>
            <a:off x="731520" y="5376672"/>
            <a:ext cx="13377672" cy="0"/>
          </a:xfrm>
          <a:prstGeom prst="line">
            <a:avLst/>
          </a:prstGeom>
          <a:noFill/>
          <a:ln w="9525">
            <a:solidFill>
              <a:srgbClr val="E3D5E6"/>
            </a:solidFill>
            <a:prstDash val="solid"/>
          </a:ln>
        </p:spPr>
        <p:txBody>
          <a:bodyPr/>
          <a:p/>
        </p:txBody>
      </p:sp>
      <p:sp>
        <p:nvSpPr>
          <p:cNvPr id="21" name="Text 19"/>
          <p:cNvSpPr txBox="1"/>
          <p:nvPr/>
        </p:nvSpPr>
        <p:spPr>
          <a:xfrm>
            <a:off x="868680" y="4919472"/>
            <a:ext cx="1828800" cy="457200"/>
          </a:xfrm>
          <a:prstGeom prst="rect">
            <a:avLst/>
          </a:prstGeom>
          <a:noFill/>
          <a:ln/>
        </p:spPr>
        <p:txBody>
          <a:bodyPr wrap="square" lIns="0" tIns="0" rIns="0" bIns="0" rtlCol="0" anchor="ctr"/>
          <a:lstStyle/>
          <a:p>
            <a:pPr marL="0" indent="0">
              <a:buNone/>
            </a:pPr>
            <a:r>
              <a:rPr lang="en-US" sz="1400" b="1" dirty="0">
                <a:solidFill>
                  <a:srgbClr val="2A0B2F"/>
                </a:solidFill>
                <a:latin typeface="Arial" pitchFamily="34" charset="0"/>
                <a:ea typeface="Arial" pitchFamily="34" charset="-122"/>
                <a:cs typeface="Arial" pitchFamily="34" charset="-120"/>
              </a:rPr>
              <a:t>Amazon</a:t>
            </a:r>
            <a:r>
              <a:rPr lang="en-US" sz="1000" dirty="0">
                <a:solidFill>
                  <a:srgbClr val="67516B"/>
                </a:solidFill>
                <a:latin typeface="Arial" pitchFamily="34" charset="0"/>
                <a:ea typeface="Arial" pitchFamily="34" charset="-122"/>
                <a:cs typeface="Arial" pitchFamily="34" charset="-120"/>
              </a:rPr>
              <a:t> [1]</a:t>
            </a:r>
            <a:endParaRPr lang="en-US" sz="1400" dirty="0"/>
          </a:p>
        </p:txBody>
      </p:sp>
      <p:pic>
        <p:nvPicPr>
          <p:cNvPr id="22" name="Image 0" descr="Documented"/>
          <p:cNvPicPr>
            <a:picLocks noChangeAspect="1"/>
          </p:cNvPicPr>
          <p:nvPr/>
        </p:nvPicPr>
        <p:blipFill>
          <a:blip r:embed="rId4"/>
          <a:stretch>
            <a:fillRect/>
          </a:stretch>
        </p:blipFill>
        <p:spPr>
          <a:xfrm>
            <a:off x="3017520" y="5020056"/>
            <a:ext cx="256032" cy="256032"/>
          </a:xfrm>
          <a:prstGeom prst="rect">
            <a:avLst/>
          </a:prstGeom>
        </p:spPr>
      </p:pic>
      <p:pic>
        <p:nvPicPr>
          <p:cNvPr id="23" name="Image 1" descr="Not public"/>
          <p:cNvPicPr>
            <a:picLocks noChangeAspect="1"/>
          </p:cNvPicPr>
          <p:nvPr/>
        </p:nvPicPr>
        <p:blipFill>
          <a:blip r:embed="rId5"/>
          <a:stretch>
            <a:fillRect/>
          </a:stretch>
        </p:blipFill>
        <p:spPr>
          <a:xfrm>
            <a:off x="3950208" y="5056632"/>
            <a:ext cx="182880" cy="182880"/>
          </a:xfrm>
          <a:prstGeom prst="rect">
            <a:avLst/>
          </a:prstGeom>
        </p:spPr>
      </p:pic>
      <p:pic>
        <p:nvPicPr>
          <p:cNvPr id="24" name="Image 2" descr="Not public"/>
          <p:cNvPicPr>
            <a:picLocks noChangeAspect="1"/>
          </p:cNvPicPr>
          <p:nvPr/>
        </p:nvPicPr>
        <p:blipFill>
          <a:blip r:embed="rId5"/>
          <a:stretch>
            <a:fillRect/>
          </a:stretch>
        </p:blipFill>
        <p:spPr>
          <a:xfrm>
            <a:off x="4846320" y="5056632"/>
            <a:ext cx="182880" cy="182880"/>
          </a:xfrm>
          <a:prstGeom prst="rect">
            <a:avLst/>
          </a:prstGeom>
        </p:spPr>
      </p:pic>
      <p:pic>
        <p:nvPicPr>
          <p:cNvPr id="25" name="Image 3" descr="Not public"/>
          <p:cNvPicPr>
            <a:picLocks noChangeAspect="1"/>
          </p:cNvPicPr>
          <p:nvPr/>
        </p:nvPicPr>
        <p:blipFill>
          <a:blip r:embed="rId5"/>
          <a:stretch>
            <a:fillRect/>
          </a:stretch>
        </p:blipFill>
        <p:spPr>
          <a:xfrm>
            <a:off x="5742432" y="5056632"/>
            <a:ext cx="182880" cy="182880"/>
          </a:xfrm>
          <a:prstGeom prst="rect">
            <a:avLst/>
          </a:prstGeom>
        </p:spPr>
      </p:pic>
      <p:pic>
        <p:nvPicPr>
          <p:cNvPr id="26" name="Image 4" descr="Not public"/>
          <p:cNvPicPr>
            <a:picLocks noChangeAspect="1"/>
          </p:cNvPicPr>
          <p:nvPr/>
        </p:nvPicPr>
        <p:blipFill>
          <a:blip r:embed="rId5"/>
          <a:stretch>
            <a:fillRect/>
          </a:stretch>
        </p:blipFill>
        <p:spPr>
          <a:xfrm>
            <a:off x="6638544" y="5056632"/>
            <a:ext cx="182880" cy="182880"/>
          </a:xfrm>
          <a:prstGeom prst="rect">
            <a:avLst/>
          </a:prstGeom>
        </p:spPr>
      </p:pic>
      <p:pic>
        <p:nvPicPr>
          <p:cNvPr id="27" name="Image 5" descr="Partial"/>
          <p:cNvPicPr>
            <a:picLocks noChangeAspect="1"/>
          </p:cNvPicPr>
          <p:nvPr/>
        </p:nvPicPr>
        <p:blipFill>
          <a:blip r:embed="rId6"/>
          <a:stretch>
            <a:fillRect/>
          </a:stretch>
        </p:blipFill>
        <p:spPr>
          <a:xfrm>
            <a:off x="7498080" y="5020056"/>
            <a:ext cx="256032" cy="256032"/>
          </a:xfrm>
          <a:prstGeom prst="rect">
            <a:avLst/>
          </a:prstGeom>
        </p:spPr>
      </p:pic>
      <p:sp>
        <p:nvSpPr>
          <p:cNvPr id="28" name="Shape 20"/>
          <p:cNvSpPr/>
          <p:nvPr/>
        </p:nvSpPr>
        <p:spPr>
          <a:xfrm>
            <a:off x="8257032" y="50109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29" name="Text 21"/>
          <p:cNvSpPr txBox="1"/>
          <p:nvPr/>
        </p:nvSpPr>
        <p:spPr>
          <a:xfrm>
            <a:off x="8257032" y="50109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30" name="Text 22"/>
          <p:cNvSpPr txBox="1"/>
          <p:nvPr/>
        </p:nvSpPr>
        <p:spPr>
          <a:xfrm>
            <a:off x="8988552" y="4919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needs rivals</a:t>
            </a:r>
            <a:endParaRPr lang="en-US" sz="1050" dirty="0"/>
          </a:p>
        </p:txBody>
      </p:sp>
      <p:sp>
        <p:nvSpPr>
          <p:cNvPr id="31" name="Shape 23"/>
          <p:cNvSpPr/>
          <p:nvPr/>
        </p:nvSpPr>
        <p:spPr>
          <a:xfrm>
            <a:off x="9738360" y="50109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32" name="Text 24"/>
          <p:cNvSpPr txBox="1"/>
          <p:nvPr/>
        </p:nvSpPr>
        <p:spPr>
          <a:xfrm>
            <a:off x="9738360" y="50109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33" name="Text 25"/>
          <p:cNvSpPr txBox="1"/>
          <p:nvPr/>
        </p:nvSpPr>
        <p:spPr>
          <a:xfrm>
            <a:off x="10469880" y="4919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fees only</a:t>
            </a:r>
            <a:endParaRPr lang="en-US" sz="1050" dirty="0"/>
          </a:p>
        </p:txBody>
      </p:sp>
      <p:sp>
        <p:nvSpPr>
          <p:cNvPr id="34" name="Shape 26"/>
          <p:cNvSpPr/>
          <p:nvPr/>
        </p:nvSpPr>
        <p:spPr>
          <a:xfrm>
            <a:off x="11219688" y="50109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35" name="Text 27"/>
          <p:cNvSpPr txBox="1"/>
          <p:nvPr/>
        </p:nvSpPr>
        <p:spPr>
          <a:xfrm>
            <a:off x="11219688" y="50109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36" name="Text 28"/>
          <p:cNvSpPr txBox="1"/>
          <p:nvPr/>
        </p:nvSpPr>
        <p:spPr>
          <a:xfrm>
            <a:off x="11951208" y="4919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follows rivals</a:t>
            </a:r>
            <a:endParaRPr lang="en-US" sz="1050" dirty="0"/>
          </a:p>
        </p:txBody>
      </p:sp>
      <p:sp>
        <p:nvSpPr>
          <p:cNvPr id="37" name="Shape 29"/>
          <p:cNvSpPr/>
          <p:nvPr/>
        </p:nvSpPr>
        <p:spPr>
          <a:xfrm>
            <a:off x="12701016" y="50109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38" name="Text 30"/>
          <p:cNvSpPr txBox="1"/>
          <p:nvPr/>
        </p:nvSpPr>
        <p:spPr>
          <a:xfrm>
            <a:off x="12701016" y="50109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39" name="Text 31"/>
          <p:cNvSpPr txBox="1"/>
          <p:nvPr/>
        </p:nvSpPr>
        <p:spPr>
          <a:xfrm>
            <a:off x="13432536" y="4919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top seller spot</a:t>
            </a:r>
            <a:endParaRPr lang="en-US" sz="1050" dirty="0"/>
          </a:p>
        </p:txBody>
      </p:sp>
      <p:sp>
        <p:nvSpPr>
          <p:cNvPr id="40" name="Shape 32"/>
          <p:cNvSpPr/>
          <p:nvPr/>
        </p:nvSpPr>
        <p:spPr>
          <a:xfrm>
            <a:off x="731520" y="5833872"/>
            <a:ext cx="13377672" cy="0"/>
          </a:xfrm>
          <a:prstGeom prst="line">
            <a:avLst/>
          </a:prstGeom>
          <a:noFill/>
          <a:ln w="9525">
            <a:solidFill>
              <a:srgbClr val="E3D5E6"/>
            </a:solidFill>
            <a:prstDash val="solid"/>
          </a:ln>
        </p:spPr>
        <p:txBody>
          <a:bodyPr/>
          <a:p/>
        </p:txBody>
      </p:sp>
      <p:sp>
        <p:nvSpPr>
          <p:cNvPr id="41" name="Text 33"/>
          <p:cNvSpPr txBox="1"/>
          <p:nvPr/>
        </p:nvSpPr>
        <p:spPr>
          <a:xfrm>
            <a:off x="868680" y="5376672"/>
            <a:ext cx="1828800" cy="457200"/>
          </a:xfrm>
          <a:prstGeom prst="rect">
            <a:avLst/>
          </a:prstGeom>
          <a:noFill/>
          <a:ln/>
        </p:spPr>
        <p:txBody>
          <a:bodyPr wrap="square" lIns="0" tIns="0" rIns="0" bIns="0" rtlCol="0" anchor="ctr"/>
          <a:lstStyle/>
          <a:p>
            <a:pPr marL="0" indent="0">
              <a:buNone/>
            </a:pPr>
            <a:r>
              <a:rPr lang="en-US" sz="1400" b="1" dirty="0">
                <a:solidFill>
                  <a:srgbClr val="2A0B2F"/>
                </a:solidFill>
                <a:latin typeface="Arial" pitchFamily="34" charset="0"/>
                <a:ea typeface="Arial" pitchFamily="34" charset="-122"/>
                <a:cs typeface="Arial" pitchFamily="34" charset="-120"/>
              </a:rPr>
              <a:t>Flipkart</a:t>
            </a:r>
            <a:r>
              <a:rPr lang="en-US" sz="1000" dirty="0">
                <a:solidFill>
                  <a:srgbClr val="67516B"/>
                </a:solidFill>
                <a:latin typeface="Arial" pitchFamily="34" charset="0"/>
                <a:ea typeface="Arial" pitchFamily="34" charset="-122"/>
                <a:cs typeface="Arial" pitchFamily="34" charset="-120"/>
              </a:rPr>
              <a:t> [6]</a:t>
            </a:r>
            <a:endParaRPr lang="en-US" sz="1400" dirty="0"/>
          </a:p>
        </p:txBody>
      </p:sp>
      <p:pic>
        <p:nvPicPr>
          <p:cNvPr id="42" name="Image 6" descr="Not public"/>
          <p:cNvPicPr>
            <a:picLocks noChangeAspect="1"/>
          </p:cNvPicPr>
          <p:nvPr/>
        </p:nvPicPr>
        <p:blipFill>
          <a:blip r:embed="rId5"/>
          <a:stretch>
            <a:fillRect/>
          </a:stretch>
        </p:blipFill>
        <p:spPr>
          <a:xfrm>
            <a:off x="3054096" y="5513832"/>
            <a:ext cx="182880" cy="182880"/>
          </a:xfrm>
          <a:prstGeom prst="rect">
            <a:avLst/>
          </a:prstGeom>
        </p:spPr>
      </p:pic>
      <p:pic>
        <p:nvPicPr>
          <p:cNvPr id="43" name="Image 7" descr="Not public"/>
          <p:cNvPicPr>
            <a:picLocks noChangeAspect="1"/>
          </p:cNvPicPr>
          <p:nvPr/>
        </p:nvPicPr>
        <p:blipFill>
          <a:blip r:embed="rId5"/>
          <a:stretch>
            <a:fillRect/>
          </a:stretch>
        </p:blipFill>
        <p:spPr>
          <a:xfrm>
            <a:off x="3950208" y="5513832"/>
            <a:ext cx="182880" cy="182880"/>
          </a:xfrm>
          <a:prstGeom prst="rect">
            <a:avLst/>
          </a:prstGeom>
        </p:spPr>
      </p:pic>
      <p:pic>
        <p:nvPicPr>
          <p:cNvPr id="44" name="Image 8" descr="Not public"/>
          <p:cNvPicPr>
            <a:picLocks noChangeAspect="1"/>
          </p:cNvPicPr>
          <p:nvPr/>
        </p:nvPicPr>
        <p:blipFill>
          <a:blip r:embed="rId5"/>
          <a:stretch>
            <a:fillRect/>
          </a:stretch>
        </p:blipFill>
        <p:spPr>
          <a:xfrm>
            <a:off x="4846320" y="5513832"/>
            <a:ext cx="182880" cy="182880"/>
          </a:xfrm>
          <a:prstGeom prst="rect">
            <a:avLst/>
          </a:prstGeom>
        </p:spPr>
      </p:pic>
      <p:pic>
        <p:nvPicPr>
          <p:cNvPr id="45" name="Image 9" descr="Documented"/>
          <p:cNvPicPr>
            <a:picLocks noChangeAspect="1"/>
          </p:cNvPicPr>
          <p:nvPr/>
        </p:nvPicPr>
        <p:blipFill>
          <a:blip r:embed="rId4"/>
          <a:stretch>
            <a:fillRect/>
          </a:stretch>
        </p:blipFill>
        <p:spPr>
          <a:xfrm>
            <a:off x="5705856" y="5477256"/>
            <a:ext cx="256032" cy="256032"/>
          </a:xfrm>
          <a:prstGeom prst="rect">
            <a:avLst/>
          </a:prstGeom>
        </p:spPr>
      </p:pic>
      <p:pic>
        <p:nvPicPr>
          <p:cNvPr id="46" name="Image 10" descr="Documented"/>
          <p:cNvPicPr>
            <a:picLocks noChangeAspect="1"/>
          </p:cNvPicPr>
          <p:nvPr/>
        </p:nvPicPr>
        <p:blipFill>
          <a:blip r:embed="rId4"/>
          <a:stretch>
            <a:fillRect/>
          </a:stretch>
        </p:blipFill>
        <p:spPr>
          <a:xfrm>
            <a:off x="6601968" y="5477256"/>
            <a:ext cx="256032" cy="256032"/>
          </a:xfrm>
          <a:prstGeom prst="rect">
            <a:avLst/>
          </a:prstGeom>
        </p:spPr>
      </p:pic>
      <p:pic>
        <p:nvPicPr>
          <p:cNvPr id="47" name="Image 11" descr="Not public"/>
          <p:cNvPicPr>
            <a:picLocks noChangeAspect="1"/>
          </p:cNvPicPr>
          <p:nvPr/>
        </p:nvPicPr>
        <p:blipFill>
          <a:blip r:embed="rId5"/>
          <a:stretch>
            <a:fillRect/>
          </a:stretch>
        </p:blipFill>
        <p:spPr>
          <a:xfrm>
            <a:off x="7534656" y="5513832"/>
            <a:ext cx="182880" cy="182880"/>
          </a:xfrm>
          <a:prstGeom prst="rect">
            <a:avLst/>
          </a:prstGeom>
        </p:spPr>
      </p:pic>
      <p:sp>
        <p:nvSpPr>
          <p:cNvPr id="48" name="Shape 34"/>
          <p:cNvSpPr/>
          <p:nvPr/>
        </p:nvSpPr>
        <p:spPr>
          <a:xfrm>
            <a:off x="8257032" y="54681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49" name="Text 35"/>
          <p:cNvSpPr txBox="1"/>
          <p:nvPr/>
        </p:nvSpPr>
        <p:spPr>
          <a:xfrm>
            <a:off x="8257032" y="54681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50" name="Text 36"/>
          <p:cNvSpPr txBox="1"/>
          <p:nvPr/>
        </p:nvSpPr>
        <p:spPr>
          <a:xfrm>
            <a:off x="8988552" y="5376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rival view</a:t>
            </a:r>
            <a:endParaRPr lang="en-US" sz="1050" dirty="0"/>
          </a:p>
        </p:txBody>
      </p:sp>
      <p:sp>
        <p:nvSpPr>
          <p:cNvPr id="51" name="Shape 37"/>
          <p:cNvSpPr/>
          <p:nvPr/>
        </p:nvSpPr>
        <p:spPr>
          <a:xfrm>
            <a:off x="9738360" y="5468112"/>
            <a:ext cx="676656" cy="274320"/>
          </a:xfrm>
          <a:prstGeom prst="roundRect">
            <a:avLst>
              <a:gd name="adj" fmla="val 26667"/>
            </a:avLst>
          </a:prstGeom>
          <a:solidFill>
            <a:srgbClr val="F4F1F5"/>
          </a:solidFill>
          <a:ln w="12700">
            <a:solidFill>
              <a:srgbClr val="F4F1F5"/>
            </a:solidFill>
            <a:prstDash val="solid"/>
          </a:ln>
        </p:spPr>
        <p:txBody>
          <a:bodyPr/>
          <a:p/>
        </p:txBody>
      </p:sp>
      <p:sp>
        <p:nvSpPr>
          <p:cNvPr id="52" name="Text 38"/>
          <p:cNvSpPr txBox="1"/>
          <p:nvPr/>
        </p:nvSpPr>
        <p:spPr>
          <a:xfrm>
            <a:off x="9738360" y="5468112"/>
            <a:ext cx="676656" cy="274320"/>
          </a:xfrm>
          <a:prstGeom prst="rect">
            <a:avLst/>
          </a:prstGeom>
          <a:noFill/>
          <a:ln/>
        </p:spPr>
        <p:txBody>
          <a:bodyPr wrap="square" lIns="0" tIns="0" rIns="0" bIns="0" rtlCol="0" anchor="ctr"/>
          <a:lstStyle/>
          <a:p>
            <a:pPr marL="0" indent="0" algn="ctr">
              <a:buNone/>
            </a:pPr>
            <a:r>
              <a:rPr lang="en-US" sz="1000" b="1" dirty="0">
                <a:solidFill>
                  <a:srgbClr val="8A7A8D"/>
                </a:solidFill>
                <a:latin typeface="Arial" pitchFamily="34" charset="0"/>
                <a:ea typeface="Arial" pitchFamily="34" charset="-122"/>
                <a:cs typeface="Arial" pitchFamily="34" charset="-120"/>
              </a:rPr>
              <a:t>Unknown</a:t>
            </a:r>
            <a:endParaRPr lang="en-US" sz="1000" dirty="0"/>
          </a:p>
        </p:txBody>
      </p:sp>
      <p:sp>
        <p:nvSpPr>
          <p:cNvPr id="53" name="Text 39"/>
          <p:cNvSpPr txBox="1"/>
          <p:nvPr/>
        </p:nvSpPr>
        <p:spPr>
          <a:xfrm>
            <a:off x="10469880" y="5376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not published</a:t>
            </a:r>
            <a:endParaRPr lang="en-US" sz="1050" dirty="0"/>
          </a:p>
        </p:txBody>
      </p:sp>
      <p:sp>
        <p:nvSpPr>
          <p:cNvPr id="54" name="Shape 40"/>
          <p:cNvSpPr/>
          <p:nvPr/>
        </p:nvSpPr>
        <p:spPr>
          <a:xfrm>
            <a:off x="11219688" y="54681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55" name="Text 41"/>
          <p:cNvSpPr txBox="1"/>
          <p:nvPr/>
        </p:nvSpPr>
        <p:spPr>
          <a:xfrm>
            <a:off x="11219688" y="54681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56" name="Text 42"/>
          <p:cNvSpPr txBox="1"/>
          <p:nvPr/>
        </p:nvSpPr>
        <p:spPr>
          <a:xfrm>
            <a:off x="11951208" y="5376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follows rivals</a:t>
            </a:r>
            <a:endParaRPr lang="en-US" sz="1050" dirty="0"/>
          </a:p>
        </p:txBody>
      </p:sp>
      <p:sp>
        <p:nvSpPr>
          <p:cNvPr id="57" name="Shape 43"/>
          <p:cNvSpPr/>
          <p:nvPr/>
        </p:nvSpPr>
        <p:spPr>
          <a:xfrm>
            <a:off x="12701016" y="54681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58" name="Text 44"/>
          <p:cNvSpPr txBox="1"/>
          <p:nvPr/>
        </p:nvSpPr>
        <p:spPr>
          <a:xfrm>
            <a:off x="12701016" y="54681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59" name="Text 45"/>
          <p:cNvSpPr txBox="1"/>
          <p:nvPr/>
        </p:nvSpPr>
        <p:spPr>
          <a:xfrm>
            <a:off x="13432536" y="5376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margin + volume</a:t>
            </a:r>
            <a:endParaRPr lang="en-US" sz="1050" dirty="0"/>
          </a:p>
        </p:txBody>
      </p:sp>
      <p:sp>
        <p:nvSpPr>
          <p:cNvPr id="60" name="Shape 46"/>
          <p:cNvSpPr/>
          <p:nvPr/>
        </p:nvSpPr>
        <p:spPr>
          <a:xfrm>
            <a:off x="731520" y="6291072"/>
            <a:ext cx="13377672" cy="0"/>
          </a:xfrm>
          <a:prstGeom prst="line">
            <a:avLst/>
          </a:prstGeom>
          <a:noFill/>
          <a:ln w="9525">
            <a:solidFill>
              <a:srgbClr val="E3D5E6"/>
            </a:solidFill>
            <a:prstDash val="solid"/>
          </a:ln>
        </p:spPr>
        <p:txBody>
          <a:bodyPr/>
          <a:p/>
        </p:txBody>
      </p:sp>
      <p:sp>
        <p:nvSpPr>
          <p:cNvPr id="61" name="Text 47"/>
          <p:cNvSpPr txBox="1"/>
          <p:nvPr/>
        </p:nvSpPr>
        <p:spPr>
          <a:xfrm>
            <a:off x="868680" y="5833872"/>
            <a:ext cx="1828800" cy="457200"/>
          </a:xfrm>
          <a:prstGeom prst="rect">
            <a:avLst/>
          </a:prstGeom>
          <a:noFill/>
          <a:ln/>
        </p:spPr>
        <p:txBody>
          <a:bodyPr wrap="square" lIns="0" tIns="0" rIns="0" bIns="0" rtlCol="0" anchor="ctr"/>
          <a:lstStyle/>
          <a:p>
            <a:pPr marL="0" indent="0">
              <a:buNone/>
            </a:pPr>
            <a:r>
              <a:rPr lang="en-US" sz="1400" b="1" dirty="0">
                <a:solidFill>
                  <a:srgbClr val="2A0B2F"/>
                </a:solidFill>
                <a:latin typeface="Arial" pitchFamily="34" charset="0"/>
                <a:ea typeface="Arial" pitchFamily="34" charset="-122"/>
                <a:cs typeface="Arial" pitchFamily="34" charset="-120"/>
              </a:rPr>
              <a:t>eBay</a:t>
            </a:r>
            <a:r>
              <a:rPr lang="en-US" sz="1000" dirty="0">
                <a:solidFill>
                  <a:srgbClr val="67516B"/>
                </a:solidFill>
                <a:latin typeface="Arial" pitchFamily="34" charset="0"/>
                <a:ea typeface="Arial" pitchFamily="34" charset="-122"/>
                <a:cs typeface="Arial" pitchFamily="34" charset="-120"/>
              </a:rPr>
              <a:t> [3]</a:t>
            </a:r>
            <a:endParaRPr lang="en-US" sz="1400" dirty="0"/>
          </a:p>
        </p:txBody>
      </p:sp>
      <p:pic>
        <p:nvPicPr>
          <p:cNvPr id="62" name="Image 12" descr="Not public"/>
          <p:cNvPicPr>
            <a:picLocks noChangeAspect="1"/>
          </p:cNvPicPr>
          <p:nvPr/>
        </p:nvPicPr>
        <p:blipFill>
          <a:blip r:embed="rId5"/>
          <a:stretch>
            <a:fillRect/>
          </a:stretch>
        </p:blipFill>
        <p:spPr>
          <a:xfrm>
            <a:off x="3054096" y="5971032"/>
            <a:ext cx="182880" cy="182880"/>
          </a:xfrm>
          <a:prstGeom prst="rect">
            <a:avLst/>
          </a:prstGeom>
        </p:spPr>
      </p:pic>
      <p:pic>
        <p:nvPicPr>
          <p:cNvPr id="63" name="Image 13" descr="Not public"/>
          <p:cNvPicPr>
            <a:picLocks noChangeAspect="1"/>
          </p:cNvPicPr>
          <p:nvPr/>
        </p:nvPicPr>
        <p:blipFill>
          <a:blip r:embed="rId5"/>
          <a:stretch>
            <a:fillRect/>
          </a:stretch>
        </p:blipFill>
        <p:spPr>
          <a:xfrm>
            <a:off x="3950208" y="5971032"/>
            <a:ext cx="182880" cy="182880"/>
          </a:xfrm>
          <a:prstGeom prst="rect">
            <a:avLst/>
          </a:prstGeom>
        </p:spPr>
      </p:pic>
      <p:pic>
        <p:nvPicPr>
          <p:cNvPr id="64" name="Image 14" descr="Documented"/>
          <p:cNvPicPr>
            <a:picLocks noChangeAspect="1"/>
          </p:cNvPicPr>
          <p:nvPr/>
        </p:nvPicPr>
        <p:blipFill>
          <a:blip r:embed="rId4"/>
          <a:stretch>
            <a:fillRect/>
          </a:stretch>
        </p:blipFill>
        <p:spPr>
          <a:xfrm>
            <a:off x="4809744" y="5934456"/>
            <a:ext cx="256032" cy="256032"/>
          </a:xfrm>
          <a:prstGeom prst="rect">
            <a:avLst/>
          </a:prstGeom>
        </p:spPr>
      </p:pic>
      <p:pic>
        <p:nvPicPr>
          <p:cNvPr id="65" name="Image 15" descr="Documented"/>
          <p:cNvPicPr>
            <a:picLocks noChangeAspect="1"/>
          </p:cNvPicPr>
          <p:nvPr/>
        </p:nvPicPr>
        <p:blipFill>
          <a:blip r:embed="rId4"/>
          <a:stretch>
            <a:fillRect/>
          </a:stretch>
        </p:blipFill>
        <p:spPr>
          <a:xfrm>
            <a:off x="5705856" y="5934456"/>
            <a:ext cx="256032" cy="256032"/>
          </a:xfrm>
          <a:prstGeom prst="rect">
            <a:avLst/>
          </a:prstGeom>
        </p:spPr>
      </p:pic>
      <p:pic>
        <p:nvPicPr>
          <p:cNvPr id="66" name="Image 16" descr="Not public"/>
          <p:cNvPicPr>
            <a:picLocks noChangeAspect="1"/>
          </p:cNvPicPr>
          <p:nvPr/>
        </p:nvPicPr>
        <p:blipFill>
          <a:blip r:embed="rId5"/>
          <a:stretch>
            <a:fillRect/>
          </a:stretch>
        </p:blipFill>
        <p:spPr>
          <a:xfrm>
            <a:off x="6638544" y="5971032"/>
            <a:ext cx="182880" cy="182880"/>
          </a:xfrm>
          <a:prstGeom prst="rect">
            <a:avLst/>
          </a:prstGeom>
        </p:spPr>
      </p:pic>
      <p:pic>
        <p:nvPicPr>
          <p:cNvPr id="67" name="Image 17" descr="Not public"/>
          <p:cNvPicPr>
            <a:picLocks noChangeAspect="1"/>
          </p:cNvPicPr>
          <p:nvPr/>
        </p:nvPicPr>
        <p:blipFill>
          <a:blip r:embed="rId5"/>
          <a:stretch>
            <a:fillRect/>
          </a:stretch>
        </p:blipFill>
        <p:spPr>
          <a:xfrm>
            <a:off x="7534656" y="5971032"/>
            <a:ext cx="182880" cy="182880"/>
          </a:xfrm>
          <a:prstGeom prst="rect">
            <a:avLst/>
          </a:prstGeom>
        </p:spPr>
      </p:pic>
      <p:sp>
        <p:nvSpPr>
          <p:cNvPr id="68" name="Shape 48"/>
          <p:cNvSpPr/>
          <p:nvPr/>
        </p:nvSpPr>
        <p:spPr>
          <a:xfrm>
            <a:off x="8257032" y="5925312"/>
            <a:ext cx="676656" cy="274320"/>
          </a:xfrm>
          <a:prstGeom prst="roundRect">
            <a:avLst>
              <a:gd name="adj" fmla="val 26667"/>
            </a:avLst>
          </a:prstGeom>
          <a:solidFill>
            <a:srgbClr val="4B1248"/>
          </a:solidFill>
          <a:ln w="12700">
            <a:solidFill>
              <a:srgbClr val="4B1248"/>
            </a:solidFill>
            <a:prstDash val="solid"/>
          </a:ln>
        </p:spPr>
        <p:txBody>
          <a:bodyPr/>
          <a:p/>
        </p:txBody>
      </p:sp>
      <p:sp>
        <p:nvSpPr>
          <p:cNvPr id="69" name="Text 49"/>
          <p:cNvSpPr txBox="1"/>
          <p:nvPr/>
        </p:nvSpPr>
        <p:spPr>
          <a:xfrm>
            <a:off x="8257032" y="5925312"/>
            <a:ext cx="67665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70" name="Text 50"/>
          <p:cNvSpPr txBox="1"/>
          <p:nvPr/>
        </p:nvSpPr>
        <p:spPr>
          <a:xfrm>
            <a:off x="8988552" y="58338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past sales</a:t>
            </a:r>
            <a:endParaRPr lang="en-US" sz="1050" dirty="0"/>
          </a:p>
        </p:txBody>
      </p:sp>
      <p:sp>
        <p:nvSpPr>
          <p:cNvPr id="71" name="Shape 51"/>
          <p:cNvSpPr/>
          <p:nvPr/>
        </p:nvSpPr>
        <p:spPr>
          <a:xfrm>
            <a:off x="9738360" y="59253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72" name="Text 52"/>
          <p:cNvSpPr txBox="1"/>
          <p:nvPr/>
        </p:nvSpPr>
        <p:spPr>
          <a:xfrm>
            <a:off x="9738360" y="59253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73" name="Text 53"/>
          <p:cNvSpPr txBox="1"/>
          <p:nvPr/>
        </p:nvSpPr>
        <p:spPr>
          <a:xfrm>
            <a:off x="10469880" y="58338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fees excluded</a:t>
            </a:r>
            <a:endParaRPr lang="en-US" sz="1050" dirty="0"/>
          </a:p>
        </p:txBody>
      </p:sp>
      <p:sp>
        <p:nvSpPr>
          <p:cNvPr id="74" name="Shape 54"/>
          <p:cNvSpPr/>
          <p:nvPr/>
        </p:nvSpPr>
        <p:spPr>
          <a:xfrm>
            <a:off x="11219688" y="59253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75" name="Text 55"/>
          <p:cNvSpPr txBox="1"/>
          <p:nvPr/>
        </p:nvSpPr>
        <p:spPr>
          <a:xfrm>
            <a:off x="11219688" y="59253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76" name="Text 56"/>
          <p:cNvSpPr txBox="1"/>
          <p:nvPr/>
        </p:nvSpPr>
        <p:spPr>
          <a:xfrm>
            <a:off x="11951208" y="58338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tips only</a:t>
            </a:r>
            <a:endParaRPr lang="en-US" sz="1050" dirty="0"/>
          </a:p>
        </p:txBody>
      </p:sp>
      <p:sp>
        <p:nvSpPr>
          <p:cNvPr id="77" name="Shape 57"/>
          <p:cNvSpPr/>
          <p:nvPr/>
        </p:nvSpPr>
        <p:spPr>
          <a:xfrm>
            <a:off x="12701016" y="59253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78" name="Text 58"/>
          <p:cNvSpPr txBox="1"/>
          <p:nvPr/>
        </p:nvSpPr>
        <p:spPr>
          <a:xfrm>
            <a:off x="12701016" y="59253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79" name="Text 59"/>
          <p:cNvSpPr txBox="1"/>
          <p:nvPr/>
        </p:nvSpPr>
        <p:spPr>
          <a:xfrm>
            <a:off x="13432536" y="58338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quick sale</a:t>
            </a:r>
            <a:endParaRPr lang="en-US" sz="1050" dirty="0"/>
          </a:p>
        </p:txBody>
      </p:sp>
      <p:sp>
        <p:nvSpPr>
          <p:cNvPr id="80" name="Shape 60"/>
          <p:cNvSpPr/>
          <p:nvPr/>
        </p:nvSpPr>
        <p:spPr>
          <a:xfrm>
            <a:off x="731520" y="6748272"/>
            <a:ext cx="13377672" cy="0"/>
          </a:xfrm>
          <a:prstGeom prst="line">
            <a:avLst/>
          </a:prstGeom>
          <a:noFill/>
          <a:ln w="9525">
            <a:solidFill>
              <a:srgbClr val="E3D5E6"/>
            </a:solidFill>
            <a:prstDash val="solid"/>
          </a:ln>
        </p:spPr>
        <p:txBody>
          <a:bodyPr/>
          <a:p/>
        </p:txBody>
      </p:sp>
      <p:sp>
        <p:nvSpPr>
          <p:cNvPr id="81" name="Text 61"/>
          <p:cNvSpPr txBox="1"/>
          <p:nvPr/>
        </p:nvSpPr>
        <p:spPr>
          <a:xfrm>
            <a:off x="868680" y="6291072"/>
            <a:ext cx="1828800" cy="457200"/>
          </a:xfrm>
          <a:prstGeom prst="rect">
            <a:avLst/>
          </a:prstGeom>
          <a:noFill/>
          <a:ln/>
        </p:spPr>
        <p:txBody>
          <a:bodyPr wrap="square" lIns="0" tIns="0" rIns="0" bIns="0" rtlCol="0" anchor="ctr"/>
          <a:lstStyle/>
          <a:p>
            <a:pPr marL="0" indent="0">
              <a:buNone/>
            </a:pPr>
            <a:r>
              <a:rPr lang="en-US" sz="1400" b="1" dirty="0">
                <a:solidFill>
                  <a:srgbClr val="2A0B2F"/>
                </a:solidFill>
                <a:latin typeface="Arial" pitchFamily="34" charset="0"/>
                <a:ea typeface="Arial" pitchFamily="34" charset="-122"/>
                <a:cs typeface="Arial" pitchFamily="34" charset="-120"/>
              </a:rPr>
              <a:t>Mercari</a:t>
            </a:r>
            <a:r>
              <a:rPr lang="en-US" sz="1000" dirty="0">
                <a:solidFill>
                  <a:srgbClr val="67516B"/>
                </a:solidFill>
                <a:latin typeface="Arial" pitchFamily="34" charset="0"/>
                <a:ea typeface="Arial" pitchFamily="34" charset="-122"/>
                <a:cs typeface="Arial" pitchFamily="34" charset="-120"/>
              </a:rPr>
              <a:t> [4]</a:t>
            </a:r>
            <a:endParaRPr lang="en-US" sz="1400" dirty="0"/>
          </a:p>
        </p:txBody>
      </p:sp>
      <p:pic>
        <p:nvPicPr>
          <p:cNvPr id="82" name="Image 18" descr="Documented"/>
          <p:cNvPicPr>
            <a:picLocks noChangeAspect="1"/>
          </p:cNvPicPr>
          <p:nvPr/>
        </p:nvPicPr>
        <p:blipFill>
          <a:blip r:embed="rId4"/>
          <a:stretch>
            <a:fillRect/>
          </a:stretch>
        </p:blipFill>
        <p:spPr>
          <a:xfrm>
            <a:off x="3017520" y="6391656"/>
            <a:ext cx="256032" cy="256032"/>
          </a:xfrm>
          <a:prstGeom prst="rect">
            <a:avLst/>
          </a:prstGeom>
        </p:spPr>
      </p:pic>
      <p:pic>
        <p:nvPicPr>
          <p:cNvPr id="83" name="Image 19" descr="Documented"/>
          <p:cNvPicPr>
            <a:picLocks noChangeAspect="1"/>
          </p:cNvPicPr>
          <p:nvPr/>
        </p:nvPicPr>
        <p:blipFill>
          <a:blip r:embed="rId4"/>
          <a:stretch>
            <a:fillRect/>
          </a:stretch>
        </p:blipFill>
        <p:spPr>
          <a:xfrm>
            <a:off x="3913632" y="6391656"/>
            <a:ext cx="256032" cy="256032"/>
          </a:xfrm>
          <a:prstGeom prst="rect">
            <a:avLst/>
          </a:prstGeom>
        </p:spPr>
      </p:pic>
      <p:pic>
        <p:nvPicPr>
          <p:cNvPr id="84" name="Image 20" descr="Documented"/>
          <p:cNvPicPr>
            <a:picLocks noChangeAspect="1"/>
          </p:cNvPicPr>
          <p:nvPr/>
        </p:nvPicPr>
        <p:blipFill>
          <a:blip r:embed="rId4"/>
          <a:stretch>
            <a:fillRect/>
          </a:stretch>
        </p:blipFill>
        <p:spPr>
          <a:xfrm>
            <a:off x="4809744" y="6391656"/>
            <a:ext cx="256032" cy="256032"/>
          </a:xfrm>
          <a:prstGeom prst="rect">
            <a:avLst/>
          </a:prstGeom>
        </p:spPr>
      </p:pic>
      <p:pic>
        <p:nvPicPr>
          <p:cNvPr id="85" name="Image 21" descr="Partial"/>
          <p:cNvPicPr>
            <a:picLocks noChangeAspect="1"/>
          </p:cNvPicPr>
          <p:nvPr/>
        </p:nvPicPr>
        <p:blipFill>
          <a:blip r:embed="rId6"/>
          <a:stretch>
            <a:fillRect/>
          </a:stretch>
        </p:blipFill>
        <p:spPr>
          <a:xfrm>
            <a:off x="5705856" y="6391656"/>
            <a:ext cx="256032" cy="256032"/>
          </a:xfrm>
          <a:prstGeom prst="rect">
            <a:avLst/>
          </a:prstGeom>
        </p:spPr>
      </p:pic>
      <p:pic>
        <p:nvPicPr>
          <p:cNvPr id="86" name="Image 22" descr="Partial"/>
          <p:cNvPicPr>
            <a:picLocks noChangeAspect="1"/>
          </p:cNvPicPr>
          <p:nvPr/>
        </p:nvPicPr>
        <p:blipFill>
          <a:blip r:embed="rId6"/>
          <a:stretch>
            <a:fillRect/>
          </a:stretch>
        </p:blipFill>
        <p:spPr>
          <a:xfrm>
            <a:off x="6601968" y="6391656"/>
            <a:ext cx="256032" cy="256032"/>
          </a:xfrm>
          <a:prstGeom prst="rect">
            <a:avLst/>
          </a:prstGeom>
        </p:spPr>
      </p:pic>
      <p:pic>
        <p:nvPicPr>
          <p:cNvPr id="87" name="Image 23" descr="Not public"/>
          <p:cNvPicPr>
            <a:picLocks noChangeAspect="1"/>
          </p:cNvPicPr>
          <p:nvPr/>
        </p:nvPicPr>
        <p:blipFill>
          <a:blip r:embed="rId5"/>
          <a:stretch>
            <a:fillRect/>
          </a:stretch>
        </p:blipFill>
        <p:spPr>
          <a:xfrm>
            <a:off x="7534656" y="6428232"/>
            <a:ext cx="182880" cy="182880"/>
          </a:xfrm>
          <a:prstGeom prst="rect">
            <a:avLst/>
          </a:prstGeom>
        </p:spPr>
      </p:pic>
      <p:sp>
        <p:nvSpPr>
          <p:cNvPr id="88" name="Shape 62"/>
          <p:cNvSpPr/>
          <p:nvPr/>
        </p:nvSpPr>
        <p:spPr>
          <a:xfrm>
            <a:off x="8257032" y="6382512"/>
            <a:ext cx="676656" cy="274320"/>
          </a:xfrm>
          <a:prstGeom prst="roundRect">
            <a:avLst>
              <a:gd name="adj" fmla="val 26667"/>
            </a:avLst>
          </a:prstGeom>
          <a:solidFill>
            <a:srgbClr val="4B1248"/>
          </a:solidFill>
          <a:ln w="12700">
            <a:solidFill>
              <a:srgbClr val="4B1248"/>
            </a:solidFill>
            <a:prstDash val="solid"/>
          </a:ln>
        </p:spPr>
        <p:txBody>
          <a:bodyPr/>
          <a:p/>
        </p:txBody>
      </p:sp>
      <p:sp>
        <p:nvSpPr>
          <p:cNvPr id="89" name="Text 63"/>
          <p:cNvSpPr txBox="1"/>
          <p:nvPr/>
        </p:nvSpPr>
        <p:spPr>
          <a:xfrm>
            <a:off x="8257032" y="6382512"/>
            <a:ext cx="67665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90" name="Text 64"/>
          <p:cNvSpPr txBox="1"/>
          <p:nvPr/>
        </p:nvSpPr>
        <p:spPr>
          <a:xfrm>
            <a:off x="8988552" y="62910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photo + text model</a:t>
            </a:r>
            <a:endParaRPr lang="en-US" sz="1050" dirty="0"/>
          </a:p>
        </p:txBody>
      </p:sp>
      <p:sp>
        <p:nvSpPr>
          <p:cNvPr id="91" name="Shape 65"/>
          <p:cNvSpPr/>
          <p:nvPr/>
        </p:nvSpPr>
        <p:spPr>
          <a:xfrm>
            <a:off x="9738360" y="63825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92" name="Text 66"/>
          <p:cNvSpPr txBox="1"/>
          <p:nvPr/>
        </p:nvSpPr>
        <p:spPr>
          <a:xfrm>
            <a:off x="9738360" y="63825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93" name="Text 67"/>
          <p:cNvSpPr txBox="1"/>
          <p:nvPr/>
        </p:nvSpPr>
        <p:spPr>
          <a:xfrm>
            <a:off x="10469880" y="62910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seller sets floor</a:t>
            </a:r>
            <a:endParaRPr lang="en-US" sz="1050" dirty="0"/>
          </a:p>
        </p:txBody>
      </p:sp>
      <p:sp>
        <p:nvSpPr>
          <p:cNvPr id="94" name="Shape 68"/>
          <p:cNvSpPr/>
          <p:nvPr/>
        </p:nvSpPr>
        <p:spPr>
          <a:xfrm>
            <a:off x="11219688" y="63825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95" name="Text 69"/>
          <p:cNvSpPr txBox="1"/>
          <p:nvPr/>
        </p:nvSpPr>
        <p:spPr>
          <a:xfrm>
            <a:off x="11219688" y="63825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96" name="Text 70"/>
          <p:cNvSpPr txBox="1"/>
          <p:nvPr/>
        </p:nvSpPr>
        <p:spPr>
          <a:xfrm>
            <a:off x="11951208" y="62910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only goes down</a:t>
            </a:r>
            <a:endParaRPr lang="en-US" sz="1050" dirty="0"/>
          </a:p>
        </p:txBody>
      </p:sp>
      <p:sp>
        <p:nvSpPr>
          <p:cNvPr id="97" name="Shape 71"/>
          <p:cNvSpPr/>
          <p:nvPr/>
        </p:nvSpPr>
        <p:spPr>
          <a:xfrm>
            <a:off x="12701016" y="63825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98" name="Text 72"/>
          <p:cNvSpPr txBox="1"/>
          <p:nvPr/>
        </p:nvSpPr>
        <p:spPr>
          <a:xfrm>
            <a:off x="12701016" y="63825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99" name="Text 73"/>
          <p:cNvSpPr txBox="1"/>
          <p:nvPr/>
        </p:nvSpPr>
        <p:spPr>
          <a:xfrm>
            <a:off x="13432536" y="62910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aims to sell</a:t>
            </a:r>
            <a:endParaRPr lang="en-US" sz="1050" dirty="0"/>
          </a:p>
        </p:txBody>
      </p:sp>
      <p:sp>
        <p:nvSpPr>
          <p:cNvPr id="100" name="Shape 74"/>
          <p:cNvSpPr/>
          <p:nvPr/>
        </p:nvSpPr>
        <p:spPr>
          <a:xfrm>
            <a:off x="731520" y="7205472"/>
            <a:ext cx="13377672" cy="0"/>
          </a:xfrm>
          <a:prstGeom prst="line">
            <a:avLst/>
          </a:prstGeom>
          <a:noFill/>
          <a:ln w="9525">
            <a:solidFill>
              <a:srgbClr val="E3D5E6"/>
            </a:solidFill>
            <a:prstDash val="solid"/>
          </a:ln>
        </p:spPr>
        <p:txBody>
          <a:bodyPr/>
          <a:p/>
        </p:txBody>
      </p:sp>
      <p:sp>
        <p:nvSpPr>
          <p:cNvPr id="101" name="Text 75"/>
          <p:cNvSpPr txBox="1"/>
          <p:nvPr/>
        </p:nvSpPr>
        <p:spPr>
          <a:xfrm>
            <a:off x="868680" y="6748272"/>
            <a:ext cx="1828800" cy="457200"/>
          </a:xfrm>
          <a:prstGeom prst="rect">
            <a:avLst/>
          </a:prstGeom>
          <a:noFill/>
          <a:ln/>
        </p:spPr>
        <p:txBody>
          <a:bodyPr wrap="square" lIns="0" tIns="0" rIns="0" bIns="0" rtlCol="0" anchor="ctr"/>
          <a:lstStyle/>
          <a:p>
            <a:pPr marL="0" indent="0">
              <a:buNone/>
            </a:pPr>
            <a:r>
              <a:rPr lang="en-US" sz="1400" b="1" dirty="0">
                <a:solidFill>
                  <a:srgbClr val="2A0B2F"/>
                </a:solidFill>
                <a:latin typeface="Arial" pitchFamily="34" charset="0"/>
                <a:ea typeface="Arial" pitchFamily="34" charset="-122"/>
                <a:cs typeface="Arial" pitchFamily="34" charset="-120"/>
              </a:rPr>
              <a:t>Airbnb</a:t>
            </a:r>
            <a:r>
              <a:rPr lang="en-US" sz="1000" dirty="0">
                <a:solidFill>
                  <a:srgbClr val="67516B"/>
                </a:solidFill>
                <a:latin typeface="Arial" pitchFamily="34" charset="0"/>
                <a:ea typeface="Arial" pitchFamily="34" charset="-122"/>
                <a:cs typeface="Arial" pitchFamily="34" charset="-120"/>
              </a:rPr>
              <a:t> [5]</a:t>
            </a:r>
            <a:endParaRPr lang="en-US" sz="1400" dirty="0"/>
          </a:p>
        </p:txBody>
      </p:sp>
      <p:pic>
        <p:nvPicPr>
          <p:cNvPr id="102" name="Image 24" descr="Partial"/>
          <p:cNvPicPr>
            <a:picLocks noChangeAspect="1"/>
          </p:cNvPicPr>
          <p:nvPr/>
        </p:nvPicPr>
        <p:blipFill>
          <a:blip r:embed="rId6"/>
          <a:stretch>
            <a:fillRect/>
          </a:stretch>
        </p:blipFill>
        <p:spPr>
          <a:xfrm>
            <a:off x="3017520" y="6848856"/>
            <a:ext cx="256032" cy="256032"/>
          </a:xfrm>
          <a:prstGeom prst="rect">
            <a:avLst/>
          </a:prstGeom>
        </p:spPr>
      </p:pic>
      <p:pic>
        <p:nvPicPr>
          <p:cNvPr id="103" name="Image 25" descr="Not public"/>
          <p:cNvPicPr>
            <a:picLocks noChangeAspect="1"/>
          </p:cNvPicPr>
          <p:nvPr/>
        </p:nvPicPr>
        <p:blipFill>
          <a:blip r:embed="rId5"/>
          <a:stretch>
            <a:fillRect/>
          </a:stretch>
        </p:blipFill>
        <p:spPr>
          <a:xfrm>
            <a:off x="3950208" y="6885432"/>
            <a:ext cx="182880" cy="182880"/>
          </a:xfrm>
          <a:prstGeom prst="rect">
            <a:avLst/>
          </a:prstGeom>
        </p:spPr>
      </p:pic>
      <p:pic>
        <p:nvPicPr>
          <p:cNvPr id="104" name="Image 26" descr="Not public"/>
          <p:cNvPicPr>
            <a:picLocks noChangeAspect="1"/>
          </p:cNvPicPr>
          <p:nvPr/>
        </p:nvPicPr>
        <p:blipFill>
          <a:blip r:embed="rId5"/>
          <a:stretch>
            <a:fillRect/>
          </a:stretch>
        </p:blipFill>
        <p:spPr>
          <a:xfrm>
            <a:off x="4846320" y="6885432"/>
            <a:ext cx="182880" cy="182880"/>
          </a:xfrm>
          <a:prstGeom prst="rect">
            <a:avLst/>
          </a:prstGeom>
        </p:spPr>
      </p:pic>
      <p:pic>
        <p:nvPicPr>
          <p:cNvPr id="105" name="Image 27" descr="Documented"/>
          <p:cNvPicPr>
            <a:picLocks noChangeAspect="1"/>
          </p:cNvPicPr>
          <p:nvPr/>
        </p:nvPicPr>
        <p:blipFill>
          <a:blip r:embed="rId4"/>
          <a:stretch>
            <a:fillRect/>
          </a:stretch>
        </p:blipFill>
        <p:spPr>
          <a:xfrm>
            <a:off x="5705856" y="6848856"/>
            <a:ext cx="256032" cy="256032"/>
          </a:xfrm>
          <a:prstGeom prst="rect">
            <a:avLst/>
          </a:prstGeom>
        </p:spPr>
      </p:pic>
      <p:pic>
        <p:nvPicPr>
          <p:cNvPr id="106" name="Image 28" descr="Documented"/>
          <p:cNvPicPr>
            <a:picLocks noChangeAspect="1"/>
          </p:cNvPicPr>
          <p:nvPr/>
        </p:nvPicPr>
        <p:blipFill>
          <a:blip r:embed="rId4"/>
          <a:stretch>
            <a:fillRect/>
          </a:stretch>
        </p:blipFill>
        <p:spPr>
          <a:xfrm>
            <a:off x="6601968" y="6848856"/>
            <a:ext cx="256032" cy="256032"/>
          </a:xfrm>
          <a:prstGeom prst="rect">
            <a:avLst/>
          </a:prstGeom>
        </p:spPr>
      </p:pic>
      <p:pic>
        <p:nvPicPr>
          <p:cNvPr id="107" name="Image 29" descr="Not public"/>
          <p:cNvPicPr>
            <a:picLocks noChangeAspect="1"/>
          </p:cNvPicPr>
          <p:nvPr/>
        </p:nvPicPr>
        <p:blipFill>
          <a:blip r:embed="rId5"/>
          <a:stretch>
            <a:fillRect/>
          </a:stretch>
        </p:blipFill>
        <p:spPr>
          <a:xfrm>
            <a:off x="7534656" y="6885432"/>
            <a:ext cx="182880" cy="182880"/>
          </a:xfrm>
          <a:prstGeom prst="rect">
            <a:avLst/>
          </a:prstGeom>
        </p:spPr>
      </p:pic>
      <p:sp>
        <p:nvSpPr>
          <p:cNvPr id="108" name="Shape 76"/>
          <p:cNvSpPr/>
          <p:nvPr/>
        </p:nvSpPr>
        <p:spPr>
          <a:xfrm>
            <a:off x="8257032" y="6839712"/>
            <a:ext cx="676656" cy="274320"/>
          </a:xfrm>
          <a:prstGeom prst="roundRect">
            <a:avLst>
              <a:gd name="adj" fmla="val 26667"/>
            </a:avLst>
          </a:prstGeom>
          <a:solidFill>
            <a:srgbClr val="4B1248"/>
          </a:solidFill>
          <a:ln w="12700">
            <a:solidFill>
              <a:srgbClr val="4B1248"/>
            </a:solidFill>
            <a:prstDash val="solid"/>
          </a:ln>
        </p:spPr>
        <p:txBody>
          <a:bodyPr/>
          <a:p/>
        </p:txBody>
      </p:sp>
      <p:sp>
        <p:nvSpPr>
          <p:cNvPr id="109" name="Text 77"/>
          <p:cNvSpPr txBox="1"/>
          <p:nvPr/>
        </p:nvSpPr>
        <p:spPr>
          <a:xfrm>
            <a:off x="8257032" y="6839712"/>
            <a:ext cx="67665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10" name="Text 78"/>
          <p:cNvSpPr txBox="1"/>
          <p:nvPr/>
        </p:nvSpPr>
        <p:spPr>
          <a:xfrm>
            <a:off x="8988552" y="67482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home details</a:t>
            </a:r>
            <a:endParaRPr lang="en-US" sz="1050" dirty="0"/>
          </a:p>
        </p:txBody>
      </p:sp>
      <p:sp>
        <p:nvSpPr>
          <p:cNvPr id="111" name="Shape 79"/>
          <p:cNvSpPr/>
          <p:nvPr/>
        </p:nvSpPr>
        <p:spPr>
          <a:xfrm>
            <a:off x="9738360" y="68397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112" name="Text 80"/>
          <p:cNvSpPr txBox="1"/>
          <p:nvPr/>
        </p:nvSpPr>
        <p:spPr>
          <a:xfrm>
            <a:off x="9738360" y="68397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113" name="Text 81"/>
          <p:cNvSpPr txBox="1"/>
          <p:nvPr/>
        </p:nvSpPr>
        <p:spPr>
          <a:xfrm>
            <a:off x="10469880" y="67482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host decides</a:t>
            </a:r>
            <a:endParaRPr lang="en-US" sz="1050" dirty="0"/>
          </a:p>
        </p:txBody>
      </p:sp>
      <p:sp>
        <p:nvSpPr>
          <p:cNvPr id="114" name="Shape 82"/>
          <p:cNvSpPr/>
          <p:nvPr/>
        </p:nvSpPr>
        <p:spPr>
          <a:xfrm>
            <a:off x="11219688" y="6839712"/>
            <a:ext cx="676656" cy="274320"/>
          </a:xfrm>
          <a:prstGeom prst="roundRect">
            <a:avLst>
              <a:gd name="adj" fmla="val 26667"/>
            </a:avLst>
          </a:prstGeom>
          <a:solidFill>
            <a:srgbClr val="4B1248"/>
          </a:solidFill>
          <a:ln w="12700">
            <a:solidFill>
              <a:srgbClr val="4B1248"/>
            </a:solidFill>
            <a:prstDash val="solid"/>
          </a:ln>
        </p:spPr>
        <p:txBody>
          <a:bodyPr/>
          <a:p/>
        </p:txBody>
      </p:sp>
      <p:sp>
        <p:nvSpPr>
          <p:cNvPr id="115" name="Text 83"/>
          <p:cNvSpPr txBox="1"/>
          <p:nvPr/>
        </p:nvSpPr>
        <p:spPr>
          <a:xfrm>
            <a:off x="11219688" y="6839712"/>
            <a:ext cx="67665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16" name="Text 84"/>
          <p:cNvSpPr txBox="1"/>
          <p:nvPr/>
        </p:nvSpPr>
        <p:spPr>
          <a:xfrm>
            <a:off x="11951208" y="67482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every day</a:t>
            </a:r>
            <a:endParaRPr lang="en-US" sz="1050" dirty="0"/>
          </a:p>
        </p:txBody>
      </p:sp>
      <p:sp>
        <p:nvSpPr>
          <p:cNvPr id="117" name="Shape 85"/>
          <p:cNvSpPr/>
          <p:nvPr/>
        </p:nvSpPr>
        <p:spPr>
          <a:xfrm>
            <a:off x="12701016" y="68397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118" name="Text 86"/>
          <p:cNvSpPr txBox="1"/>
          <p:nvPr/>
        </p:nvSpPr>
        <p:spPr>
          <a:xfrm>
            <a:off x="12701016" y="68397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119" name="Text 87"/>
          <p:cNvSpPr txBox="1"/>
          <p:nvPr/>
        </p:nvSpPr>
        <p:spPr>
          <a:xfrm>
            <a:off x="13432536" y="67482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more bookings</a:t>
            </a:r>
            <a:endParaRPr lang="en-US" sz="1050" dirty="0"/>
          </a:p>
        </p:txBody>
      </p:sp>
      <p:sp>
        <p:nvSpPr>
          <p:cNvPr id="120" name="Shape 88"/>
          <p:cNvSpPr/>
          <p:nvPr/>
        </p:nvSpPr>
        <p:spPr>
          <a:xfrm>
            <a:off x="731520" y="7662672"/>
            <a:ext cx="13377672" cy="0"/>
          </a:xfrm>
          <a:prstGeom prst="line">
            <a:avLst/>
          </a:prstGeom>
          <a:noFill/>
          <a:ln w="9525">
            <a:solidFill>
              <a:srgbClr val="E3D5E6"/>
            </a:solidFill>
            <a:prstDash val="solid"/>
          </a:ln>
        </p:spPr>
        <p:txBody>
          <a:bodyPr/>
          <a:p/>
        </p:txBody>
      </p:sp>
      <p:sp>
        <p:nvSpPr>
          <p:cNvPr id="121" name="Text 89"/>
          <p:cNvSpPr txBox="1"/>
          <p:nvPr/>
        </p:nvSpPr>
        <p:spPr>
          <a:xfrm>
            <a:off x="868680" y="7205472"/>
            <a:ext cx="1828800" cy="457200"/>
          </a:xfrm>
          <a:prstGeom prst="rect">
            <a:avLst/>
          </a:prstGeom>
          <a:noFill/>
          <a:ln/>
        </p:spPr>
        <p:txBody>
          <a:bodyPr wrap="square" lIns="0" tIns="0" rIns="0" bIns="0" rtlCol="0" anchor="ctr"/>
          <a:lstStyle/>
          <a:p>
            <a:pPr marL="0" indent="0">
              <a:buNone/>
            </a:pPr>
            <a:r>
              <a:rPr lang="en-US" sz="1400" b="1" dirty="0">
                <a:solidFill>
                  <a:srgbClr val="2A0B2F"/>
                </a:solidFill>
                <a:latin typeface="Arial" pitchFamily="34" charset="0"/>
                <a:ea typeface="Arial" pitchFamily="34" charset="-122"/>
                <a:cs typeface="Arial" pitchFamily="34" charset="-120"/>
              </a:rPr>
              <a:t>Competera</a:t>
            </a:r>
            <a:r>
              <a:rPr lang="en-US" sz="1000" dirty="0">
                <a:solidFill>
                  <a:srgbClr val="67516B"/>
                </a:solidFill>
                <a:latin typeface="Arial" pitchFamily="34" charset="0"/>
                <a:ea typeface="Arial" pitchFamily="34" charset="-122"/>
                <a:cs typeface="Arial" pitchFamily="34" charset="-120"/>
              </a:rPr>
              <a:t> [7]</a:t>
            </a:r>
            <a:endParaRPr lang="en-US" sz="1400" dirty="0"/>
          </a:p>
        </p:txBody>
      </p:sp>
      <p:pic>
        <p:nvPicPr>
          <p:cNvPr id="122" name="Image 30" descr="Documented"/>
          <p:cNvPicPr>
            <a:picLocks noChangeAspect="1"/>
          </p:cNvPicPr>
          <p:nvPr/>
        </p:nvPicPr>
        <p:blipFill>
          <a:blip r:embed="rId4"/>
          <a:stretch>
            <a:fillRect/>
          </a:stretch>
        </p:blipFill>
        <p:spPr>
          <a:xfrm>
            <a:off x="3017520" y="7306056"/>
            <a:ext cx="256032" cy="256032"/>
          </a:xfrm>
          <a:prstGeom prst="rect">
            <a:avLst/>
          </a:prstGeom>
        </p:spPr>
      </p:pic>
      <p:pic>
        <p:nvPicPr>
          <p:cNvPr id="123" name="Image 31" descr="Not public"/>
          <p:cNvPicPr>
            <a:picLocks noChangeAspect="1"/>
          </p:cNvPicPr>
          <p:nvPr/>
        </p:nvPicPr>
        <p:blipFill>
          <a:blip r:embed="rId5"/>
          <a:stretch>
            <a:fillRect/>
          </a:stretch>
        </p:blipFill>
        <p:spPr>
          <a:xfrm>
            <a:off x="3950208" y="7342632"/>
            <a:ext cx="182880" cy="182880"/>
          </a:xfrm>
          <a:prstGeom prst="rect">
            <a:avLst/>
          </a:prstGeom>
        </p:spPr>
      </p:pic>
      <p:pic>
        <p:nvPicPr>
          <p:cNvPr id="124" name="Image 32" descr="Not public"/>
          <p:cNvPicPr>
            <a:picLocks noChangeAspect="1"/>
          </p:cNvPicPr>
          <p:nvPr/>
        </p:nvPicPr>
        <p:blipFill>
          <a:blip r:embed="rId5"/>
          <a:stretch>
            <a:fillRect/>
          </a:stretch>
        </p:blipFill>
        <p:spPr>
          <a:xfrm>
            <a:off x="4846320" y="7342632"/>
            <a:ext cx="182880" cy="182880"/>
          </a:xfrm>
          <a:prstGeom prst="rect">
            <a:avLst/>
          </a:prstGeom>
        </p:spPr>
      </p:pic>
      <p:pic>
        <p:nvPicPr>
          <p:cNvPr id="125" name="Image 33" descr="Documented"/>
          <p:cNvPicPr>
            <a:picLocks noChangeAspect="1"/>
          </p:cNvPicPr>
          <p:nvPr/>
        </p:nvPicPr>
        <p:blipFill>
          <a:blip r:embed="rId4"/>
          <a:stretch>
            <a:fillRect/>
          </a:stretch>
        </p:blipFill>
        <p:spPr>
          <a:xfrm>
            <a:off x="5705856" y="7306056"/>
            <a:ext cx="256032" cy="256032"/>
          </a:xfrm>
          <a:prstGeom prst="rect">
            <a:avLst/>
          </a:prstGeom>
        </p:spPr>
      </p:pic>
      <p:pic>
        <p:nvPicPr>
          <p:cNvPr id="126" name="Image 34" descr="Documented"/>
          <p:cNvPicPr>
            <a:picLocks noChangeAspect="1"/>
          </p:cNvPicPr>
          <p:nvPr/>
        </p:nvPicPr>
        <p:blipFill>
          <a:blip r:embed="rId4"/>
          <a:stretch>
            <a:fillRect/>
          </a:stretch>
        </p:blipFill>
        <p:spPr>
          <a:xfrm>
            <a:off x="6601968" y="7306056"/>
            <a:ext cx="256032" cy="256032"/>
          </a:xfrm>
          <a:prstGeom prst="rect">
            <a:avLst/>
          </a:prstGeom>
        </p:spPr>
      </p:pic>
      <p:pic>
        <p:nvPicPr>
          <p:cNvPr id="127" name="Image 35" descr="Partial"/>
          <p:cNvPicPr>
            <a:picLocks noChangeAspect="1"/>
          </p:cNvPicPr>
          <p:nvPr/>
        </p:nvPicPr>
        <p:blipFill>
          <a:blip r:embed="rId6"/>
          <a:stretch>
            <a:fillRect/>
          </a:stretch>
        </p:blipFill>
        <p:spPr>
          <a:xfrm>
            <a:off x="7498080" y="7306056"/>
            <a:ext cx="256032" cy="256032"/>
          </a:xfrm>
          <a:prstGeom prst="rect">
            <a:avLst/>
          </a:prstGeom>
        </p:spPr>
      </p:pic>
      <p:sp>
        <p:nvSpPr>
          <p:cNvPr id="128" name="Shape 90"/>
          <p:cNvSpPr/>
          <p:nvPr/>
        </p:nvSpPr>
        <p:spPr>
          <a:xfrm>
            <a:off x="8257032" y="7296912"/>
            <a:ext cx="676656" cy="274320"/>
          </a:xfrm>
          <a:prstGeom prst="roundRect">
            <a:avLst>
              <a:gd name="adj" fmla="val 26667"/>
            </a:avLst>
          </a:prstGeom>
          <a:solidFill>
            <a:srgbClr val="E9E3EB"/>
          </a:solidFill>
          <a:ln w="12700">
            <a:solidFill>
              <a:srgbClr val="E9E3EB"/>
            </a:solidFill>
            <a:prstDash val="solid"/>
          </a:ln>
        </p:spPr>
        <p:txBody>
          <a:bodyPr/>
          <a:p/>
        </p:txBody>
      </p:sp>
      <p:sp>
        <p:nvSpPr>
          <p:cNvPr id="129" name="Text 91"/>
          <p:cNvSpPr txBox="1"/>
          <p:nvPr/>
        </p:nvSpPr>
        <p:spPr>
          <a:xfrm>
            <a:off x="8257032" y="7296912"/>
            <a:ext cx="676656" cy="274320"/>
          </a:xfrm>
          <a:prstGeom prst="rect">
            <a:avLst/>
          </a:prstGeom>
          <a:noFill/>
          <a:ln/>
        </p:spPr>
        <p:txBody>
          <a:bodyPr wrap="square" lIns="0" tIns="0" rIns="0" bIns="0" rtlCol="0" anchor="ctr"/>
          <a:lstStyle/>
          <a:p>
            <a:pPr marL="0" indent="0" algn="ctr">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130" name="Text 92"/>
          <p:cNvSpPr txBox="1"/>
          <p:nvPr/>
        </p:nvSpPr>
        <p:spPr>
          <a:xfrm>
            <a:off x="8988552" y="7205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needs history</a:t>
            </a:r>
            <a:endParaRPr lang="en-US" sz="1050" dirty="0"/>
          </a:p>
        </p:txBody>
      </p:sp>
      <p:sp>
        <p:nvSpPr>
          <p:cNvPr id="131" name="Shape 93"/>
          <p:cNvSpPr/>
          <p:nvPr/>
        </p:nvSpPr>
        <p:spPr>
          <a:xfrm>
            <a:off x="9738360" y="72969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132" name="Text 94"/>
          <p:cNvSpPr txBox="1"/>
          <p:nvPr/>
        </p:nvSpPr>
        <p:spPr>
          <a:xfrm>
            <a:off x="9738360" y="72969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133" name="Text 95"/>
          <p:cNvSpPr txBox="1"/>
          <p:nvPr/>
        </p:nvSpPr>
        <p:spPr>
          <a:xfrm>
            <a:off x="10469880" y="7205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store's costs</a:t>
            </a:r>
            <a:endParaRPr lang="en-US" sz="1050" dirty="0"/>
          </a:p>
        </p:txBody>
      </p:sp>
      <p:sp>
        <p:nvSpPr>
          <p:cNvPr id="134" name="Shape 96"/>
          <p:cNvSpPr/>
          <p:nvPr/>
        </p:nvSpPr>
        <p:spPr>
          <a:xfrm>
            <a:off x="11219688" y="7296912"/>
            <a:ext cx="676656" cy="274320"/>
          </a:xfrm>
          <a:prstGeom prst="roundRect">
            <a:avLst>
              <a:gd name="adj" fmla="val 26667"/>
            </a:avLst>
          </a:prstGeom>
          <a:solidFill>
            <a:srgbClr val="4B1248"/>
          </a:solidFill>
          <a:ln w="12700">
            <a:solidFill>
              <a:srgbClr val="4B1248"/>
            </a:solidFill>
            <a:prstDash val="solid"/>
          </a:ln>
        </p:spPr>
        <p:txBody>
          <a:bodyPr/>
          <a:p/>
        </p:txBody>
      </p:sp>
      <p:sp>
        <p:nvSpPr>
          <p:cNvPr id="135" name="Text 97"/>
          <p:cNvSpPr txBox="1"/>
          <p:nvPr/>
        </p:nvSpPr>
        <p:spPr>
          <a:xfrm>
            <a:off x="11219688" y="7296912"/>
            <a:ext cx="67665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36" name="Text 98"/>
          <p:cNvSpPr txBox="1"/>
          <p:nvPr/>
        </p:nvSpPr>
        <p:spPr>
          <a:xfrm>
            <a:off x="11951208" y="7205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all the time</a:t>
            </a:r>
            <a:endParaRPr lang="en-US" sz="1050" dirty="0"/>
          </a:p>
        </p:txBody>
      </p:sp>
      <p:sp>
        <p:nvSpPr>
          <p:cNvPr id="137" name="Shape 99"/>
          <p:cNvSpPr/>
          <p:nvPr/>
        </p:nvSpPr>
        <p:spPr>
          <a:xfrm>
            <a:off x="12701016" y="7296912"/>
            <a:ext cx="676656" cy="274320"/>
          </a:xfrm>
          <a:prstGeom prst="roundRect">
            <a:avLst>
              <a:gd name="adj" fmla="val 26667"/>
            </a:avLst>
          </a:prstGeom>
          <a:solidFill>
            <a:srgbClr val="4B1248"/>
          </a:solidFill>
          <a:ln w="12700">
            <a:solidFill>
              <a:srgbClr val="4B1248"/>
            </a:solidFill>
            <a:prstDash val="solid"/>
          </a:ln>
        </p:spPr>
        <p:txBody>
          <a:bodyPr/>
          <a:p/>
        </p:txBody>
      </p:sp>
      <p:sp>
        <p:nvSpPr>
          <p:cNvPr id="138" name="Text 100"/>
          <p:cNvSpPr txBox="1"/>
          <p:nvPr/>
        </p:nvSpPr>
        <p:spPr>
          <a:xfrm>
            <a:off x="12701016" y="7296912"/>
            <a:ext cx="67665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39" name="Text 101"/>
          <p:cNvSpPr txBox="1"/>
          <p:nvPr/>
        </p:nvSpPr>
        <p:spPr>
          <a:xfrm>
            <a:off x="13432536" y="72054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store's profit</a:t>
            </a:r>
            <a:endParaRPr lang="en-US" sz="1050" dirty="0"/>
          </a:p>
        </p:txBody>
      </p:sp>
      <p:sp>
        <p:nvSpPr>
          <p:cNvPr id="140" name="Shape 102"/>
          <p:cNvSpPr/>
          <p:nvPr/>
        </p:nvSpPr>
        <p:spPr>
          <a:xfrm>
            <a:off x="731520" y="7662672"/>
            <a:ext cx="13377672" cy="457200"/>
          </a:xfrm>
          <a:prstGeom prst="rect">
            <a:avLst/>
          </a:prstGeom>
          <a:solidFill>
            <a:srgbClr val="FFF4D6"/>
          </a:solidFill>
          <a:ln w="12700">
            <a:solidFill>
              <a:srgbClr val="FFF4D6"/>
            </a:solidFill>
            <a:prstDash val="solid"/>
          </a:ln>
        </p:spPr>
        <p:txBody>
          <a:bodyPr/>
          <a:p/>
        </p:txBody>
      </p:sp>
      <p:sp>
        <p:nvSpPr>
          <p:cNvPr id="141" name="Text 103"/>
          <p:cNvSpPr txBox="1"/>
          <p:nvPr/>
        </p:nvSpPr>
        <p:spPr>
          <a:xfrm>
            <a:off x="868680" y="7662672"/>
            <a:ext cx="1828800" cy="457200"/>
          </a:xfrm>
          <a:prstGeom prst="rect">
            <a:avLst/>
          </a:prstGeom>
          <a:noFill/>
          <a:ln/>
        </p:spPr>
        <p:txBody>
          <a:bodyPr wrap="square" lIns="0" tIns="0" rIns="0" bIns="0" rtlCol="0" anchor="ctr"/>
          <a:lstStyle/>
          <a:p>
            <a:pPr marL="0" indent="0">
              <a:buNone/>
            </a:pPr>
            <a:r>
              <a:rPr lang="en-US" sz="1400" b="1" dirty="0">
                <a:solidFill>
                  <a:srgbClr val="2A0B2F"/>
                </a:solidFill>
                <a:latin typeface="Arial" pitchFamily="34" charset="0"/>
                <a:ea typeface="Arial" pitchFamily="34" charset="-122"/>
                <a:cs typeface="Arial" pitchFamily="34" charset="-120"/>
              </a:rPr>
              <a:t>Meesho today</a:t>
            </a:r>
            <a:r>
              <a:rPr lang="en-US" sz="1000" dirty="0">
                <a:solidFill>
                  <a:srgbClr val="67516B"/>
                </a:solidFill>
                <a:latin typeface="Arial" pitchFamily="34" charset="0"/>
                <a:ea typeface="Arial" pitchFamily="34" charset="-122"/>
                <a:cs typeface="Arial" pitchFamily="34" charset="-120"/>
              </a:rPr>
              <a:t> [2]</a:t>
            </a:r>
            <a:endParaRPr lang="en-US" sz="1400" dirty="0"/>
          </a:p>
        </p:txBody>
      </p:sp>
      <p:pic>
        <p:nvPicPr>
          <p:cNvPr id="142" name="Image 36" descr="Not public"/>
          <p:cNvPicPr>
            <a:picLocks noChangeAspect="1"/>
          </p:cNvPicPr>
          <p:nvPr/>
        </p:nvPicPr>
        <p:blipFill>
          <a:blip r:embed="rId5"/>
          <a:stretch>
            <a:fillRect/>
          </a:stretch>
        </p:blipFill>
        <p:spPr>
          <a:xfrm>
            <a:off x="3054096" y="7799832"/>
            <a:ext cx="182880" cy="182880"/>
          </a:xfrm>
          <a:prstGeom prst="rect">
            <a:avLst/>
          </a:prstGeom>
        </p:spPr>
      </p:pic>
      <p:pic>
        <p:nvPicPr>
          <p:cNvPr id="143" name="Image 37" descr="Documented"/>
          <p:cNvPicPr>
            <a:picLocks noChangeAspect="1"/>
          </p:cNvPicPr>
          <p:nvPr/>
        </p:nvPicPr>
        <p:blipFill>
          <a:blip r:embed="rId4"/>
          <a:stretch>
            <a:fillRect/>
          </a:stretch>
        </p:blipFill>
        <p:spPr>
          <a:xfrm>
            <a:off x="3913632" y="7763256"/>
            <a:ext cx="256032" cy="256032"/>
          </a:xfrm>
          <a:prstGeom prst="rect">
            <a:avLst/>
          </a:prstGeom>
        </p:spPr>
      </p:pic>
      <p:pic>
        <p:nvPicPr>
          <p:cNvPr id="144" name="Image 38" descr="Documented"/>
          <p:cNvPicPr>
            <a:picLocks noChangeAspect="1"/>
          </p:cNvPicPr>
          <p:nvPr/>
        </p:nvPicPr>
        <p:blipFill>
          <a:blip r:embed="rId4"/>
          <a:stretch>
            <a:fillRect/>
          </a:stretch>
        </p:blipFill>
        <p:spPr>
          <a:xfrm>
            <a:off x="4809744" y="7763256"/>
            <a:ext cx="256032" cy="256032"/>
          </a:xfrm>
          <a:prstGeom prst="rect">
            <a:avLst/>
          </a:prstGeom>
        </p:spPr>
      </p:pic>
      <p:pic>
        <p:nvPicPr>
          <p:cNvPr id="145" name="Image 39" descr="Partial"/>
          <p:cNvPicPr>
            <a:picLocks noChangeAspect="1"/>
          </p:cNvPicPr>
          <p:nvPr/>
        </p:nvPicPr>
        <p:blipFill>
          <a:blip r:embed="rId6"/>
          <a:stretch>
            <a:fillRect/>
          </a:stretch>
        </p:blipFill>
        <p:spPr>
          <a:xfrm>
            <a:off x="5705856" y="7763256"/>
            <a:ext cx="256032" cy="256032"/>
          </a:xfrm>
          <a:prstGeom prst="rect">
            <a:avLst/>
          </a:prstGeom>
        </p:spPr>
      </p:pic>
      <p:pic>
        <p:nvPicPr>
          <p:cNvPr id="146" name="Image 40" descr="Partial"/>
          <p:cNvPicPr>
            <a:picLocks noChangeAspect="1"/>
          </p:cNvPicPr>
          <p:nvPr/>
        </p:nvPicPr>
        <p:blipFill>
          <a:blip r:embed="rId6"/>
          <a:stretch>
            <a:fillRect/>
          </a:stretch>
        </p:blipFill>
        <p:spPr>
          <a:xfrm>
            <a:off x="6601968" y="7763256"/>
            <a:ext cx="256032" cy="256032"/>
          </a:xfrm>
          <a:prstGeom prst="rect">
            <a:avLst/>
          </a:prstGeom>
        </p:spPr>
      </p:pic>
      <p:pic>
        <p:nvPicPr>
          <p:cNvPr id="147" name="Image 41" descr="Partial"/>
          <p:cNvPicPr>
            <a:picLocks noChangeAspect="1"/>
          </p:cNvPicPr>
          <p:nvPr/>
        </p:nvPicPr>
        <p:blipFill>
          <a:blip r:embed="rId6"/>
          <a:stretch>
            <a:fillRect/>
          </a:stretch>
        </p:blipFill>
        <p:spPr>
          <a:xfrm>
            <a:off x="7498080" y="7763256"/>
            <a:ext cx="256032" cy="256032"/>
          </a:xfrm>
          <a:prstGeom prst="rect">
            <a:avLst/>
          </a:prstGeom>
        </p:spPr>
      </p:pic>
      <p:sp>
        <p:nvSpPr>
          <p:cNvPr id="148" name="Shape 104"/>
          <p:cNvSpPr/>
          <p:nvPr/>
        </p:nvSpPr>
        <p:spPr>
          <a:xfrm>
            <a:off x="8257032" y="7754112"/>
            <a:ext cx="676656" cy="274320"/>
          </a:xfrm>
          <a:prstGeom prst="roundRect">
            <a:avLst>
              <a:gd name="adj" fmla="val 26667"/>
            </a:avLst>
          </a:prstGeom>
          <a:solidFill>
            <a:srgbClr val="4B1248"/>
          </a:solidFill>
          <a:ln w="12700">
            <a:solidFill>
              <a:srgbClr val="4B1248"/>
            </a:solidFill>
            <a:prstDash val="solid"/>
          </a:ln>
        </p:spPr>
        <p:txBody>
          <a:bodyPr/>
          <a:p/>
        </p:txBody>
      </p:sp>
      <p:sp>
        <p:nvSpPr>
          <p:cNvPr id="149" name="Text 105"/>
          <p:cNvSpPr txBox="1"/>
          <p:nvPr/>
        </p:nvSpPr>
        <p:spPr>
          <a:xfrm>
            <a:off x="8257032" y="7754112"/>
            <a:ext cx="67665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50" name="Text 106"/>
          <p:cNvSpPr txBox="1"/>
          <p:nvPr/>
        </p:nvSpPr>
        <p:spPr>
          <a:xfrm>
            <a:off x="8988552" y="7662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if matches exist</a:t>
            </a:r>
            <a:endParaRPr lang="en-US" sz="1050" dirty="0"/>
          </a:p>
        </p:txBody>
      </p:sp>
      <p:sp>
        <p:nvSpPr>
          <p:cNvPr id="151" name="Shape 107"/>
          <p:cNvSpPr/>
          <p:nvPr/>
        </p:nvSpPr>
        <p:spPr>
          <a:xfrm>
            <a:off x="9738360" y="77541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152" name="Text 108"/>
          <p:cNvSpPr txBox="1"/>
          <p:nvPr/>
        </p:nvSpPr>
        <p:spPr>
          <a:xfrm>
            <a:off x="9738360" y="77541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153" name="Text 109"/>
          <p:cNvSpPr txBox="1"/>
          <p:nvPr/>
        </p:nvSpPr>
        <p:spPr>
          <a:xfrm>
            <a:off x="10469880" y="7662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logistics only</a:t>
            </a:r>
            <a:endParaRPr lang="en-US" sz="1050" dirty="0"/>
          </a:p>
        </p:txBody>
      </p:sp>
      <p:sp>
        <p:nvSpPr>
          <p:cNvPr id="154" name="Shape 110"/>
          <p:cNvSpPr/>
          <p:nvPr/>
        </p:nvSpPr>
        <p:spPr>
          <a:xfrm>
            <a:off x="11219688" y="77541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155" name="Text 111"/>
          <p:cNvSpPr txBox="1"/>
          <p:nvPr/>
        </p:nvSpPr>
        <p:spPr>
          <a:xfrm>
            <a:off x="11219688" y="77541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156" name="Text 112"/>
          <p:cNvSpPr txBox="1"/>
          <p:nvPr/>
        </p:nvSpPr>
        <p:spPr>
          <a:xfrm>
            <a:off x="11951208" y="7662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sorts by sales</a:t>
            </a:r>
            <a:endParaRPr lang="en-US" sz="1050" dirty="0"/>
          </a:p>
        </p:txBody>
      </p:sp>
      <p:sp>
        <p:nvSpPr>
          <p:cNvPr id="157" name="Shape 113"/>
          <p:cNvSpPr/>
          <p:nvPr/>
        </p:nvSpPr>
        <p:spPr>
          <a:xfrm>
            <a:off x="12701016" y="7754112"/>
            <a:ext cx="676656" cy="274320"/>
          </a:xfrm>
          <a:prstGeom prst="roundRect">
            <a:avLst>
              <a:gd name="adj" fmla="val 26667"/>
            </a:avLst>
          </a:prstGeom>
          <a:solidFill>
            <a:srgbClr val="F9DDB0"/>
          </a:solidFill>
          <a:ln w="12700">
            <a:solidFill>
              <a:srgbClr val="F9DDB0"/>
            </a:solidFill>
            <a:prstDash val="solid"/>
          </a:ln>
        </p:spPr>
        <p:txBody>
          <a:bodyPr/>
          <a:p/>
        </p:txBody>
      </p:sp>
      <p:sp>
        <p:nvSpPr>
          <p:cNvPr id="158" name="Text 114"/>
          <p:cNvSpPr txBox="1"/>
          <p:nvPr/>
        </p:nvSpPr>
        <p:spPr>
          <a:xfrm>
            <a:off x="12701016" y="7754112"/>
            <a:ext cx="676656" cy="274320"/>
          </a:xfrm>
          <a:prstGeom prst="rect">
            <a:avLst/>
          </a:prstGeom>
          <a:noFill/>
          <a:ln/>
        </p:spPr>
        <p:txBody>
          <a:bodyPr wrap="square" lIns="0" tIns="0" rIns="0" bIns="0" rtlCol="0" anchor="ctr"/>
          <a:lstStyle/>
          <a:p>
            <a:pPr marL="0" indent="0" algn="ctr">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159" name="Text 115"/>
          <p:cNvSpPr txBox="1"/>
          <p:nvPr/>
        </p:nvSpPr>
        <p:spPr>
          <a:xfrm>
            <a:off x="13432536" y="7662672"/>
            <a:ext cx="658368" cy="457200"/>
          </a:xfrm>
          <a:prstGeom prst="rect">
            <a:avLst/>
          </a:prstGeom>
          <a:noFill/>
          <a:ln/>
        </p:spPr>
        <p:txBody>
          <a:bodyPr wrap="square" lIns="0" tIns="0" rIns="0" bIns="0" rtlCol="0" anchor="ctr"/>
          <a:lstStyle/>
          <a:p>
            <a:pPr marL="0" indent="0">
              <a:buNone/>
            </a:pPr>
            <a:r>
              <a:rPr lang="en-US" sz="1050" dirty="0">
                <a:solidFill>
                  <a:srgbClr val="67516B"/>
                </a:solidFill>
                <a:latin typeface="Arial" pitchFamily="34" charset="0"/>
                <a:ea typeface="Arial" pitchFamily="34" charset="-122"/>
                <a:cs typeface="Arial" pitchFamily="34" charset="-120"/>
              </a:rPr>
              <a:t>sales + margin</a:t>
            </a:r>
            <a:endParaRPr lang="en-US" sz="1050" dirty="0"/>
          </a:p>
        </p:txBody>
      </p:sp>
      <p:sp>
        <p:nvSpPr>
          <p:cNvPr id="160" name="Shape 116"/>
          <p:cNvSpPr/>
          <p:nvPr/>
        </p:nvSpPr>
        <p:spPr>
          <a:xfrm>
            <a:off x="731520" y="8119872"/>
            <a:ext cx="13377672" cy="457200"/>
          </a:xfrm>
          <a:prstGeom prst="rect">
            <a:avLst/>
          </a:prstGeom>
          <a:solidFill>
            <a:srgbClr val="4B1248"/>
          </a:solidFill>
          <a:ln w="12700">
            <a:solidFill>
              <a:srgbClr val="4B1248"/>
            </a:solidFill>
            <a:prstDash val="solid"/>
          </a:ln>
        </p:spPr>
        <p:txBody>
          <a:bodyPr/>
          <a:p/>
        </p:txBody>
      </p:sp>
      <p:sp>
        <p:nvSpPr>
          <p:cNvPr id="161" name="Text 117"/>
          <p:cNvSpPr txBox="1"/>
          <p:nvPr/>
        </p:nvSpPr>
        <p:spPr>
          <a:xfrm>
            <a:off x="868680" y="8119872"/>
            <a:ext cx="1828800" cy="45720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Price Confidence</a:t>
            </a:r>
            <a:endParaRPr lang="en-US" sz="1400" dirty="0"/>
          </a:p>
        </p:txBody>
      </p:sp>
      <p:pic>
        <p:nvPicPr>
          <p:cNvPr id="162" name="Image 42" descr="Documented"/>
          <p:cNvPicPr>
            <a:picLocks noChangeAspect="1"/>
          </p:cNvPicPr>
          <p:nvPr/>
        </p:nvPicPr>
        <p:blipFill>
          <a:blip r:embed="rId7"/>
          <a:stretch>
            <a:fillRect/>
          </a:stretch>
        </p:blipFill>
        <p:spPr>
          <a:xfrm>
            <a:off x="3017520" y="8220456"/>
            <a:ext cx="256032" cy="256032"/>
          </a:xfrm>
          <a:prstGeom prst="rect">
            <a:avLst/>
          </a:prstGeom>
        </p:spPr>
      </p:pic>
      <p:pic>
        <p:nvPicPr>
          <p:cNvPr id="163" name="Image 43" descr="Partial"/>
          <p:cNvPicPr>
            <a:picLocks noChangeAspect="1"/>
          </p:cNvPicPr>
          <p:nvPr/>
        </p:nvPicPr>
        <p:blipFill>
          <a:blip r:embed="rId8"/>
          <a:stretch>
            <a:fillRect/>
          </a:stretch>
        </p:blipFill>
        <p:spPr>
          <a:xfrm>
            <a:off x="3913632" y="8220456"/>
            <a:ext cx="256032" cy="256032"/>
          </a:xfrm>
          <a:prstGeom prst="rect">
            <a:avLst/>
          </a:prstGeom>
        </p:spPr>
      </p:pic>
      <p:pic>
        <p:nvPicPr>
          <p:cNvPr id="164" name="Image 44" descr="Partial"/>
          <p:cNvPicPr>
            <a:picLocks noChangeAspect="1"/>
          </p:cNvPicPr>
          <p:nvPr/>
        </p:nvPicPr>
        <p:blipFill>
          <a:blip r:embed="rId8"/>
          <a:stretch>
            <a:fillRect/>
          </a:stretch>
        </p:blipFill>
        <p:spPr>
          <a:xfrm>
            <a:off x="4809744" y="8220456"/>
            <a:ext cx="256032" cy="256032"/>
          </a:xfrm>
          <a:prstGeom prst="rect">
            <a:avLst/>
          </a:prstGeom>
        </p:spPr>
      </p:pic>
      <p:pic>
        <p:nvPicPr>
          <p:cNvPr id="165" name="Image 45" descr="Documented"/>
          <p:cNvPicPr>
            <a:picLocks noChangeAspect="1"/>
          </p:cNvPicPr>
          <p:nvPr/>
        </p:nvPicPr>
        <p:blipFill>
          <a:blip r:embed="rId7"/>
          <a:stretch>
            <a:fillRect/>
          </a:stretch>
        </p:blipFill>
        <p:spPr>
          <a:xfrm>
            <a:off x="5705856" y="8220456"/>
            <a:ext cx="256032" cy="256032"/>
          </a:xfrm>
          <a:prstGeom prst="rect">
            <a:avLst/>
          </a:prstGeom>
        </p:spPr>
      </p:pic>
      <p:pic>
        <p:nvPicPr>
          <p:cNvPr id="166" name="Image 46" descr="Partial"/>
          <p:cNvPicPr>
            <a:picLocks noChangeAspect="1"/>
          </p:cNvPicPr>
          <p:nvPr/>
        </p:nvPicPr>
        <p:blipFill>
          <a:blip r:embed="rId8"/>
          <a:stretch>
            <a:fillRect/>
          </a:stretch>
        </p:blipFill>
        <p:spPr>
          <a:xfrm>
            <a:off x="6601968" y="8220456"/>
            <a:ext cx="256032" cy="256032"/>
          </a:xfrm>
          <a:prstGeom prst="rect">
            <a:avLst/>
          </a:prstGeom>
        </p:spPr>
      </p:pic>
      <p:pic>
        <p:nvPicPr>
          <p:cNvPr id="167" name="Image 47" descr="Documented"/>
          <p:cNvPicPr>
            <a:picLocks noChangeAspect="1"/>
          </p:cNvPicPr>
          <p:nvPr/>
        </p:nvPicPr>
        <p:blipFill>
          <a:blip r:embed="rId7"/>
          <a:stretch>
            <a:fillRect/>
          </a:stretch>
        </p:blipFill>
        <p:spPr>
          <a:xfrm>
            <a:off x="7498080" y="8220456"/>
            <a:ext cx="256032" cy="256032"/>
          </a:xfrm>
          <a:prstGeom prst="rect">
            <a:avLst/>
          </a:prstGeom>
        </p:spPr>
      </p:pic>
      <p:sp>
        <p:nvSpPr>
          <p:cNvPr id="168" name="Shape 118"/>
          <p:cNvSpPr/>
          <p:nvPr/>
        </p:nvSpPr>
        <p:spPr>
          <a:xfrm>
            <a:off x="8257032" y="8211312"/>
            <a:ext cx="676656" cy="274320"/>
          </a:xfrm>
          <a:prstGeom prst="roundRect">
            <a:avLst>
              <a:gd name="adj" fmla="val 26667"/>
            </a:avLst>
          </a:prstGeom>
          <a:solidFill>
            <a:srgbClr val="FFFFFF"/>
          </a:solidFill>
          <a:ln w="12700">
            <a:solidFill>
              <a:srgbClr val="FFFFFF"/>
            </a:solidFill>
            <a:prstDash val="solid"/>
          </a:ln>
        </p:spPr>
        <p:txBody>
          <a:bodyPr/>
          <a:p/>
        </p:txBody>
      </p:sp>
      <p:sp>
        <p:nvSpPr>
          <p:cNvPr id="169" name="Text 119"/>
          <p:cNvSpPr txBox="1"/>
          <p:nvPr/>
        </p:nvSpPr>
        <p:spPr>
          <a:xfrm>
            <a:off x="8257032" y="8211312"/>
            <a:ext cx="676656" cy="274320"/>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0" name="Text 120"/>
          <p:cNvSpPr txBox="1"/>
          <p:nvPr/>
        </p:nvSpPr>
        <p:spPr>
          <a:xfrm>
            <a:off x="8988552" y="8119872"/>
            <a:ext cx="658368" cy="457200"/>
          </a:xfrm>
          <a:prstGeom prst="rect">
            <a:avLst/>
          </a:prstGeom>
          <a:noFill/>
          <a:ln/>
        </p:spPr>
        <p:txBody>
          <a:bodyPr wrap="square" lIns="0" tIns="0" rIns="0" bIns="0" rtlCol="0" anchor="ctr"/>
          <a:lstStyle/>
          <a:p>
            <a:pPr marL="0" indent="0">
              <a:buNone/>
            </a:pPr>
            <a:r>
              <a:rPr lang="en-US" sz="1050" dirty="0">
                <a:solidFill>
                  <a:srgbClr val="F7C6DC"/>
                </a:solidFill>
                <a:latin typeface="Arial" pitchFamily="34" charset="0"/>
                <a:ea typeface="Arial" pitchFamily="34" charset="-122"/>
                <a:cs typeface="Arial" pitchFamily="34" charset="-120"/>
              </a:rPr>
              <a:t>cost + market</a:t>
            </a:r>
            <a:endParaRPr lang="en-US" sz="1050" dirty="0"/>
          </a:p>
        </p:txBody>
      </p:sp>
      <p:sp>
        <p:nvSpPr>
          <p:cNvPr id="171" name="Shape 121"/>
          <p:cNvSpPr/>
          <p:nvPr/>
        </p:nvSpPr>
        <p:spPr>
          <a:xfrm>
            <a:off x="9738360" y="8211312"/>
            <a:ext cx="676656" cy="274320"/>
          </a:xfrm>
          <a:prstGeom prst="roundRect">
            <a:avLst>
              <a:gd name="adj" fmla="val 26667"/>
            </a:avLst>
          </a:prstGeom>
          <a:solidFill>
            <a:srgbClr val="FFFFFF"/>
          </a:solidFill>
          <a:ln w="12700">
            <a:solidFill>
              <a:srgbClr val="FFFFFF"/>
            </a:solidFill>
            <a:prstDash val="solid"/>
          </a:ln>
        </p:spPr>
        <p:txBody>
          <a:bodyPr/>
          <a:p/>
        </p:txBody>
      </p:sp>
      <p:sp>
        <p:nvSpPr>
          <p:cNvPr id="172" name="Text 122"/>
          <p:cNvSpPr txBox="1"/>
          <p:nvPr/>
        </p:nvSpPr>
        <p:spPr>
          <a:xfrm>
            <a:off x="9738360" y="8211312"/>
            <a:ext cx="676656" cy="274320"/>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3" name="Text 123"/>
          <p:cNvSpPr txBox="1"/>
          <p:nvPr/>
        </p:nvSpPr>
        <p:spPr>
          <a:xfrm>
            <a:off x="10469880" y="8119872"/>
            <a:ext cx="658368" cy="457200"/>
          </a:xfrm>
          <a:prstGeom prst="rect">
            <a:avLst/>
          </a:prstGeom>
          <a:noFill/>
          <a:ln/>
        </p:spPr>
        <p:txBody>
          <a:bodyPr wrap="square" lIns="0" tIns="0" rIns="0" bIns="0" rtlCol="0" anchor="ctr"/>
          <a:lstStyle/>
          <a:p>
            <a:pPr marL="0" indent="0">
              <a:buNone/>
            </a:pPr>
            <a:r>
              <a:rPr lang="en-US" sz="1050" dirty="0">
                <a:solidFill>
                  <a:srgbClr val="F7C6DC"/>
                </a:solidFill>
                <a:latin typeface="Arial" pitchFamily="34" charset="0"/>
                <a:ea typeface="Arial" pitchFamily="34" charset="-122"/>
                <a:cs typeface="Arial" pitchFamily="34" charset="-120"/>
              </a:rPr>
              <a:t>all three</a:t>
            </a:r>
            <a:endParaRPr lang="en-US" sz="1050" dirty="0"/>
          </a:p>
        </p:txBody>
      </p:sp>
      <p:sp>
        <p:nvSpPr>
          <p:cNvPr id="174" name="Shape 124"/>
          <p:cNvSpPr/>
          <p:nvPr/>
        </p:nvSpPr>
        <p:spPr>
          <a:xfrm>
            <a:off x="11219688" y="8211312"/>
            <a:ext cx="676656" cy="274320"/>
          </a:xfrm>
          <a:prstGeom prst="roundRect">
            <a:avLst>
              <a:gd name="adj" fmla="val 26667"/>
            </a:avLst>
          </a:prstGeom>
          <a:solidFill>
            <a:srgbClr val="FFFFFF"/>
          </a:solidFill>
          <a:ln w="12700">
            <a:solidFill>
              <a:srgbClr val="FFFFFF"/>
            </a:solidFill>
            <a:prstDash val="solid"/>
          </a:ln>
        </p:spPr>
        <p:txBody>
          <a:bodyPr/>
          <a:p/>
        </p:txBody>
      </p:sp>
      <p:sp>
        <p:nvSpPr>
          <p:cNvPr id="175" name="Text 125"/>
          <p:cNvSpPr txBox="1"/>
          <p:nvPr/>
        </p:nvSpPr>
        <p:spPr>
          <a:xfrm>
            <a:off x="11219688" y="8211312"/>
            <a:ext cx="676656" cy="274320"/>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6" name="Text 126"/>
          <p:cNvSpPr txBox="1"/>
          <p:nvPr/>
        </p:nvSpPr>
        <p:spPr>
          <a:xfrm>
            <a:off x="11951208" y="8119872"/>
            <a:ext cx="658368" cy="457200"/>
          </a:xfrm>
          <a:prstGeom prst="rect">
            <a:avLst/>
          </a:prstGeom>
          <a:noFill/>
          <a:ln/>
        </p:spPr>
        <p:txBody>
          <a:bodyPr wrap="square" lIns="0" tIns="0" rIns="0" bIns="0" rtlCol="0" anchor="ctr"/>
          <a:lstStyle/>
          <a:p>
            <a:pPr marL="0" indent="0">
              <a:buNone/>
            </a:pPr>
            <a:r>
              <a:rPr lang="en-US" sz="1050" dirty="0">
                <a:solidFill>
                  <a:srgbClr val="F7C6DC"/>
                </a:solidFill>
                <a:latin typeface="Arial" pitchFamily="34" charset="0"/>
                <a:ea typeface="Arial" pitchFamily="34" charset="-122"/>
                <a:cs typeface="Arial" pitchFamily="34" charset="-120"/>
              </a:rPr>
              <a:t>up or down + why</a:t>
            </a:r>
            <a:endParaRPr lang="en-US" sz="1050" dirty="0"/>
          </a:p>
        </p:txBody>
      </p:sp>
      <p:sp>
        <p:nvSpPr>
          <p:cNvPr id="177" name="Shape 127"/>
          <p:cNvSpPr/>
          <p:nvPr/>
        </p:nvSpPr>
        <p:spPr>
          <a:xfrm>
            <a:off x="12701016" y="8211312"/>
            <a:ext cx="676656" cy="274320"/>
          </a:xfrm>
          <a:prstGeom prst="roundRect">
            <a:avLst>
              <a:gd name="adj" fmla="val 26667"/>
            </a:avLst>
          </a:prstGeom>
          <a:solidFill>
            <a:srgbClr val="FFFFFF"/>
          </a:solidFill>
          <a:ln w="12700">
            <a:solidFill>
              <a:srgbClr val="FFFFFF"/>
            </a:solidFill>
            <a:prstDash val="solid"/>
          </a:ln>
        </p:spPr>
        <p:txBody>
          <a:bodyPr/>
          <a:p/>
        </p:txBody>
      </p:sp>
      <p:sp>
        <p:nvSpPr>
          <p:cNvPr id="178" name="Text 128"/>
          <p:cNvSpPr txBox="1"/>
          <p:nvPr/>
        </p:nvSpPr>
        <p:spPr>
          <a:xfrm>
            <a:off x="12701016" y="8211312"/>
            <a:ext cx="676656" cy="274320"/>
          </a:xfrm>
          <a:prstGeom prst="rect">
            <a:avLst/>
          </a:prstGeom>
          <a:noFill/>
          <a:ln/>
        </p:spPr>
        <p:txBody>
          <a:bodyPr wrap="square" lIns="0" tIns="0" rIns="0" bIns="0" rtlCol="0" anchor="ctr"/>
          <a:lstStyle/>
          <a:p>
            <a:pPr marL="0" indent="0" algn="ctr">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9" name="Text 129"/>
          <p:cNvSpPr txBox="1"/>
          <p:nvPr/>
        </p:nvSpPr>
        <p:spPr>
          <a:xfrm>
            <a:off x="13432536" y="8119872"/>
            <a:ext cx="658368" cy="457200"/>
          </a:xfrm>
          <a:prstGeom prst="rect">
            <a:avLst/>
          </a:prstGeom>
          <a:noFill/>
          <a:ln/>
        </p:spPr>
        <p:txBody>
          <a:bodyPr wrap="square" lIns="0" tIns="0" rIns="0" bIns="0" rtlCol="0" anchor="ctr"/>
          <a:lstStyle/>
          <a:p>
            <a:pPr marL="0" indent="0">
              <a:buNone/>
            </a:pPr>
            <a:r>
              <a:rPr lang="en-US" sz="1050" dirty="0">
                <a:solidFill>
                  <a:srgbClr val="F7C6DC"/>
                </a:solidFill>
                <a:latin typeface="Arial" pitchFamily="34" charset="0"/>
                <a:ea typeface="Arial" pitchFamily="34" charset="-122"/>
                <a:cs typeface="Arial" pitchFamily="34" charset="-120"/>
              </a:rPr>
              <a:t>seller's profit</a:t>
            </a:r>
            <a:endParaRPr lang="en-US" sz="1050" dirty="0"/>
          </a:p>
        </p:txBody>
      </p:sp>
      <p:pic>
        <p:nvPicPr>
          <p:cNvPr id="180" name="Image 48" descr="dot_full.png"/>
          <p:cNvPicPr>
            <a:picLocks noChangeAspect="1"/>
          </p:cNvPicPr>
          <p:nvPr/>
        </p:nvPicPr>
        <p:blipFill>
          <a:blip r:embed="rId4"/>
          <a:stretch>
            <a:fillRect/>
          </a:stretch>
        </p:blipFill>
        <p:spPr>
          <a:xfrm>
            <a:off x="731520" y="8732520"/>
            <a:ext cx="219456" cy="219456"/>
          </a:xfrm>
          <a:prstGeom prst="rect">
            <a:avLst/>
          </a:prstGeom>
        </p:spPr>
      </p:pic>
      <p:sp>
        <p:nvSpPr>
          <p:cNvPr id="181" name="Text 130"/>
          <p:cNvSpPr txBox="1"/>
          <p:nvPr/>
        </p:nvSpPr>
        <p:spPr>
          <a:xfrm>
            <a:off x="1024128" y="8668512"/>
            <a:ext cx="2743200" cy="347472"/>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Documented in public sources</a:t>
            </a:r>
            <a:endParaRPr lang="en-US" sz="1200" dirty="0"/>
          </a:p>
        </p:txBody>
      </p:sp>
      <p:pic>
        <p:nvPicPr>
          <p:cNvPr id="182" name="Image 49" descr="dot_half.png"/>
          <p:cNvPicPr>
            <a:picLocks noChangeAspect="1"/>
          </p:cNvPicPr>
          <p:nvPr/>
        </p:nvPicPr>
        <p:blipFill>
          <a:blip r:embed="rId6"/>
          <a:stretch>
            <a:fillRect/>
          </a:stretch>
        </p:blipFill>
        <p:spPr>
          <a:xfrm>
            <a:off x="3840480" y="8732520"/>
            <a:ext cx="219456" cy="219456"/>
          </a:xfrm>
          <a:prstGeom prst="rect">
            <a:avLst/>
          </a:prstGeom>
        </p:spPr>
      </p:pic>
      <p:sp>
        <p:nvSpPr>
          <p:cNvPr id="183" name="Text 131"/>
          <p:cNvSpPr txBox="1"/>
          <p:nvPr/>
        </p:nvSpPr>
        <p:spPr>
          <a:xfrm>
            <a:off x="4133088" y="8668512"/>
            <a:ext cx="2743200" cy="347472"/>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Partial or indirect</a:t>
            </a:r>
            <a:endParaRPr lang="en-US" sz="1200" dirty="0"/>
          </a:p>
        </p:txBody>
      </p:sp>
      <p:pic>
        <p:nvPicPr>
          <p:cNvPr id="184" name="Image 50" descr="dot_ring.png"/>
          <p:cNvPicPr>
            <a:picLocks noChangeAspect="1"/>
          </p:cNvPicPr>
          <p:nvPr/>
        </p:nvPicPr>
        <p:blipFill>
          <a:blip r:embed="rId5"/>
          <a:stretch>
            <a:fillRect/>
          </a:stretch>
        </p:blipFill>
        <p:spPr>
          <a:xfrm>
            <a:off x="6976872" y="8759952"/>
            <a:ext cx="164592" cy="164592"/>
          </a:xfrm>
          <a:prstGeom prst="rect">
            <a:avLst/>
          </a:prstGeom>
        </p:spPr>
      </p:pic>
      <p:sp>
        <p:nvSpPr>
          <p:cNvPr id="185" name="Text 132"/>
          <p:cNvSpPr txBox="1"/>
          <p:nvPr/>
        </p:nvSpPr>
        <p:spPr>
          <a:xfrm>
            <a:off x="7242048" y="8668512"/>
            <a:ext cx="2743200" cy="347472"/>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Not public (may exist, can't confirm)</a:t>
            </a:r>
            <a:endParaRPr lang="en-US" sz="1200" dirty="0"/>
          </a:p>
        </p:txBody>
      </p:sp>
      <p:sp>
        <p:nvSpPr>
          <p:cNvPr id="186" name="Shape 133"/>
          <p:cNvSpPr/>
          <p:nvPr/>
        </p:nvSpPr>
        <p:spPr>
          <a:xfrm>
            <a:off x="14401800" y="3886200"/>
            <a:ext cx="3154680" cy="1691640"/>
          </a:xfrm>
          <a:prstGeom prst="roundRect">
            <a:avLst>
              <a:gd name="adj" fmla="val 6486"/>
            </a:avLst>
          </a:prstGeom>
          <a:solidFill>
            <a:srgbClr val="4B1248"/>
          </a:solidFill>
          <a:ln w="12700">
            <a:solidFill>
              <a:srgbClr val="4B1248"/>
            </a:solidFill>
            <a:prstDash val="solid"/>
          </a:ln>
        </p:spPr>
        <p:txBody>
          <a:bodyPr/>
          <a:p/>
        </p:txBody>
      </p:sp>
      <p:sp>
        <p:nvSpPr>
          <p:cNvPr id="187" name="Text 134"/>
          <p:cNvSpPr txBox="1"/>
          <p:nvPr/>
        </p:nvSpPr>
        <p:spPr>
          <a:xfrm>
            <a:off x="14630400" y="3977640"/>
            <a:ext cx="2697480" cy="1508760"/>
          </a:xfrm>
          <a:prstGeom prst="rect">
            <a:avLst/>
          </a:prstGeom>
          <a:noFill/>
          <a:ln/>
        </p:spPr>
        <p:txBody>
          <a:bodyPr wrap="square" lIns="0" tIns="0" rIns="0" bIns="0" rtlCol="0" anchor="ctr"/>
          <a:lstStyle/>
          <a:p>
            <a:pPr marL="0" indent="0">
              <a:spcAft>
                <a:spcPts val="600"/>
              </a:spcAft>
              <a:buNone/>
            </a:pPr>
            <a:r>
              <a:rPr lang="en-US" sz="1700" b="1" dirty="0">
                <a:solidFill>
                  <a:srgbClr val="FFFFFF"/>
                </a:solidFill>
                <a:latin typeface="Arial" pitchFamily="34" charset="0"/>
                <a:ea typeface="Arial" pitchFamily="34" charset="-122"/>
                <a:cs typeface="Arial" pitchFamily="34" charset="-120"/>
              </a:rPr>
              <a:t>The gap</a:t>
            </a:r>
            <a:endParaRPr lang="en-US" sz="1700" dirty="0"/>
          </a:p>
          <a:p>
            <a:pPr marL="0" indent="0">
              <a:buNone/>
            </a:pPr>
            <a:r>
              <a:rPr lang="en-US" sz="1300" dirty="0">
                <a:solidFill>
                  <a:srgbClr val="FFFFFF"/>
                </a:solidFill>
                <a:latin typeface="Arial" pitchFamily="34" charset="0"/>
                <a:ea typeface="Arial" pitchFamily="34" charset="-122"/>
                <a:cs typeface="Arial" pitchFamily="34" charset="-120"/>
              </a:rPr>
              <a:t>No tool we found prices a new product on full cost (returns, RTO, GST). Three use cost only partly. Meesho's own blog lists return-price insight as a next step [2].</a:t>
            </a:r>
            <a:endParaRPr lang="en-US" sz="1700" dirty="0"/>
          </a:p>
        </p:txBody>
      </p:sp>
      <p:sp>
        <p:nvSpPr>
          <p:cNvPr id="188" name="Shape 135"/>
          <p:cNvSpPr/>
          <p:nvPr/>
        </p:nvSpPr>
        <p:spPr>
          <a:xfrm>
            <a:off x="14401800" y="5742432"/>
            <a:ext cx="3154680" cy="2377440"/>
          </a:xfrm>
          <a:prstGeom prst="roundRect">
            <a:avLst>
              <a:gd name="adj" fmla="val 4615"/>
            </a:avLst>
          </a:prstGeom>
          <a:solidFill>
            <a:srgbClr val="F6EEF7"/>
          </a:solidFill>
          <a:ln w="12700">
            <a:solidFill>
              <a:srgbClr val="F6EEF7"/>
            </a:solidFill>
            <a:prstDash val="solid"/>
          </a:ln>
        </p:spPr>
        <p:txBody>
          <a:bodyPr/>
          <a:p/>
        </p:txBody>
      </p:sp>
      <p:sp>
        <p:nvSpPr>
          <p:cNvPr id="189" name="Text 136"/>
          <p:cNvSpPr txBox="1"/>
          <p:nvPr/>
        </p:nvSpPr>
        <p:spPr>
          <a:xfrm>
            <a:off x="14630400" y="5852160"/>
            <a:ext cx="2697480" cy="2194560"/>
          </a:xfrm>
          <a:prstGeom prst="rect">
            <a:avLst/>
          </a:prstGeom>
          <a:noFill/>
          <a:ln/>
        </p:spPr>
        <p:txBody>
          <a:bodyPr wrap="square" lIns="0" tIns="0" rIns="0" bIns="0" rtlCol="0" anchor="t"/>
          <a:lstStyle/>
          <a:p>
            <a:pPr marL="0" indent="0">
              <a:spcAft>
                <a:spcPts val="600"/>
              </a:spcAft>
              <a:buNone/>
            </a:pPr>
            <a:r>
              <a:rPr lang="en-US" sz="1600" b="1" dirty="0">
                <a:solidFill>
                  <a:srgbClr val="4B1248"/>
                </a:solidFill>
                <a:latin typeface="Arial" pitchFamily="34" charset="0"/>
                <a:ea typeface="Arial" pitchFamily="34" charset="-122"/>
                <a:cs typeface="Arial" pitchFamily="34" charset="-120"/>
              </a:rPr>
              <a:t>Ideas we borrow</a:t>
            </a:r>
            <a:endParaRPr lang="en-US" sz="1600" dirty="0"/>
          </a:p>
          <a:p>
            <a:pPr marL="203200" indent="-203200">
              <a:spcAft>
                <a:spcPts val="500"/>
              </a:spcAft>
              <a:buSzPct val="100000"/>
              <a:buChar char="•"/>
            </a:pPr>
            <a:r>
              <a:rPr lang="en-US" sz="1350" dirty="0">
                <a:solidFill>
                  <a:srgbClr val="2A0B2F"/>
                </a:solidFill>
                <a:latin typeface="Arial" pitchFamily="34" charset="0"/>
                <a:ea typeface="Arial" pitchFamily="34" charset="-122"/>
                <a:cs typeface="Arial" pitchFamily="34" charset="-120"/>
              </a:rPr>
              <a:t>Amazon: a minimum price, crossed only on purpose (our launch investment)</a:t>
            </a:r>
            <a:endParaRPr lang="en-US" sz="1600" dirty="0"/>
          </a:p>
          <a:p>
            <a:pPr marL="203200" indent="-203200">
              <a:spcAft>
                <a:spcPts val="500"/>
              </a:spcAft>
              <a:buSzPct val="100000"/>
              <a:buChar char="•"/>
            </a:pPr>
            <a:r>
              <a:rPr lang="en-US" sz="1350" dirty="0">
                <a:solidFill>
                  <a:srgbClr val="2A0B2F"/>
                </a:solidFill>
                <a:latin typeface="Arial" pitchFamily="34" charset="0"/>
                <a:ea typeface="Arial" pitchFamily="34" charset="-122"/>
                <a:cs typeface="Arial" pitchFamily="34" charset="-120"/>
              </a:rPr>
              <a:t>eBay: a chance-of-sale view beside the price</a:t>
            </a:r>
            <a:endParaRPr lang="en-US" sz="1600" dirty="0"/>
          </a:p>
          <a:p>
            <a:pPr marL="203200" indent="-203200">
              <a:spcAft>
                <a:spcPts val="500"/>
              </a:spcAft>
              <a:buSzPct val="100000"/>
              <a:buChar char="•"/>
            </a:pPr>
            <a:r>
              <a:rPr lang="en-US" sz="1350" dirty="0">
                <a:solidFill>
                  <a:srgbClr val="2A0B2F"/>
                </a:solidFill>
                <a:latin typeface="Arial" pitchFamily="34" charset="0"/>
                <a:ea typeface="Arial" pitchFamily="34" charset="-122"/>
                <a:cs typeface="Arial" pitchFamily="34" charset="-120"/>
              </a:rPr>
              <a:t>Mercari: a seller-set floor, with the price stepping down to it only when similar items aren't selling</a:t>
            </a:r>
            <a:endParaRPr lang="en-US" sz="1600" dirty="0"/>
          </a:p>
        </p:txBody>
      </p:sp>
      <p:sp>
        <p:nvSpPr>
          <p:cNvPr id="190" name="Text 137"/>
          <p:cNvSpPr txBox="1"/>
          <p:nvPr/>
        </p:nvSpPr>
        <p:spPr>
          <a:xfrm>
            <a:off x="14401800" y="8183880"/>
            <a:ext cx="3154680" cy="804672"/>
          </a:xfrm>
          <a:prstGeom prst="rect">
            <a:avLst/>
          </a:prstGeom>
          <a:noFill/>
          <a:ln/>
        </p:spPr>
        <p:txBody>
          <a:bodyPr wrap="square" lIns="0" tIns="0" rIns="0" bIns="0" rtlCol="0" anchor="ctr"/>
          <a:lstStyle/>
          <a:p>
            <a:pPr marL="0" indent="0">
              <a:buNone/>
            </a:pPr>
            <a:r>
              <a:rPr lang="en-US" sz="1200" i="1" dirty="0">
                <a:solidFill>
                  <a:srgbClr val="67516B"/>
                </a:solidFill>
                <a:latin typeface="Arial" pitchFamily="34" charset="0"/>
                <a:ea typeface="Arial" pitchFamily="34" charset="-122"/>
                <a:cs typeface="Arial" pitchFamily="34" charset="-120"/>
              </a:rPr>
              <a:t>Where they lead: their models already run in production. Ours is a design that needs Meesho's order data and a pilot to prove it.</a:t>
            </a:r>
            <a:endParaRPr lang="en-US" sz="1200" dirty="0"/>
          </a:p>
        </p:txBody>
      </p:sp>
      <p:sp>
        <p:nvSpPr>
          <p:cNvPr id="191" name="Text 138"/>
          <p:cNvSpPr txBox="1"/>
          <p:nvPr/>
        </p:nvSpPr>
        <p:spPr>
          <a:xfrm>
            <a:off x="731520" y="9070848"/>
            <a:ext cx="16093440" cy="457200"/>
          </a:xfrm>
          <a:prstGeom prst="rect">
            <a:avLst/>
          </a:prstGeom>
          <a:noFill/>
          <a:ln/>
        </p:spPr>
        <p:txBody>
          <a:bodyPr wrap="square" lIns="0" tIns="0" rIns="0" bIns="0" rtlCol="0" anchor="ctr"/>
          <a:lstStyle/>
          <a:p>
            <a:r>
              <a:rPr lang="en-US" sz="1050" b="1" dirty="0">
                <a:solidFill>
                  <a:srgbClr val="67516B"/>
                </a:solidFill>
                <a:latin typeface="Arial" pitchFamily="34" charset="0"/>
                <a:ea typeface="Arial" pitchFamily="34" charset="-122"/>
                <a:cs typeface="Arial" pitchFamily="34" charset="-120"/>
              </a:rPr>
              <a:t>[1] </a:t>
            </a:r>
            <a:r>
              <a:rPr lang="en-US" sz="1050" u="sng" dirty="0">
                <a:solidFill>
                  <a:srgbClr val="67516B"/>
                </a:solidFill>
                <a:latin typeface="Arial" pitchFamily="34" charset="0"/>
                <a:ea typeface="Arial" pitchFamily="34" charset="-122"/>
                <a:cs typeface="Arial" pitchFamily="34" charset="-120"/>
                <a:hlinkClick r:id="rId9"/>
              </a:rPr>
              <a:t>Amazon Automate Pricing (Amazon seller tools)</a:t>
            </a:r>
            <a:r>
              <a:rPr lang="en-US" sz="1050" dirty="0">
                <a:solidFill>
                  <a:srgbClr val="67516B"/>
                </a:solidFill>
                <a:latin typeface="Arial" pitchFamily="34" charset="0"/>
                <a:ea typeface="Arial" pitchFamily="34" charset="-122"/>
                <a:cs typeface="Arial" pitchFamily="34" charset="-120"/>
              </a:rPr>
              <a:t>    </a:t>
            </a:r>
            <a:r>
              <a:rPr lang="en-US" sz="1050" b="1" dirty="0">
                <a:solidFill>
                  <a:srgbClr val="67516B"/>
                </a:solidFill>
                <a:latin typeface="Arial" pitchFamily="34" charset="0"/>
                <a:ea typeface="Arial" pitchFamily="34" charset="-122"/>
                <a:cs typeface="Arial" pitchFamily="34" charset="-120"/>
              </a:rPr>
              <a:t>[2] </a:t>
            </a:r>
            <a:r>
              <a:rPr lang="en-US" sz="1050" u="sng" dirty="0" err="1">
                <a:solidFill>
                  <a:srgbClr val="67516B"/>
                </a:solidFill>
                <a:latin typeface="Arial" pitchFamily="34" charset="0"/>
                <a:ea typeface="Arial" pitchFamily="34" charset="-122"/>
                <a:cs typeface="Arial" pitchFamily="34" charset="-120"/>
                <a:hlinkClick r:id="rId10"/>
              </a:rPr>
              <a:t>Meesho</a:t>
            </a:r>
            <a:r>
              <a:rPr lang="en-US" sz="1050" u="sng" dirty="0">
                <a:solidFill>
                  <a:srgbClr val="67516B"/>
                </a:solidFill>
                <a:latin typeface="Arial" pitchFamily="34" charset="0"/>
                <a:ea typeface="Arial" pitchFamily="34" charset="-122"/>
                <a:cs typeface="Arial" pitchFamily="34" charset="-120"/>
                <a:hlinkClick r:id="rId10"/>
              </a:rPr>
              <a:t> Tech blog: price recommendation</a:t>
            </a:r>
            <a:r>
              <a:rPr lang="en-US" sz="1050" dirty="0">
                <a:solidFill>
                  <a:srgbClr val="67516B"/>
                </a:solidFill>
                <a:latin typeface="Arial" pitchFamily="34" charset="0"/>
                <a:ea typeface="Arial" pitchFamily="34" charset="-122"/>
                <a:cs typeface="Arial" pitchFamily="34" charset="-120"/>
                <a:hlinkClick r:id="rId10"/>
              </a:rPr>
              <a:t> </a:t>
            </a:r>
            <a:r>
              <a:rPr lang="en-US" sz="1050" dirty="0">
                <a:solidFill>
                  <a:srgbClr val="67516B"/>
                </a:solidFill>
                <a:latin typeface="Arial" pitchFamily="34" charset="0"/>
                <a:ea typeface="Arial" pitchFamily="34" charset="-122"/>
                <a:cs typeface="Arial" pitchFamily="34" charset="-120"/>
              </a:rPr>
              <a:t>   </a:t>
            </a:r>
            <a:r>
              <a:rPr lang="en-US" sz="1050" b="1" dirty="0">
                <a:solidFill>
                  <a:srgbClr val="67516B"/>
                </a:solidFill>
                <a:latin typeface="Arial" pitchFamily="34" charset="0"/>
                <a:ea typeface="Arial" pitchFamily="34" charset="-122"/>
                <a:cs typeface="Arial" pitchFamily="34" charset="-120"/>
              </a:rPr>
              <a:t>[3] </a:t>
            </a:r>
            <a:r>
              <a:rPr lang="en-US" sz="1050" u="sng" dirty="0">
                <a:solidFill>
                  <a:srgbClr val="67516B"/>
                </a:solidFill>
                <a:latin typeface="Arial" pitchFamily="34" charset="0"/>
                <a:ea typeface="Arial" pitchFamily="34" charset="-122"/>
                <a:cs typeface="Arial" pitchFamily="34" charset="-120"/>
                <a:hlinkClick r:id="rId11"/>
              </a:rPr>
              <a:t>eBay price prediction talk (</a:t>
            </a:r>
            <a:r>
              <a:rPr lang="en-US" sz="1050" u="sng" dirty="0" err="1">
                <a:solidFill>
                  <a:srgbClr val="67516B"/>
                </a:solidFill>
                <a:latin typeface="Arial" pitchFamily="34" charset="0"/>
                <a:ea typeface="Arial" pitchFamily="34" charset="-122"/>
                <a:cs typeface="Arial" pitchFamily="34" charset="-120"/>
                <a:hlinkClick r:id="rId11"/>
              </a:rPr>
              <a:t>ZenML</a:t>
            </a:r>
            <a:r>
              <a:rPr lang="en-US" sz="1050" u="sng" dirty="0">
                <a:solidFill>
                  <a:srgbClr val="67516B"/>
                </a:solidFill>
                <a:latin typeface="Arial" pitchFamily="34" charset="0"/>
                <a:ea typeface="Arial" pitchFamily="34" charset="-122"/>
                <a:cs typeface="Arial" pitchFamily="34" charset="-120"/>
                <a:hlinkClick r:id="rId11"/>
              </a:rPr>
              <a:t>)</a:t>
            </a:r>
            <a:r>
              <a:rPr lang="en-US" sz="1050" dirty="0">
                <a:solidFill>
                  <a:srgbClr val="67516B"/>
                </a:solidFill>
                <a:latin typeface="Arial" pitchFamily="34" charset="0"/>
                <a:ea typeface="Arial" pitchFamily="34" charset="-122"/>
                <a:cs typeface="Arial" pitchFamily="34" charset="-120"/>
                <a:hlinkClick r:id="rId11"/>
              </a:rPr>
              <a:t>    </a:t>
            </a:r>
            <a:r>
              <a:rPr lang="en-US" sz="1050" b="1" dirty="0">
                <a:solidFill>
                  <a:srgbClr val="67516B"/>
                </a:solidFill>
                <a:latin typeface="Arial" pitchFamily="34" charset="0"/>
                <a:ea typeface="Arial" pitchFamily="34" charset="-122"/>
                <a:cs typeface="Arial" pitchFamily="34" charset="-120"/>
              </a:rPr>
              <a:t>[4] </a:t>
            </a:r>
            <a:r>
              <a:rPr lang="en-US" sz="1050" u="sng" dirty="0" err="1">
                <a:solidFill>
                  <a:srgbClr val="67516B"/>
                </a:solidFill>
                <a:latin typeface="Arial" pitchFamily="34" charset="0"/>
                <a:ea typeface="Arial" pitchFamily="34" charset="-122"/>
                <a:cs typeface="Arial" pitchFamily="34" charset="-120"/>
                <a:hlinkClick r:id="rId12"/>
              </a:rPr>
              <a:t>Mercari</a:t>
            </a:r>
            <a:r>
              <a:rPr lang="en-US" sz="1050" u="sng" dirty="0">
                <a:solidFill>
                  <a:srgbClr val="67516B"/>
                </a:solidFill>
                <a:latin typeface="Arial" pitchFamily="34" charset="0"/>
                <a:ea typeface="Arial" pitchFamily="34" charset="-122"/>
                <a:cs typeface="Arial" pitchFamily="34" charset="-120"/>
                <a:hlinkClick r:id="rId12"/>
              </a:rPr>
              <a:t> price guidance and Smart Pricing (</a:t>
            </a:r>
            <a:r>
              <a:rPr lang="en-US" sz="1050" u="sng" dirty="0" err="1">
                <a:solidFill>
                  <a:srgbClr val="67516B"/>
                </a:solidFill>
                <a:latin typeface="Arial" pitchFamily="34" charset="0"/>
                <a:ea typeface="Arial" pitchFamily="34" charset="-122"/>
                <a:cs typeface="Arial" pitchFamily="34" charset="-120"/>
                <a:hlinkClick r:id="rId12"/>
              </a:rPr>
              <a:t>Mercari</a:t>
            </a:r>
            <a:r>
              <a:rPr lang="en-US" sz="1050" u="sng" dirty="0">
                <a:solidFill>
                  <a:srgbClr val="67516B"/>
                </a:solidFill>
                <a:latin typeface="Arial" pitchFamily="34" charset="0"/>
                <a:ea typeface="Arial" pitchFamily="34" charset="-122"/>
                <a:cs typeface="Arial" pitchFamily="34" charset="-120"/>
                <a:hlinkClick r:id="rId12"/>
              </a:rPr>
              <a:t> Engineering)</a:t>
            </a:r>
            <a:r>
              <a:rPr lang="en-US" sz="1050" dirty="0">
                <a:solidFill>
                  <a:srgbClr val="67516B"/>
                </a:solidFill>
                <a:latin typeface="Arial" pitchFamily="34" charset="0"/>
                <a:ea typeface="Arial" pitchFamily="34" charset="-122"/>
                <a:cs typeface="Arial" pitchFamily="34" charset="-120"/>
              </a:rPr>
              <a:t>    </a:t>
            </a:r>
            <a:r>
              <a:rPr lang="en-US" sz="1050" b="1" dirty="0">
                <a:solidFill>
                  <a:srgbClr val="67516B"/>
                </a:solidFill>
                <a:latin typeface="Arial" pitchFamily="34" charset="0"/>
                <a:ea typeface="Arial" pitchFamily="34" charset="-122"/>
                <a:cs typeface="Arial" pitchFamily="34" charset="-120"/>
              </a:rPr>
              <a:t>[5] </a:t>
            </a:r>
            <a:r>
              <a:rPr lang="en-US" sz="1050" u="sng" dirty="0">
                <a:solidFill>
                  <a:srgbClr val="67516B"/>
                </a:solidFill>
                <a:latin typeface="Arial" pitchFamily="34" charset="0"/>
                <a:ea typeface="Arial" pitchFamily="34" charset="-122"/>
                <a:cs typeface="Arial" pitchFamily="34" charset="-120"/>
                <a:hlinkClick r:id="rId13"/>
              </a:rPr>
              <a:t>Airbnb dynamic pricing, KDD 2018</a:t>
            </a:r>
            <a:r>
              <a:rPr lang="en-US" sz="1050" dirty="0">
                <a:solidFill>
                  <a:srgbClr val="67516B"/>
                </a:solidFill>
                <a:latin typeface="Arial" pitchFamily="34" charset="0"/>
                <a:ea typeface="Arial" pitchFamily="34" charset="-122"/>
                <a:cs typeface="Arial" pitchFamily="34" charset="-120"/>
              </a:rPr>
              <a:t>    </a:t>
            </a:r>
            <a:r>
              <a:rPr lang="en-US" sz="1050" b="1" dirty="0">
                <a:solidFill>
                  <a:srgbClr val="67516B"/>
                </a:solidFill>
                <a:latin typeface="Arial" pitchFamily="34" charset="0"/>
                <a:ea typeface="Arial" pitchFamily="34" charset="-122"/>
                <a:cs typeface="Arial" pitchFamily="34" charset="-120"/>
              </a:rPr>
              <a:t>[6] </a:t>
            </a:r>
            <a:r>
              <a:rPr lang="en-US" sz="1050" u="sng" dirty="0">
                <a:solidFill>
                  <a:srgbClr val="67516B"/>
                </a:solidFill>
                <a:latin typeface="Arial" pitchFamily="34" charset="0"/>
                <a:ea typeface="Arial" pitchFamily="34" charset="-122"/>
                <a:cs typeface="Arial" pitchFamily="34" charset="-120"/>
                <a:hlinkClick r:id="rId14"/>
              </a:rPr>
              <a:t>Flipkart Commerce Cloud (Chain Store Age)</a:t>
            </a:r>
            <a:r>
              <a:rPr lang="en-US" sz="1050" dirty="0">
                <a:solidFill>
                  <a:srgbClr val="67516B"/>
                </a:solidFill>
                <a:latin typeface="Arial" pitchFamily="34" charset="0"/>
                <a:ea typeface="Arial" pitchFamily="34" charset="-122"/>
                <a:cs typeface="Arial" pitchFamily="34" charset="-120"/>
              </a:rPr>
              <a:t>    </a:t>
            </a:r>
            <a:r>
              <a:rPr lang="en-US" sz="1050" b="1" dirty="0">
                <a:solidFill>
                  <a:srgbClr val="67516B"/>
                </a:solidFill>
                <a:latin typeface="Arial" pitchFamily="34" charset="0"/>
                <a:ea typeface="Arial" pitchFamily="34" charset="-122"/>
                <a:cs typeface="Arial" pitchFamily="34" charset="-120"/>
              </a:rPr>
              <a:t>[7] </a:t>
            </a:r>
            <a:r>
              <a:rPr lang="en-US" sz="1050" u="sng" dirty="0" err="1">
                <a:solidFill>
                  <a:srgbClr val="67516B"/>
                </a:solidFill>
                <a:latin typeface="Arial" pitchFamily="34" charset="0"/>
                <a:ea typeface="Arial" pitchFamily="34" charset="-122"/>
                <a:cs typeface="Arial" pitchFamily="34" charset="-120"/>
                <a:hlinkClick r:id="rId15"/>
              </a:rPr>
              <a:t>Competera</a:t>
            </a:r>
            <a:r>
              <a:rPr lang="en-US" sz="1050" u="sng" dirty="0">
                <a:solidFill>
                  <a:srgbClr val="67516B"/>
                </a:solidFill>
                <a:latin typeface="Arial" pitchFamily="34" charset="0"/>
                <a:ea typeface="Arial" pitchFamily="34" charset="-122"/>
                <a:cs typeface="Arial" pitchFamily="34" charset="-120"/>
                <a:hlinkClick r:id="rId15"/>
              </a:rPr>
              <a:t> platform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Price Confidence: a pricing assistant inside the Supplier Panel</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Meesho's price recommendation already answers “what will sell”; we add “will it make money, and when should it move?”</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Source: </a:t>
            </a:r>
            <a:r>
              <a:rPr lang="en-US" sz="1200" u="sng" dirty="0">
                <a:solidFill>
                  <a:srgbClr val="67516B"/>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xmlns="" val="tx"/>
                    </a:ext>
                  </a:extLst>
                </a:hlinkClick>
              </a:rPr>
              <a:t>Meesho Tech blog on Price </a:t>
            </a:r>
            <a:r>
              <a:rPr lang="en-US" sz="1200" u="sng" dirty="0" smtClean="0">
                <a:solidFill>
                  <a:srgbClr val="67516B"/>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xmlns="" val="tx"/>
                    </a:ext>
                  </a:extLst>
                </a:hlinkClick>
              </a:rPr>
              <a:t>Recommendation</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7</a:t>
            </a:r>
            <a:endParaRPr lang="en-US" sz="1200" dirty="0"/>
          </a:p>
        </p:txBody>
      </p:sp>
      <p:sp>
        <p:nvSpPr>
          <p:cNvPr id="6" name="Shape 4"/>
          <p:cNvSpPr/>
          <p:nvPr/>
        </p:nvSpPr>
        <p:spPr>
          <a:xfrm>
            <a:off x="731520" y="3886200"/>
            <a:ext cx="7406640" cy="1005840"/>
          </a:xfrm>
          <a:prstGeom prst="roundRect">
            <a:avLst>
              <a:gd name="adj" fmla="val 10909"/>
            </a:avLst>
          </a:prstGeom>
          <a:solidFill>
            <a:srgbClr val="F6EEF7"/>
          </a:solidFill>
          <a:ln w="12700">
            <a:solidFill>
              <a:srgbClr val="F6EEF7"/>
            </a:solidFill>
            <a:prstDash val="solid"/>
          </a:ln>
        </p:spPr>
        <p:txBody>
          <a:bodyPr/>
          <a:p/>
        </p:txBody>
      </p:sp>
      <p:sp>
        <p:nvSpPr>
          <p:cNvPr id="7" name="Text 5"/>
          <p:cNvSpPr txBox="1"/>
          <p:nvPr/>
        </p:nvSpPr>
        <p:spPr>
          <a:xfrm>
            <a:off x="1005840" y="3886200"/>
            <a:ext cx="6858000" cy="1005840"/>
          </a:xfrm>
          <a:prstGeom prst="rect">
            <a:avLst/>
          </a:prstGeom>
          <a:noFill/>
          <a:ln/>
        </p:spPr>
        <p:txBody>
          <a:bodyPr wrap="square" lIns="0" tIns="0" rIns="0" bIns="0" rtlCol="0" anchor="ctr"/>
          <a:lstStyle/>
          <a:p>
            <a:pPr marL="0" indent="0">
              <a:spcAft>
                <a:spcPts val="400"/>
              </a:spcAft>
              <a:buNone/>
            </a:pPr>
            <a:r>
              <a:rPr lang="en-US" sz="1600" b="1" dirty="0">
                <a:solidFill>
                  <a:srgbClr val="4B1248"/>
                </a:solidFill>
                <a:latin typeface="Arial" pitchFamily="34" charset="0"/>
                <a:ea typeface="Arial" pitchFamily="34" charset="-122"/>
                <a:cs typeface="Arial" pitchFamily="34" charset="-120"/>
              </a:rPr>
              <a:t>Today: Price Recommendation</a:t>
            </a:r>
            <a:endParaRPr lang="en-US" sz="1600" dirty="0"/>
          </a:p>
          <a:p>
            <a:pPr marL="0" indent="0">
              <a:spcAft>
                <a:spcPts val="400"/>
              </a:spcAft>
              <a:buNone/>
            </a:pPr>
            <a:r>
              <a:rPr lang="en-US" sz="1450" dirty="0">
                <a:solidFill>
                  <a:srgbClr val="2A0B2F"/>
                </a:solidFill>
                <a:latin typeface="Arial" pitchFamily="34" charset="0"/>
                <a:ea typeface="Arial" pitchFamily="34" charset="-122"/>
                <a:cs typeface="Arial" pitchFamily="34" charset="-120"/>
              </a:rPr>
              <a:t>Finds identical listings by image and text, and suggests a competitive price.</a:t>
            </a:r>
            <a:endParaRPr lang="en-US" sz="1600" dirty="0"/>
          </a:p>
        </p:txBody>
      </p:sp>
      <p:sp>
        <p:nvSpPr>
          <p:cNvPr id="8" name="Shape 6"/>
          <p:cNvSpPr/>
          <p:nvPr/>
        </p:nvSpPr>
        <p:spPr>
          <a:xfrm>
            <a:off x="731520" y="5029200"/>
            <a:ext cx="7406640" cy="1874520"/>
          </a:xfrm>
          <a:prstGeom prst="roundRect">
            <a:avLst>
              <a:gd name="adj" fmla="val 5854"/>
            </a:avLst>
          </a:prstGeom>
          <a:solidFill>
            <a:srgbClr val="4B1248"/>
          </a:solidFill>
          <a:ln w="12700">
            <a:solidFill>
              <a:srgbClr val="4B1248"/>
            </a:solidFill>
            <a:prstDash val="solid"/>
          </a:ln>
        </p:spPr>
        <p:txBody>
          <a:bodyPr/>
          <a:p/>
        </p:txBody>
      </p:sp>
      <p:sp>
        <p:nvSpPr>
          <p:cNvPr id="9" name="Text 7"/>
          <p:cNvSpPr txBox="1"/>
          <p:nvPr/>
        </p:nvSpPr>
        <p:spPr>
          <a:xfrm>
            <a:off x="1005840" y="5102352"/>
            <a:ext cx="6858000" cy="1737360"/>
          </a:xfrm>
          <a:prstGeom prst="rect">
            <a:avLst/>
          </a:prstGeom>
          <a:noFill/>
          <a:ln/>
        </p:spPr>
        <p:txBody>
          <a:bodyPr wrap="square" lIns="0" tIns="0" rIns="0" bIns="0" rtlCol="0" anchor="ctr"/>
          <a:lstStyle/>
          <a:p>
            <a:pPr marL="0" indent="0">
              <a:spcAft>
                <a:spcPts val="600"/>
              </a:spcAft>
              <a:buNone/>
            </a:pPr>
            <a:r>
              <a:rPr lang="en-US" sz="1600" b="1" dirty="0">
                <a:solidFill>
                  <a:srgbClr val="FFFFFF"/>
                </a:solidFill>
                <a:latin typeface="Arial" pitchFamily="34" charset="0"/>
                <a:ea typeface="Arial" pitchFamily="34" charset="-122"/>
                <a:cs typeface="Arial" pitchFamily="34" charset="-120"/>
              </a:rPr>
              <a:t>Price Confidence adds</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The seller's own floor, with returns, RTO, COD and GST built in</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A start price and range, with the reasons one tap away</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A launch-lower planner tied to a loss budget, with a gentler above-floor option</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Alerts when rating, returns, sales or costs change</a:t>
            </a:r>
            <a:endParaRPr lang="en-US" sz="1600" dirty="0"/>
          </a:p>
        </p:txBody>
      </p:sp>
      <p:sp>
        <p:nvSpPr>
          <p:cNvPr id="10" name="Text 8"/>
          <p:cNvSpPr txBox="1"/>
          <p:nvPr/>
        </p:nvSpPr>
        <p:spPr>
          <a:xfrm>
            <a:off x="731520" y="7022592"/>
            <a:ext cx="7406640" cy="365760"/>
          </a:xfrm>
          <a:prstGeom prst="rect">
            <a:avLst/>
          </a:prstGeom>
          <a:noFill/>
          <a:ln/>
        </p:spPr>
        <p:txBody>
          <a:bodyPr wrap="square" lIns="0" tIns="0" rIns="0" bIns="0" rtlCol="0" anchor="t"/>
          <a:lstStyle/>
          <a:p>
            <a:pPr marL="0" indent="0">
              <a:buNone/>
            </a:pPr>
            <a:r>
              <a:rPr lang="en-US" sz="1600" b="1" dirty="0">
                <a:solidFill>
                  <a:srgbClr val="4B1248"/>
                </a:solidFill>
                <a:latin typeface="Arial" pitchFamily="34" charset="0"/>
                <a:ea typeface="Arial" pitchFamily="34" charset="-122"/>
                <a:cs typeface="Arial" pitchFamily="34" charset="-120"/>
              </a:rPr>
              <a:t>How a seller uses it</a:t>
            </a:r>
            <a:endParaRPr lang="en-US" sz="1600" dirty="0"/>
          </a:p>
        </p:txBody>
      </p:sp>
      <p:sp>
        <p:nvSpPr>
          <p:cNvPr id="11" name="Text 9"/>
          <p:cNvSpPr txBox="1"/>
          <p:nvPr/>
        </p:nvSpPr>
        <p:spPr>
          <a:xfrm>
            <a:off x="731520" y="7388352"/>
            <a:ext cx="7406640" cy="17373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350" dirty="0">
                <a:solidFill>
                  <a:srgbClr val="2A0B2F"/>
                </a:solidFill>
                <a:latin typeface="Arial" pitchFamily="34" charset="0"/>
                <a:ea typeface="Arial" pitchFamily="34" charset="-122"/>
                <a:cs typeface="Arial" pitchFamily="34" charset="-120"/>
              </a:rPr>
              <a:t>Types the title, making cost and packaging; optionally a photo, free gift, listing checklist and loss budget</a:t>
            </a:r>
            <a:endParaRPr lang="en-US" sz="1350" dirty="0"/>
          </a:p>
          <a:p>
            <a:pPr marL="342900" indent="-342900">
              <a:spcAft>
                <a:spcPts val="300"/>
              </a:spcAft>
              <a:buSzPct val="100000"/>
              <a:buFont typeface="+mj-lt"/>
              <a:buAutoNum type="arabicPeriod"/>
            </a:pPr>
            <a:r>
              <a:rPr lang="en-US" sz="1350" dirty="0">
                <a:solidFill>
                  <a:srgbClr val="2A0B2F"/>
                </a:solidFill>
                <a:latin typeface="Arial" pitchFamily="34" charset="0"/>
                <a:ea typeface="Arial" pitchFamily="34" charset="-122"/>
                <a:cs typeface="Arial" pitchFamily="34" charset="-120"/>
              </a:rPr>
              <a:t>Meesho fills the rest: delivery fee, return and RTO rates, GST and today's market band</a:t>
            </a:r>
            <a:endParaRPr lang="en-US" sz="1350" dirty="0"/>
          </a:p>
          <a:p>
            <a:pPr marL="342900" indent="-342900">
              <a:spcAft>
                <a:spcPts val="300"/>
              </a:spcAft>
              <a:buSzPct val="100000"/>
              <a:buFont typeface="+mj-lt"/>
              <a:buAutoNum type="arabicPeriod"/>
            </a:pPr>
            <a:r>
              <a:rPr lang="en-US" sz="1350" dirty="0">
                <a:solidFill>
                  <a:srgbClr val="2A0B2F"/>
                </a:solidFill>
                <a:latin typeface="Arial" pitchFamily="34" charset="0"/>
                <a:ea typeface="Arial" pitchFamily="34" charset="-122"/>
                <a:cs typeface="Arial" pitchFamily="34" charset="-120"/>
              </a:rPr>
              <a:t>Sees start price, range and floor; taps open the bill, the reasons and the launch test</a:t>
            </a:r>
            <a:endParaRPr lang="en-US" sz="1350" dirty="0"/>
          </a:p>
          <a:p>
            <a:pPr marL="342900" indent="-342900">
              <a:spcAft>
                <a:spcPts val="300"/>
              </a:spcAft>
              <a:buSzPct val="100000"/>
              <a:buFont typeface="+mj-lt"/>
              <a:buAutoNum type="arabicPeriod"/>
            </a:pPr>
            <a:r>
              <a:rPr lang="en-US" sz="1350" dirty="0">
                <a:solidFill>
                  <a:srgbClr val="2A0B2F"/>
                </a:solidFill>
                <a:latin typeface="Arial" pitchFamily="34" charset="0"/>
                <a:ea typeface="Arial" pitchFamily="34" charset="-122"/>
                <a:cs typeface="Arial" pitchFamily="34" charset="-120"/>
              </a:rPr>
              <a:t>Gets alerts after launch, each with a suggested number</a:t>
            </a:r>
            <a:endParaRPr lang="en-US" sz="1350" dirty="0"/>
          </a:p>
        </p:txBody>
      </p:sp>
      <p:pic>
        <p:nvPicPr>
          <p:cNvPr id="12" name="Image 0" descr="Storyboard of the Price Confidence demo: start price, cost of one paid order, launch-at-a-loss test, no safe price. Click to watch.">
            <a:hlinkClick r:id="rId5" tooltip="Watch the demo video"/>
          </p:cNvPr>
          <p:cNvPicPr>
            <a:picLocks noChangeAspect="1"/>
          </p:cNvPicPr>
          <p:nvPr/>
        </p:nvPicPr>
        <p:blipFill>
          <a:blip r:embed="rId6"/>
          <a:stretch>
            <a:fillRect/>
          </a:stretch>
        </p:blipFill>
        <p:spPr>
          <a:xfrm>
            <a:off x="10241280" y="3886200"/>
            <a:ext cx="7315200" cy="4114800"/>
          </a:xfrm>
          <a:prstGeom prst="rect">
            <a:avLst/>
          </a:prstGeom>
        </p:spPr>
      </p:pic>
      <p:sp>
        <p:nvSpPr>
          <p:cNvPr id="13" name="Shape 10"/>
          <p:cNvSpPr/>
          <p:nvPr/>
        </p:nvSpPr>
        <p:spPr>
          <a:xfrm>
            <a:off x="10241280" y="3886200"/>
            <a:ext cx="7315200" cy="4114800"/>
          </a:xfrm>
          <a:prstGeom prst="rect">
            <a:avLst/>
          </a:prstGeom>
          <a:ln w="12700">
            <a:solidFill>
              <a:srgbClr val="E3D5E6"/>
            </a:solidFill>
            <a:prstDash val="solid"/>
          </a:ln>
        </p:spPr>
        <p:txBody>
          <a:bodyPr/>
          <a:p/>
        </p:txBody>
      </p:sp>
      <p:pic>
        <p:nvPicPr>
          <p:cNvPr id="14" name="Image 1" descr="Watch the demo video">
            <a:hlinkClick r:id="rId5" tooltip="Watch the demo video"/>
          </p:cNvPr>
          <p:cNvPicPr>
            <a:picLocks noChangeAspect="1"/>
          </p:cNvPicPr>
          <p:nvPr/>
        </p:nvPicPr>
        <p:blipFill>
          <a:blip r:embed="rId7"/>
          <a:stretch>
            <a:fillRect/>
          </a:stretch>
        </p:blipFill>
        <p:spPr>
          <a:xfrm>
            <a:off x="10241280" y="8229600"/>
            <a:ext cx="3474720" cy="566928"/>
          </a:xfrm>
          <a:prstGeom prst="rect">
            <a:avLst/>
          </a:prstGeom>
        </p:spPr>
      </p:pic>
      <p:sp>
        <p:nvSpPr>
          <p:cNvPr id="15" name="Text 11"/>
          <p:cNvSpPr txBox="1"/>
          <p:nvPr/>
        </p:nvSpPr>
        <p:spPr>
          <a:xfrm>
            <a:off x="10241280" y="8833104"/>
            <a:ext cx="5120640" cy="274320"/>
          </a:xfrm>
          <a:prstGeom prst="rect">
            <a:avLst/>
          </a:prstGeom>
          <a:noFill/>
          <a:ln/>
        </p:spPr>
        <p:txBody>
          <a:bodyPr wrap="square" lIns="0" tIns="0" rIns="0" bIns="0" rtlCol="0" anchor="ctr"/>
          <a:lstStyle/>
          <a:p>
            <a:pPr marL="0" indent="0">
              <a:buNone/>
            </a:pPr>
            <a:r>
              <a:rPr lang="en-US" sz="1050" u="sng" dirty="0">
                <a:solidFill>
                  <a:srgbClr val="67516B"/>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xmlns="" val="tx"/>
                    </a:ext>
                  </a:extLst>
                </a:hlinkClick>
              </a:rPr>
              <a:t>loom.com/share/c300fa0f2e26450d9860fd87da4de9cf</a:t>
            </a:r>
            <a:endParaRPr lang="en-US" sz="1050" dirty="0"/>
          </a:p>
        </p:txBody>
      </p:sp>
      <p:sp>
        <p:nvSpPr>
          <p:cNvPr id="16" name="Text 12"/>
          <p:cNvSpPr txBox="1"/>
          <p:nvPr/>
        </p:nvSpPr>
        <p:spPr>
          <a:xfrm>
            <a:off x="13670280" y="8275320"/>
            <a:ext cx="2834640" cy="566928"/>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Scan to watch on your phone</a:t>
            </a:r>
            <a:endParaRPr lang="en-US" sz="1200" dirty="0"/>
          </a:p>
        </p:txBody>
      </p:sp>
      <p:pic>
        <p:nvPicPr>
          <p:cNvPr id="17" name="Image 2" descr="QR code linking to the demo video">
            <a:hlinkClick r:id="rId5"/>
          </p:cNvPr>
          <p:cNvPicPr>
            <a:picLocks noChangeAspect="1"/>
          </p:cNvPicPr>
          <p:nvPr/>
        </p:nvPicPr>
        <p:blipFill>
          <a:blip r:embed="rId8"/>
          <a:stretch>
            <a:fillRect/>
          </a:stretch>
        </p:blipFill>
        <p:spPr>
          <a:xfrm>
            <a:off x="16642080" y="8138160"/>
            <a:ext cx="914400" cy="91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Under the hood: three models, trained to separate price from product quality</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Demo trained on 300 synthetic listings (150 soap, 150 t-shirt): 7,627 listing-weeks and 28,639 reviews, Sep 2025 to Sep 2026</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marL="0" indent="0">
              <a:buNone/>
            </a:pPr>
            <a:r>
              <a:rPr lang="en-US" sz="1200" dirty="0">
                <a:solidFill>
                  <a:srgbClr val="67516B"/>
                </a:solidFill>
                <a:latin typeface="Arial" pitchFamily="34" charset="0"/>
                <a:ea typeface="Arial" pitchFamily="34" charset="-122"/>
                <a:cs typeface="Arial" pitchFamily="34" charset="-120"/>
              </a:rPr>
              <a:t>Synthetic data generated to demonstrate the method. In production the models retrain on Meesho's order, return and review history, and price changes are A/B tested.</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8</a:t>
            </a:r>
            <a:endParaRPr lang="en-US" sz="1200" dirty="0"/>
          </a:p>
        </p:txBody>
      </p:sp>
      <p:sp>
        <p:nvSpPr>
          <p:cNvPr id="6" name="Shape 4"/>
          <p:cNvSpPr/>
          <p:nvPr/>
        </p:nvSpPr>
        <p:spPr>
          <a:xfrm>
            <a:off x="731520" y="3886200"/>
            <a:ext cx="8138160" cy="1371600"/>
          </a:xfrm>
          <a:prstGeom prst="roundRect">
            <a:avLst>
              <a:gd name="adj" fmla="val 8000"/>
            </a:avLst>
          </a:prstGeom>
          <a:solidFill>
            <a:srgbClr val="F6EEF7"/>
          </a:solidFill>
          <a:ln w="12700">
            <a:solidFill>
              <a:srgbClr val="F6EEF7"/>
            </a:solidFill>
            <a:prstDash val="solid"/>
          </a:ln>
        </p:spPr>
        <p:txBody>
          <a:bodyPr/>
          <a:p/>
        </p:txBody>
      </p:sp>
      <p:sp>
        <p:nvSpPr>
          <p:cNvPr id="7" name="Shape 5"/>
          <p:cNvSpPr/>
          <p:nvPr/>
        </p:nvSpPr>
        <p:spPr>
          <a:xfrm>
            <a:off x="914400" y="4050792"/>
            <a:ext cx="822960" cy="1042416"/>
          </a:xfrm>
          <a:prstGeom prst="roundRect">
            <a:avLst>
              <a:gd name="adj" fmla="val 11111"/>
            </a:avLst>
          </a:prstGeom>
          <a:solidFill>
            <a:srgbClr val="4B1248"/>
          </a:solidFill>
          <a:ln w="12700">
            <a:solidFill>
              <a:srgbClr val="4B1248"/>
            </a:solidFill>
            <a:prstDash val="solid"/>
          </a:ln>
        </p:spPr>
        <p:txBody>
          <a:bodyPr/>
          <a:p/>
        </p:txBody>
      </p:sp>
      <p:sp>
        <p:nvSpPr>
          <p:cNvPr id="8" name="Text 6"/>
          <p:cNvSpPr txBox="1"/>
          <p:nvPr/>
        </p:nvSpPr>
        <p:spPr>
          <a:xfrm>
            <a:off x="914400" y="4050792"/>
            <a:ext cx="822960" cy="1042416"/>
          </a:xfrm>
          <a:prstGeom prst="rect">
            <a:avLst/>
          </a:prstGeom>
          <a:noFill/>
          <a:ln/>
        </p:spPr>
        <p:txBody>
          <a:bodyPr wrap="square" lIns="0" tIns="0" rIns="0" bIns="0" rtlCol="0" anchor="ctr"/>
          <a:lstStyle/>
          <a:p>
            <a:pPr marL="0" indent="0" algn="ctr">
              <a:buNone/>
            </a:pPr>
            <a:r>
              <a:rPr lang="en-US" sz="2300" b="1" dirty="0">
                <a:solidFill>
                  <a:srgbClr val="FFFFFF"/>
                </a:solidFill>
                <a:latin typeface="Arial" pitchFamily="34" charset="0"/>
                <a:ea typeface="Arial" pitchFamily="34" charset="-122"/>
                <a:cs typeface="Arial" pitchFamily="34" charset="-120"/>
              </a:rPr>
              <a:t>A2</a:t>
            </a:r>
            <a:endParaRPr lang="en-US" sz="2300" dirty="0"/>
          </a:p>
        </p:txBody>
      </p:sp>
      <p:sp>
        <p:nvSpPr>
          <p:cNvPr id="9" name="Text 7"/>
          <p:cNvSpPr txBox="1"/>
          <p:nvPr/>
        </p:nvSpPr>
        <p:spPr>
          <a:xfrm>
            <a:off x="1920240" y="3959352"/>
            <a:ext cx="6812280" cy="1225296"/>
          </a:xfrm>
          <a:prstGeom prst="rect">
            <a:avLst/>
          </a:prstGeom>
          <a:noFill/>
          <a:ln/>
        </p:spPr>
        <p:txBody>
          <a:bodyPr wrap="square" lIns="0" tIns="0" rIns="0" bIns="0" rtlCol="0" anchor="ctr"/>
          <a:lstStyle/>
          <a:p>
            <a:pPr marL="0" indent="0">
              <a:spcAft>
                <a:spcPts val="300"/>
              </a:spcAft>
              <a:buNone/>
            </a:pPr>
            <a:r>
              <a:rPr lang="en-US" sz="1600" b="1" dirty="0">
                <a:solidFill>
                  <a:srgbClr val="4B1248"/>
                </a:solidFill>
                <a:latin typeface="Arial" pitchFamily="34" charset="0"/>
                <a:ea typeface="Arial" pitchFamily="34" charset="-122"/>
                <a:cs typeface="Arial" pitchFamily="34" charset="-120"/>
              </a:rPr>
              <a:t>Visibility: how many see it</a:t>
            </a:r>
            <a:endParaRPr lang="en-US" sz="1600" dirty="0"/>
          </a:p>
          <a:p>
            <a:pPr marL="0" indent="0">
              <a:spcAft>
                <a:spcPts val="300"/>
              </a:spcAft>
              <a:buNone/>
            </a:pPr>
            <a:r>
              <a:rPr lang="en-US" sz="1350" dirty="0">
                <a:solidFill>
                  <a:srgbClr val="2A0B2F"/>
                </a:solidFill>
                <a:latin typeface="Arial" pitchFamily="34" charset="0"/>
                <a:ea typeface="Arial" pitchFamily="34" charset="-122"/>
                <a:cs typeface="Arial" pitchFamily="34" charset="-120"/>
              </a:rPr>
              <a:t>Weekly impressions, Poisson regression with one baseline per listing. New listings are shown 1.8× at first; selling at twice the category norm lifts next week's impressions 35%.</a:t>
            </a:r>
            <a:endParaRPr lang="en-US" sz="1600" dirty="0"/>
          </a:p>
        </p:txBody>
      </p:sp>
      <p:sp>
        <p:nvSpPr>
          <p:cNvPr id="10" name="Shape 8"/>
          <p:cNvSpPr/>
          <p:nvPr/>
        </p:nvSpPr>
        <p:spPr>
          <a:xfrm>
            <a:off x="731520" y="5404104"/>
            <a:ext cx="8138160" cy="1371600"/>
          </a:xfrm>
          <a:prstGeom prst="roundRect">
            <a:avLst>
              <a:gd name="adj" fmla="val 8000"/>
            </a:avLst>
          </a:prstGeom>
          <a:solidFill>
            <a:srgbClr val="F6EEF7"/>
          </a:solidFill>
          <a:ln w="12700">
            <a:solidFill>
              <a:srgbClr val="F6EEF7"/>
            </a:solidFill>
            <a:prstDash val="solid"/>
          </a:ln>
        </p:spPr>
        <p:txBody>
          <a:bodyPr/>
          <a:p/>
        </p:txBody>
      </p:sp>
      <p:sp>
        <p:nvSpPr>
          <p:cNvPr id="11" name="Shape 9"/>
          <p:cNvSpPr/>
          <p:nvPr/>
        </p:nvSpPr>
        <p:spPr>
          <a:xfrm>
            <a:off x="914400" y="5568696"/>
            <a:ext cx="822960" cy="1042416"/>
          </a:xfrm>
          <a:prstGeom prst="roundRect">
            <a:avLst>
              <a:gd name="adj" fmla="val 11111"/>
            </a:avLst>
          </a:prstGeom>
          <a:solidFill>
            <a:srgbClr val="4B1248"/>
          </a:solidFill>
          <a:ln w="12700">
            <a:solidFill>
              <a:srgbClr val="4B1248"/>
            </a:solidFill>
            <a:prstDash val="solid"/>
          </a:ln>
        </p:spPr>
        <p:txBody>
          <a:bodyPr/>
          <a:p/>
        </p:txBody>
      </p:sp>
      <p:sp>
        <p:nvSpPr>
          <p:cNvPr id="12" name="Text 10"/>
          <p:cNvSpPr txBox="1"/>
          <p:nvPr/>
        </p:nvSpPr>
        <p:spPr>
          <a:xfrm>
            <a:off x="914400" y="5568696"/>
            <a:ext cx="822960" cy="1042416"/>
          </a:xfrm>
          <a:prstGeom prst="rect">
            <a:avLst/>
          </a:prstGeom>
          <a:noFill/>
          <a:ln/>
        </p:spPr>
        <p:txBody>
          <a:bodyPr wrap="square" lIns="0" tIns="0" rIns="0" bIns="0" rtlCol="0" anchor="ctr"/>
          <a:lstStyle/>
          <a:p>
            <a:pPr marL="0" indent="0" algn="ctr">
              <a:buNone/>
            </a:pPr>
            <a:r>
              <a:rPr lang="en-US" sz="2300" b="1" dirty="0">
                <a:solidFill>
                  <a:srgbClr val="FFFFFF"/>
                </a:solidFill>
                <a:latin typeface="Arial" pitchFamily="34" charset="0"/>
                <a:ea typeface="Arial" pitchFamily="34" charset="-122"/>
                <a:cs typeface="Arial" pitchFamily="34" charset="-120"/>
              </a:rPr>
              <a:t>A1</a:t>
            </a:r>
            <a:endParaRPr lang="en-US" sz="2300" dirty="0"/>
          </a:p>
        </p:txBody>
      </p:sp>
      <p:sp>
        <p:nvSpPr>
          <p:cNvPr id="13" name="Text 11"/>
          <p:cNvSpPr txBox="1"/>
          <p:nvPr/>
        </p:nvSpPr>
        <p:spPr>
          <a:xfrm>
            <a:off x="1920240" y="5477256"/>
            <a:ext cx="6812280" cy="1225296"/>
          </a:xfrm>
          <a:prstGeom prst="rect">
            <a:avLst/>
          </a:prstGeom>
          <a:noFill/>
          <a:ln/>
        </p:spPr>
        <p:txBody>
          <a:bodyPr wrap="square" lIns="0" tIns="0" rIns="0" bIns="0" rtlCol="0" anchor="ctr"/>
          <a:lstStyle/>
          <a:p>
            <a:pPr marL="0" indent="0">
              <a:spcAft>
                <a:spcPts val="300"/>
              </a:spcAft>
              <a:buNone/>
            </a:pPr>
            <a:r>
              <a:rPr lang="en-US" sz="1600" b="1" dirty="0">
                <a:solidFill>
                  <a:srgbClr val="4B1248"/>
                </a:solidFill>
                <a:latin typeface="Arial" pitchFamily="34" charset="0"/>
                <a:ea typeface="Arial" pitchFamily="34" charset="-122"/>
                <a:cs typeface="Arial" pitchFamily="34" charset="-120"/>
              </a:rPr>
              <a:t>Conversion: how many of them order</a:t>
            </a:r>
            <a:endParaRPr lang="en-US" sz="1600" dirty="0"/>
          </a:p>
          <a:p>
            <a:pPr marL="0" indent="0">
              <a:spcAft>
                <a:spcPts val="300"/>
              </a:spcAft>
              <a:buNone/>
            </a:pPr>
            <a:r>
              <a:rPr lang="en-US" sz="1350" dirty="0">
                <a:solidFill>
                  <a:srgbClr val="2A0B2F"/>
                </a:solidFill>
                <a:latin typeface="Arial" pitchFamily="34" charset="0"/>
                <a:ea typeface="Arial" pitchFamily="34" charset="-122"/>
                <a:cs typeface="Arial" pitchFamily="34" charset="-120"/>
              </a:rPr>
              <a:t>Orders per impression, with impressions as the exposure offset, and one baseline per listing, so price is learnt from each listing's own price changes. +10% price: −20% orders (soap), −26% (t-shirt).</a:t>
            </a:r>
            <a:endParaRPr lang="en-US" sz="1600" dirty="0"/>
          </a:p>
        </p:txBody>
      </p:sp>
      <p:sp>
        <p:nvSpPr>
          <p:cNvPr id="14" name="Shape 12"/>
          <p:cNvSpPr/>
          <p:nvPr/>
        </p:nvSpPr>
        <p:spPr>
          <a:xfrm>
            <a:off x="731520" y="6922008"/>
            <a:ext cx="8138160" cy="1371600"/>
          </a:xfrm>
          <a:prstGeom prst="roundRect">
            <a:avLst>
              <a:gd name="adj" fmla="val 8000"/>
            </a:avLst>
          </a:prstGeom>
          <a:solidFill>
            <a:srgbClr val="F6EEF7"/>
          </a:solidFill>
          <a:ln w="12700">
            <a:solidFill>
              <a:srgbClr val="F6EEF7"/>
            </a:solidFill>
            <a:prstDash val="solid"/>
          </a:ln>
        </p:spPr>
        <p:txBody>
          <a:bodyPr/>
          <a:p/>
        </p:txBody>
      </p:sp>
      <p:sp>
        <p:nvSpPr>
          <p:cNvPr id="15" name="Shape 13"/>
          <p:cNvSpPr/>
          <p:nvPr/>
        </p:nvSpPr>
        <p:spPr>
          <a:xfrm>
            <a:off x="914400" y="7086600"/>
            <a:ext cx="822960" cy="1042416"/>
          </a:xfrm>
          <a:prstGeom prst="roundRect">
            <a:avLst>
              <a:gd name="adj" fmla="val 11111"/>
            </a:avLst>
          </a:prstGeom>
          <a:solidFill>
            <a:srgbClr val="4B1248"/>
          </a:solidFill>
          <a:ln w="12700">
            <a:solidFill>
              <a:srgbClr val="4B1248"/>
            </a:solidFill>
            <a:prstDash val="solid"/>
          </a:ln>
        </p:spPr>
        <p:txBody>
          <a:bodyPr/>
          <a:p/>
        </p:txBody>
      </p:sp>
      <p:sp>
        <p:nvSpPr>
          <p:cNvPr id="16" name="Text 14"/>
          <p:cNvSpPr txBox="1"/>
          <p:nvPr/>
        </p:nvSpPr>
        <p:spPr>
          <a:xfrm>
            <a:off x="914400" y="7086600"/>
            <a:ext cx="822960" cy="1042416"/>
          </a:xfrm>
          <a:prstGeom prst="rect">
            <a:avLst/>
          </a:prstGeom>
          <a:noFill/>
          <a:ln/>
        </p:spPr>
        <p:txBody>
          <a:bodyPr wrap="square" lIns="0" tIns="0" rIns="0" bIns="0" rtlCol="0" anchor="ctr"/>
          <a:lstStyle/>
          <a:p>
            <a:pPr marL="0" indent="0" algn="ctr">
              <a:buNone/>
            </a:pPr>
            <a:r>
              <a:rPr lang="en-US" sz="2300" b="1" dirty="0">
                <a:solidFill>
                  <a:srgbClr val="FFFFFF"/>
                </a:solidFill>
                <a:latin typeface="Arial" pitchFamily="34" charset="0"/>
                <a:ea typeface="Arial" pitchFamily="34" charset="-122"/>
                <a:cs typeface="Arial" pitchFamily="34" charset="-120"/>
              </a:rPr>
              <a:t>B</a:t>
            </a:r>
            <a:endParaRPr lang="en-US" sz="2300" dirty="0"/>
          </a:p>
        </p:txBody>
      </p:sp>
      <p:sp>
        <p:nvSpPr>
          <p:cNvPr id="17" name="Text 15"/>
          <p:cNvSpPr txBox="1"/>
          <p:nvPr/>
        </p:nvSpPr>
        <p:spPr>
          <a:xfrm>
            <a:off x="1920240" y="6995160"/>
            <a:ext cx="6812280" cy="1225296"/>
          </a:xfrm>
          <a:prstGeom prst="rect">
            <a:avLst/>
          </a:prstGeom>
          <a:noFill/>
          <a:ln/>
        </p:spPr>
        <p:txBody>
          <a:bodyPr wrap="square" lIns="0" tIns="0" rIns="0" bIns="0" rtlCol="0" anchor="ctr"/>
          <a:lstStyle/>
          <a:p>
            <a:pPr marL="0" indent="0">
              <a:spcAft>
                <a:spcPts val="300"/>
              </a:spcAft>
              <a:buNone/>
            </a:pPr>
            <a:r>
              <a:rPr lang="en-US" sz="1600" b="1" dirty="0">
                <a:solidFill>
                  <a:srgbClr val="4B1248"/>
                </a:solidFill>
                <a:latin typeface="Arial" pitchFamily="34" charset="0"/>
                <a:ea typeface="Arial" pitchFamily="34" charset="-122"/>
                <a:cs typeface="Arial" pitchFamily="34" charset="-120"/>
              </a:rPr>
              <a:t>Keep share: how many orders get paid</a:t>
            </a:r>
            <a:endParaRPr lang="en-US" sz="1600" dirty="0"/>
          </a:p>
          <a:p>
            <a:pPr marL="0" indent="0">
              <a:spcAft>
                <a:spcPts val="300"/>
              </a:spcAft>
              <a:buNone/>
            </a:pPr>
            <a:r>
              <a:rPr lang="en-US" sz="1350" dirty="0">
                <a:solidFill>
                  <a:srgbClr val="2A0B2F"/>
                </a:solidFill>
                <a:latin typeface="Arial" pitchFamily="34" charset="0"/>
                <a:ea typeface="Arial" pitchFamily="34" charset="-122"/>
                <a:cs typeface="Arial" pitchFamily="34" charset="-120"/>
              </a:rPr>
              <a:t>RTO 10%; returns about 6%, rising with price, 4.8% for a good product and 8.3% for a weak one; resale 0% soap, 70% t-shirts. Sets the floor: costs ÷ 0.845.</a:t>
            </a:r>
            <a:endParaRPr lang="en-US" sz="1600" dirty="0"/>
          </a:p>
        </p:txBody>
      </p:sp>
      <p:sp>
        <p:nvSpPr>
          <p:cNvPr id="18" name="Shape 16"/>
          <p:cNvSpPr/>
          <p:nvPr/>
        </p:nvSpPr>
        <p:spPr>
          <a:xfrm>
            <a:off x="731520" y="8458200"/>
            <a:ext cx="8138160" cy="640080"/>
          </a:xfrm>
          <a:prstGeom prst="roundRect">
            <a:avLst>
              <a:gd name="adj" fmla="val 17143"/>
            </a:avLst>
          </a:prstGeom>
          <a:solidFill>
            <a:srgbClr val="EFE3F1"/>
          </a:solidFill>
          <a:ln w="12700">
            <a:solidFill>
              <a:srgbClr val="EFE3F1"/>
            </a:solidFill>
            <a:prstDash val="solid"/>
          </a:ln>
        </p:spPr>
        <p:txBody>
          <a:bodyPr/>
          <a:p/>
        </p:txBody>
      </p:sp>
      <p:sp>
        <p:nvSpPr>
          <p:cNvPr id="19" name="Text 17"/>
          <p:cNvSpPr txBox="1"/>
          <p:nvPr/>
        </p:nvSpPr>
        <p:spPr>
          <a:xfrm>
            <a:off x="960120" y="8458200"/>
            <a:ext cx="7680960" cy="640080"/>
          </a:xfrm>
          <a:prstGeom prst="rect">
            <a:avLst/>
          </a:prstGeom>
          <a:noFill/>
          <a:ln/>
        </p:spPr>
        <p:txBody>
          <a:bodyPr wrap="square" lIns="0" tIns="0" rIns="0" bIns="0" rtlCol="0" anchor="ctr"/>
          <a:lstStyle/>
          <a:p>
            <a:pPr marL="0" indent="0">
              <a:buNone/>
            </a:pPr>
            <a:r>
              <a:rPr lang="en-US" sz="1200" dirty="0">
                <a:solidFill>
                  <a:srgbClr val="4B1248"/>
                </a:solidFill>
                <a:latin typeface="Arial" pitchFamily="34" charset="0"/>
                <a:ea typeface="Arial" pitchFamily="34" charset="-122"/>
                <a:cs typeface="Arial" pitchFamily="34" charset="-120"/>
              </a:rPr>
              <a:t>Checked against the simulator that made the data: same verdict on below-floor launches for good, typical and weak products. Our models are more cautious about discounts above the floor.</a:t>
            </a:r>
            <a:endParaRPr lang="en-US" sz="1200" dirty="0"/>
          </a:p>
        </p:txBody>
      </p:sp>
      <p:graphicFrame>
        <p:nvGraphicFramePr>
          <p:cNvPr id="20" name="Chart 0"/>
          <p:cNvGraphicFramePr/>
          <p:nvPr/>
        </p:nvGraphicFramePr>
        <p:xfrm>
          <a:off x="9235440" y="3840480"/>
          <a:ext cx="8321040" cy="26060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1"/>
          <p:cNvGraphicFramePr/>
          <p:nvPr/>
        </p:nvGraphicFramePr>
        <p:xfrm>
          <a:off x="9235440" y="6492240"/>
          <a:ext cx="8321040" cy="260604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731520" y="2578608"/>
            <a:ext cx="16824960" cy="658368"/>
          </a:xfrm>
          <a:prstGeom prst="rect">
            <a:avLst/>
          </a:prstGeom>
          <a:noFill/>
        </p:spPr>
        <p:txBody>
          <a:bodyPr wrap="square" lIns="0" rIns="0" tIns="0" bIns="0" anchor="ctr">
            <a:spAutoFit/>
          </a:bodyPr>
          <a:lstStyle/>
          <a:p>
            <a:pPr algn="l">
              <a:spcAft>
                <a:spcPts val="0"/>
              </a:spcAft>
            </a:pPr>
            <a:r>
              <a:rPr sz="3600" b="1" i="0">
                <a:solidFill>
                  <a:srgbClr val="4B1248"/>
                </a:solidFill>
                <a:latin typeface="Arial"/>
              </a:rPr>
              <a:t>What it takes to run Price Confidence, and what it costs</a:t>
            </a:r>
          </a:p>
        </p:txBody>
      </p:sp>
      <p:sp>
        <p:nvSpPr>
          <p:cNvPr id="3" name="TextBox 2"/>
          <p:cNvSpPr txBox="1"/>
          <p:nvPr/>
        </p:nvSpPr>
        <p:spPr>
          <a:xfrm>
            <a:off x="731520" y="3255264"/>
            <a:ext cx="16824960" cy="411480"/>
          </a:xfrm>
          <a:prstGeom prst="rect">
            <a:avLst/>
          </a:prstGeom>
          <a:noFill/>
        </p:spPr>
        <p:txBody>
          <a:bodyPr wrap="square" lIns="0" rIns="0" tIns="0" bIns="0" anchor="ctr">
            <a:spAutoFit/>
          </a:bodyPr>
          <a:lstStyle/>
          <a:p>
            <a:pPr algn="l">
              <a:spcAft>
                <a:spcPts val="0"/>
              </a:spcAft>
            </a:pPr>
            <a:r>
              <a:rPr sz="1700" b="0" i="1">
                <a:solidFill>
                  <a:srgbClr val="67516B"/>
                </a:solidFill>
                <a:latin typeface="Arial"/>
              </a:rPr>
              <a:t>Mostly data Meesho already collects, small models on CPUs, and one part-time GPU. Estimates for 10 million active listings.</a:t>
            </a:r>
          </a:p>
        </p:txBody>
      </p:sp>
      <p:sp>
        <p:nvSpPr>
          <p:cNvPr id="4" name="TextBox 3"/>
          <p:cNvSpPr txBox="1"/>
          <p:nvPr/>
        </p:nvSpPr>
        <p:spPr>
          <a:xfrm>
            <a:off x="731520" y="9198864"/>
            <a:ext cx="15727680" cy="329184"/>
          </a:xfrm>
          <a:prstGeom prst="rect">
            <a:avLst/>
          </a:prstGeom>
          <a:noFill/>
        </p:spPr>
        <p:txBody>
          <a:bodyPr wrap="square" lIns="0" rIns="0" tIns="0" bIns="0" anchor="ctr">
            <a:spAutoFit/>
          </a:bodyPr>
          <a:lstStyle/>
          <a:p>
            <a:pPr algn="l">
              <a:spcAft>
                <a:spcPts val="0"/>
              </a:spcAft>
            </a:pPr>
            <a:r>
              <a:rPr sz="1100" b="0" i="0">
                <a:solidFill>
                  <a:srgbClr val="67516B"/>
                </a:solidFill>
                <a:latin typeface="Arial"/>
              </a:rPr>
              <a:t>Assumes 10M active listings, 1M new listings and 2M reviews a day. AWS Mumbai on-demand prices, Oct 2026, at ₹96 per $: ₹4.1 per vCPU-hour (c6i), ₹56 per GPU-hour (T4), ₹2.4 per GB-month (S3). Excludes data transfer, disks and salaries.</a:t>
            </a:r>
          </a:p>
        </p:txBody>
      </p:sp>
      <p:sp>
        <p:nvSpPr>
          <p:cNvPr id="5" name="TextBox 4"/>
          <p:cNvSpPr txBox="1"/>
          <p:nvPr/>
        </p:nvSpPr>
        <p:spPr>
          <a:xfrm>
            <a:off x="17007840" y="9198864"/>
            <a:ext cx="548640" cy="329184"/>
          </a:xfrm>
          <a:prstGeom prst="rect">
            <a:avLst/>
          </a:prstGeom>
          <a:noFill/>
        </p:spPr>
        <p:txBody>
          <a:bodyPr wrap="square" lIns="0" rIns="0" tIns="0" bIns="0" anchor="ctr">
            <a:spAutoFit/>
          </a:bodyPr>
          <a:lstStyle/>
          <a:p>
            <a:pPr algn="r">
              <a:spcAft>
                <a:spcPts val="0"/>
              </a:spcAft>
            </a:pPr>
            <a:r>
              <a:rPr sz="1200" b="0" i="0">
                <a:solidFill>
                  <a:srgbClr val="67516B"/>
                </a:solidFill>
                <a:latin typeface="Arial"/>
              </a:rPr>
              <a:t>9</a:t>
            </a:r>
          </a:p>
        </p:txBody>
      </p:sp>
      <p:sp>
        <p:nvSpPr>
          <p:cNvPr id="6" name="Rounded Rectangle 5"/>
          <p:cNvSpPr/>
          <p:nvPr/>
        </p:nvSpPr>
        <p:spPr>
          <a:xfrm>
            <a:off x="731520" y="3886200"/>
            <a:ext cx="4846320" cy="5212080"/>
          </a:xfrm>
          <a:prstGeom prst="roundRect">
            <a:avLst>
              <a:gd name="adj" fmla="val 4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023360"/>
            <a:ext cx="4297680" cy="411480"/>
          </a:xfrm>
          <a:prstGeom prst="rect">
            <a:avLst/>
          </a:prstGeom>
          <a:noFill/>
        </p:spPr>
        <p:txBody>
          <a:bodyPr wrap="square" lIns="0" rIns="0" tIns="0" bIns="0" anchor="t">
            <a:spAutoFit/>
          </a:bodyPr>
          <a:lstStyle/>
          <a:p>
            <a:pPr algn="l">
              <a:spcAft>
                <a:spcPts val="0"/>
              </a:spcAft>
            </a:pPr>
            <a:r>
              <a:rPr sz="1800" b="1" i="0">
                <a:solidFill>
                  <a:srgbClr val="4B1248"/>
                </a:solidFill>
                <a:latin typeface="Arial"/>
              </a:rPr>
              <a:t>Data it needs</a:t>
            </a:r>
          </a:p>
        </p:txBody>
      </p:sp>
      <p:sp>
        <p:nvSpPr>
          <p:cNvPr id="8" name="TextBox 7"/>
          <p:cNvSpPr txBox="1"/>
          <p:nvPr/>
        </p:nvSpPr>
        <p:spPr>
          <a:xfrm>
            <a:off x="1005840" y="4553712"/>
            <a:ext cx="4297680" cy="4434840"/>
          </a:xfrm>
          <a:prstGeom prst="rect">
            <a:avLst/>
          </a:prstGeom>
          <a:noFill/>
        </p:spPr>
        <p:txBody>
          <a:bodyPr wrap="square" lIns="0" rIns="0" tIns="0" bIns="0" anchor="t">
            <a:spAutoFit/>
          </a:bodyPr>
          <a:lstStyle/>
          <a:p>
            <a:pPr algn="l">
              <a:spcAft>
                <a:spcPts val="300"/>
              </a:spcAft>
            </a:pPr>
            <a:r>
              <a:rPr sz="1400" b="1" i="0">
                <a:solidFill>
                  <a:srgbClr val="C2185B"/>
                </a:solidFill>
                <a:latin typeface="Arial"/>
              </a:rPr>
              <a:t>The seller types</a:t>
            </a:r>
          </a:p>
          <a:p>
            <a:pPr algn="l">
              <a:spcAft>
                <a:spcPts val="1400"/>
              </a:spcAft>
            </a:pPr>
            <a:r>
              <a:rPr sz="1450" b="0" i="0">
                <a:solidFill>
                  <a:srgbClr val="67516B"/>
                </a:solidFill>
                <a:latin typeface="Arial"/>
              </a:rPr>
              <a:t>Making cost, packaging, free gift; optionally a loss budget.</a:t>
            </a:r>
          </a:p>
          <a:p>
            <a:pPr algn="l">
              <a:spcAft>
                <a:spcPts val="300"/>
              </a:spcAft>
            </a:pPr>
            <a:r>
              <a:rPr sz="1400" b="1" i="0">
                <a:solidFill>
                  <a:srgbClr val="5B2A86"/>
                </a:solidFill>
                <a:latin typeface="Arial"/>
              </a:rPr>
              <a:t>Meesho already holds</a:t>
            </a:r>
          </a:p>
          <a:p>
            <a:pPr algn="l">
              <a:spcAft>
                <a:spcPts val="800"/>
              </a:spcAft>
            </a:pPr>
            <a:r>
              <a:rPr sz="1450" b="1" i="0">
                <a:solidFill>
                  <a:srgbClr val="2A0B2F"/>
                </a:solidFill>
                <a:latin typeface="Arial"/>
              </a:rPr>
              <a:t>Catalogue: </a:t>
            </a:r>
            <a:r>
              <a:rPr sz="1450" b="0" i="0">
                <a:solidFill>
                  <a:srgbClr val="67516B"/>
                </a:solidFill>
                <a:latin typeface="Arial"/>
              </a:rPr>
              <a:t>title, photos, attributes, weight (sets the delivery fee).</a:t>
            </a:r>
          </a:p>
          <a:p>
            <a:pPr algn="l">
              <a:spcAft>
                <a:spcPts val="800"/>
              </a:spcAft>
            </a:pPr>
            <a:r>
              <a:rPr sz="1450" b="1" i="0">
                <a:solidFill>
                  <a:srgbClr val="2A0B2F"/>
                </a:solidFill>
                <a:latin typeface="Arial"/>
              </a:rPr>
              <a:t>Weekly funnel per listing: </a:t>
            </a:r>
            <a:r>
              <a:rPr sz="1450" b="0" i="0">
                <a:solidFill>
                  <a:srgbClr val="67516B"/>
                </a:solidFill>
                <a:latin typeface="Arial"/>
              </a:rPr>
              <a:t>impressions, views, cart, orders.</a:t>
            </a:r>
          </a:p>
          <a:p>
            <a:pPr algn="l">
              <a:spcAft>
                <a:spcPts val="800"/>
              </a:spcAft>
            </a:pPr>
            <a:r>
              <a:rPr sz="1450" b="1" i="0">
                <a:solidFill>
                  <a:srgbClr val="2A0B2F"/>
                </a:solidFill>
                <a:latin typeface="Arial"/>
              </a:rPr>
              <a:t>Order outcomes: </a:t>
            </a:r>
            <a:r>
              <a:rPr sz="1450" b="0" i="0">
                <a:solidFill>
                  <a:srgbClr val="67516B"/>
                </a:solidFill>
                <a:latin typeface="Arial"/>
              </a:rPr>
              <a:t>COD or prepaid, RTO, returns and reasons, resale.</a:t>
            </a:r>
          </a:p>
          <a:p>
            <a:pPr algn="l">
              <a:spcAft>
                <a:spcPts val="800"/>
              </a:spcAft>
            </a:pPr>
            <a:r>
              <a:rPr sz="1450" b="1" i="0">
                <a:solidFill>
                  <a:srgbClr val="2A0B2F"/>
                </a:solidFill>
                <a:latin typeface="Arial"/>
              </a:rPr>
              <a:t>Reviews: </a:t>
            </a:r>
            <a:r>
              <a:rPr sz="1450" b="0" i="0">
                <a:solidFill>
                  <a:srgbClr val="67516B"/>
                </a:solidFill>
                <a:latin typeface="Arial"/>
              </a:rPr>
              <a:t>stars and text.</a:t>
            </a:r>
          </a:p>
          <a:p>
            <a:pPr algn="l">
              <a:spcAft>
                <a:spcPts val="800"/>
              </a:spcAft>
            </a:pPr>
            <a:r>
              <a:rPr sz="1450" b="1" i="0">
                <a:solidFill>
                  <a:srgbClr val="2A0B2F"/>
                </a:solidFill>
                <a:latin typeface="Arial"/>
              </a:rPr>
              <a:t>Market: </a:t>
            </a:r>
            <a:r>
              <a:rPr sz="1450" b="0" i="0">
                <a:solidFill>
                  <a:srgbClr val="67516B"/>
                </a:solidFill>
                <a:latin typeface="Arial"/>
              </a:rPr>
              <a:t>prices of matched listings, festival and sale weeks, fee and GST tables.</a:t>
            </a:r>
          </a:p>
        </p:txBody>
      </p:sp>
      <p:sp>
        <p:nvSpPr>
          <p:cNvPr id="9" name="TextBox 8"/>
          <p:cNvSpPr txBox="1"/>
          <p:nvPr/>
        </p:nvSpPr>
        <p:spPr>
          <a:xfrm>
            <a:off x="5852160" y="3886200"/>
            <a:ext cx="5440680" cy="411480"/>
          </a:xfrm>
          <a:prstGeom prst="rect">
            <a:avLst/>
          </a:prstGeom>
          <a:noFill/>
        </p:spPr>
        <p:txBody>
          <a:bodyPr wrap="square" lIns="0" rIns="0" tIns="0" bIns="0" anchor="t">
            <a:spAutoFit/>
          </a:bodyPr>
          <a:lstStyle/>
          <a:p>
            <a:pPr algn="l">
              <a:spcAft>
                <a:spcPts val="0"/>
              </a:spcAft>
            </a:pPr>
            <a:r>
              <a:rPr sz="1800" b="1" i="0">
                <a:solidFill>
                  <a:srgbClr val="4B1248"/>
                </a:solidFill>
                <a:latin typeface="Arial"/>
              </a:rPr>
              <a:t>How it runs</a:t>
            </a:r>
          </a:p>
        </p:txBody>
      </p:sp>
      <p:sp>
        <p:nvSpPr>
          <p:cNvPr id="10" name="Rounded Rectangle 9"/>
          <p:cNvSpPr/>
          <p:nvPr/>
        </p:nvSpPr>
        <p:spPr>
          <a:xfrm>
            <a:off x="5852160" y="4389120"/>
            <a:ext cx="5440680" cy="685800"/>
          </a:xfrm>
          <a:prstGeom prst="roundRect">
            <a:avLst>
              <a:gd name="adj" fmla="val 8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4389120"/>
            <a:ext cx="411480" cy="685800"/>
          </a:xfrm>
          <a:prstGeom prst="rect">
            <a:avLst/>
          </a:prstGeom>
          <a:noFill/>
        </p:spPr>
        <p:txBody>
          <a:bodyPr wrap="square" lIns="0" rIns="0" tIns="0" bIns="0" anchor="ctr">
            <a:spAutoFit/>
          </a:bodyPr>
          <a:lstStyle/>
          <a:p>
            <a:pPr algn="l">
              <a:spcAft>
                <a:spcPts val="0"/>
              </a:spcAft>
            </a:pPr>
            <a:r>
              <a:rPr sz="2000" b="1" i="0">
                <a:solidFill>
                  <a:srgbClr val="D9780A"/>
                </a:solidFill>
                <a:latin typeface="Arial"/>
              </a:rPr>
              <a:t>1</a:t>
            </a:r>
          </a:p>
        </p:txBody>
      </p:sp>
      <p:sp>
        <p:nvSpPr>
          <p:cNvPr id="12" name="TextBox 11"/>
          <p:cNvSpPr txBox="1"/>
          <p:nvPr/>
        </p:nvSpPr>
        <p:spPr>
          <a:xfrm>
            <a:off x="6492240" y="4443983"/>
            <a:ext cx="4617720" cy="576072"/>
          </a:xfrm>
          <a:prstGeom prst="rect">
            <a:avLst/>
          </a:prstGeom>
          <a:noFill/>
        </p:spPr>
        <p:txBody>
          <a:bodyPr wrap="square" lIns="0" rIns="0" tIns="0" bIns="0" anchor="ctr">
            <a:spAutoFit/>
          </a:bodyPr>
          <a:lstStyle/>
          <a:p>
            <a:pPr algn="l">
              <a:spcAft>
                <a:spcPts val="0"/>
              </a:spcAft>
            </a:pPr>
            <a:r>
              <a:rPr sz="1250" b="1" i="0">
                <a:solidFill>
                  <a:srgbClr val="4B1248"/>
                </a:solidFill>
                <a:latin typeface="Arial"/>
              </a:rPr>
              <a:t>Collect. </a:t>
            </a:r>
            <a:r>
              <a:rPr sz="1250" b="0" i="0">
                <a:solidFill>
                  <a:srgbClr val="2A0B2F"/>
                </a:solidFill>
                <a:latin typeface="Arial"/>
              </a:rPr>
              <a:t>Existing event stream and order tables land daily in the data lake (Parquet on cloud storage).</a:t>
            </a:r>
          </a:p>
        </p:txBody>
      </p:sp>
      <p:sp>
        <p:nvSpPr>
          <p:cNvPr id="13" name="Rounded Rectangle 12"/>
          <p:cNvSpPr/>
          <p:nvPr/>
        </p:nvSpPr>
        <p:spPr>
          <a:xfrm>
            <a:off x="5852160" y="5166359"/>
            <a:ext cx="5440680" cy="685800"/>
          </a:xfrm>
          <a:prstGeom prst="roundRect">
            <a:avLst>
              <a:gd name="adj" fmla="val 8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5166359"/>
            <a:ext cx="411480" cy="685800"/>
          </a:xfrm>
          <a:prstGeom prst="rect">
            <a:avLst/>
          </a:prstGeom>
          <a:noFill/>
        </p:spPr>
        <p:txBody>
          <a:bodyPr wrap="square" lIns="0" rIns="0" tIns="0" bIns="0" anchor="ctr">
            <a:spAutoFit/>
          </a:bodyPr>
          <a:lstStyle/>
          <a:p>
            <a:pPr algn="l">
              <a:spcAft>
                <a:spcPts val="0"/>
              </a:spcAft>
            </a:pPr>
            <a:r>
              <a:rPr sz="2000" b="1" i="0">
                <a:solidFill>
                  <a:srgbClr val="D9780A"/>
                </a:solidFill>
                <a:latin typeface="Arial"/>
              </a:rPr>
              <a:t>2</a:t>
            </a:r>
          </a:p>
        </p:txBody>
      </p:sp>
      <p:sp>
        <p:nvSpPr>
          <p:cNvPr id="15" name="TextBox 14"/>
          <p:cNvSpPr txBox="1"/>
          <p:nvPr/>
        </p:nvSpPr>
        <p:spPr>
          <a:xfrm>
            <a:off x="6492240" y="5221223"/>
            <a:ext cx="4617720" cy="576072"/>
          </a:xfrm>
          <a:prstGeom prst="rect">
            <a:avLst/>
          </a:prstGeom>
          <a:noFill/>
        </p:spPr>
        <p:txBody>
          <a:bodyPr wrap="square" lIns="0" rIns="0" tIns="0" bIns="0" anchor="ctr">
            <a:spAutoFit/>
          </a:bodyPr>
          <a:lstStyle/>
          <a:p>
            <a:pPr algn="l">
              <a:spcAft>
                <a:spcPts val="0"/>
              </a:spcAft>
            </a:pPr>
            <a:r>
              <a:rPr sz="1250" b="1" i="0">
                <a:solidFill>
                  <a:srgbClr val="4B1248"/>
                </a:solidFill>
                <a:latin typeface="Arial"/>
              </a:rPr>
              <a:t>Prepare. </a:t>
            </a:r>
            <a:r>
              <a:rPr sz="1250" b="0" i="0">
                <a:solidFill>
                  <a:srgbClr val="2A0B2F"/>
                </a:solidFill>
                <a:latin typeface="Arial"/>
              </a:rPr>
              <a:t>Spark or SQL jobs on Airflow build weekly listing features, market bands, and return and RTO rates.</a:t>
            </a:r>
          </a:p>
        </p:txBody>
      </p:sp>
      <p:sp>
        <p:nvSpPr>
          <p:cNvPr id="16" name="Rounded Rectangle 15"/>
          <p:cNvSpPr/>
          <p:nvPr/>
        </p:nvSpPr>
        <p:spPr>
          <a:xfrm>
            <a:off x="5852160" y="5943599"/>
            <a:ext cx="5440680" cy="1097280"/>
          </a:xfrm>
          <a:prstGeom prst="roundRect">
            <a:avLst>
              <a:gd name="adj" fmla="val 8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5943599"/>
            <a:ext cx="411480" cy="1097280"/>
          </a:xfrm>
          <a:prstGeom prst="rect">
            <a:avLst/>
          </a:prstGeom>
          <a:noFill/>
        </p:spPr>
        <p:txBody>
          <a:bodyPr wrap="square" lIns="0" rIns="0" tIns="0" bIns="0" anchor="ctr">
            <a:spAutoFit/>
          </a:bodyPr>
          <a:lstStyle/>
          <a:p>
            <a:pPr algn="l">
              <a:spcAft>
                <a:spcPts val="0"/>
              </a:spcAft>
            </a:pPr>
            <a:r>
              <a:rPr sz="2000" b="1" i="0">
                <a:solidFill>
                  <a:srgbClr val="D9780A"/>
                </a:solidFill>
                <a:latin typeface="Arial"/>
              </a:rPr>
              <a:t>3</a:t>
            </a:r>
          </a:p>
        </p:txBody>
      </p:sp>
      <p:sp>
        <p:nvSpPr>
          <p:cNvPr id="18" name="TextBox 17"/>
          <p:cNvSpPr txBox="1"/>
          <p:nvPr/>
        </p:nvSpPr>
        <p:spPr>
          <a:xfrm>
            <a:off x="6492240" y="5998463"/>
            <a:ext cx="4617720" cy="987552"/>
          </a:xfrm>
          <a:prstGeom prst="rect">
            <a:avLst/>
          </a:prstGeom>
          <a:noFill/>
        </p:spPr>
        <p:txBody>
          <a:bodyPr wrap="square" lIns="0" rIns="0" tIns="0" bIns="0" anchor="ctr">
            <a:spAutoFit/>
          </a:bodyPr>
          <a:lstStyle/>
          <a:p>
            <a:pPr algn="l">
              <a:spcAft>
                <a:spcPts val="0"/>
              </a:spcAft>
            </a:pPr>
            <a:r>
              <a:rPr sz="1250" b="1" i="0">
                <a:solidFill>
                  <a:srgbClr val="4B1248"/>
                </a:solidFill>
                <a:latin typeface="Arial"/>
              </a:rPr>
              <a:t>Learn. </a:t>
            </a:r>
            <a:r>
              <a:rPr sz="1250" b="0" i="0">
                <a:solidFill>
                  <a:srgbClr val="2A0B2F"/>
                </a:solidFill>
                <a:latin typeface="Arial"/>
              </a:rPr>
              <a:t>A1, A2 and B retrain weekly in Python (statsmodels or LightGBM) on CPUs. A small multilingual text model reads reviews; product matching reuses Meesho's image and text embeddings.</a:t>
            </a:r>
          </a:p>
        </p:txBody>
      </p:sp>
      <p:sp>
        <p:nvSpPr>
          <p:cNvPr id="19" name="Rounded Rectangle 18"/>
          <p:cNvSpPr/>
          <p:nvPr/>
        </p:nvSpPr>
        <p:spPr>
          <a:xfrm>
            <a:off x="5852160" y="7132319"/>
            <a:ext cx="5440680" cy="868680"/>
          </a:xfrm>
          <a:prstGeom prst="roundRect">
            <a:avLst>
              <a:gd name="adj" fmla="val 8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7132319"/>
            <a:ext cx="411480" cy="868680"/>
          </a:xfrm>
          <a:prstGeom prst="rect">
            <a:avLst/>
          </a:prstGeom>
          <a:noFill/>
        </p:spPr>
        <p:txBody>
          <a:bodyPr wrap="square" lIns="0" rIns="0" tIns="0" bIns="0" anchor="ctr">
            <a:spAutoFit/>
          </a:bodyPr>
          <a:lstStyle/>
          <a:p>
            <a:pPr algn="l">
              <a:spcAft>
                <a:spcPts val="0"/>
              </a:spcAft>
            </a:pPr>
            <a:r>
              <a:rPr sz="2000" b="1" i="0">
                <a:solidFill>
                  <a:srgbClr val="D9780A"/>
                </a:solidFill>
                <a:latin typeface="Arial"/>
              </a:rPr>
              <a:t>4</a:t>
            </a:r>
          </a:p>
        </p:txBody>
      </p:sp>
      <p:sp>
        <p:nvSpPr>
          <p:cNvPr id="21" name="TextBox 20"/>
          <p:cNvSpPr txBox="1"/>
          <p:nvPr/>
        </p:nvSpPr>
        <p:spPr>
          <a:xfrm>
            <a:off x="6492240" y="7187183"/>
            <a:ext cx="4617720" cy="758952"/>
          </a:xfrm>
          <a:prstGeom prst="rect">
            <a:avLst/>
          </a:prstGeom>
          <a:noFill/>
        </p:spPr>
        <p:txBody>
          <a:bodyPr wrap="square" lIns="0" rIns="0" tIns="0" bIns="0" anchor="ctr">
            <a:spAutoFit/>
          </a:bodyPr>
          <a:lstStyle/>
          <a:p>
            <a:pPr algn="l">
              <a:spcAft>
                <a:spcPts val="0"/>
              </a:spcAft>
            </a:pPr>
            <a:r>
              <a:rPr sz="1250" b="1" i="0">
                <a:solidFill>
                  <a:srgbClr val="4B1248"/>
                </a:solidFill>
                <a:latin typeface="Arial"/>
              </a:rPr>
              <a:t>Serve. </a:t>
            </a:r>
            <a:r>
              <a:rPr sz="1250" b="0" i="0">
                <a:solidFill>
                  <a:srgbClr val="2A0B2F"/>
                </a:solidFill>
                <a:latin typeface="Arial"/>
              </a:rPr>
              <a:t>A pricing service with the same logic as our demo answers the Supplier Panel in milliseconds; a nightly batch raises alerts.</a:t>
            </a:r>
          </a:p>
        </p:txBody>
      </p:sp>
      <p:sp>
        <p:nvSpPr>
          <p:cNvPr id="22" name="Rounded Rectangle 21"/>
          <p:cNvSpPr/>
          <p:nvPr/>
        </p:nvSpPr>
        <p:spPr>
          <a:xfrm>
            <a:off x="5852160" y="8092440"/>
            <a:ext cx="5440680" cy="685800"/>
          </a:xfrm>
          <a:prstGeom prst="roundRect">
            <a:avLst>
              <a:gd name="adj" fmla="val 8000"/>
            </a:avLst>
          </a:prstGeom>
          <a:solidFill>
            <a:srgbClr val="F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0" y="8092440"/>
            <a:ext cx="411480" cy="685800"/>
          </a:xfrm>
          <a:prstGeom prst="rect">
            <a:avLst/>
          </a:prstGeom>
          <a:noFill/>
        </p:spPr>
        <p:txBody>
          <a:bodyPr wrap="square" lIns="0" rIns="0" tIns="0" bIns="0" anchor="ctr">
            <a:spAutoFit/>
          </a:bodyPr>
          <a:lstStyle/>
          <a:p>
            <a:pPr algn="l">
              <a:spcAft>
                <a:spcPts val="0"/>
              </a:spcAft>
            </a:pPr>
            <a:r>
              <a:rPr sz="2000" b="1" i="0">
                <a:solidFill>
                  <a:srgbClr val="D9780A"/>
                </a:solidFill>
                <a:latin typeface="Arial"/>
              </a:rPr>
              <a:t>5</a:t>
            </a:r>
          </a:p>
        </p:txBody>
      </p:sp>
      <p:sp>
        <p:nvSpPr>
          <p:cNvPr id="24" name="TextBox 23"/>
          <p:cNvSpPr txBox="1"/>
          <p:nvPr/>
        </p:nvSpPr>
        <p:spPr>
          <a:xfrm>
            <a:off x="6492240" y="8147304"/>
            <a:ext cx="4617720" cy="576072"/>
          </a:xfrm>
          <a:prstGeom prst="rect">
            <a:avLst/>
          </a:prstGeom>
          <a:noFill/>
        </p:spPr>
        <p:txBody>
          <a:bodyPr wrap="square" lIns="0" rIns="0" tIns="0" bIns="0" anchor="ctr">
            <a:spAutoFit/>
          </a:bodyPr>
          <a:lstStyle/>
          <a:p>
            <a:pPr algn="l">
              <a:spcAft>
                <a:spcPts val="0"/>
              </a:spcAft>
            </a:pPr>
            <a:r>
              <a:rPr sz="1250" b="1" i="0">
                <a:solidFill>
                  <a:srgbClr val="4B1248"/>
                </a:solidFill>
                <a:latin typeface="Arial"/>
              </a:rPr>
              <a:t>Check. </a:t>
            </a:r>
            <a:r>
              <a:rPr sz="1250" b="0" i="0">
                <a:solidFill>
                  <a:srgbClr val="2A0B2F"/>
                </a:solidFill>
                <a:latin typeface="Arial"/>
              </a:rPr>
              <a:t>Model registry (MLflow), dashboards, and Meesho's A/B platform for the pilot.</a:t>
            </a:r>
          </a:p>
        </p:txBody>
      </p:sp>
      <p:sp>
        <p:nvSpPr>
          <p:cNvPr id="25" name="TextBox 24"/>
          <p:cNvSpPr txBox="1"/>
          <p:nvPr/>
        </p:nvSpPr>
        <p:spPr>
          <a:xfrm>
            <a:off x="11567160" y="3886200"/>
            <a:ext cx="5989320" cy="411480"/>
          </a:xfrm>
          <a:prstGeom prst="rect">
            <a:avLst/>
          </a:prstGeom>
          <a:noFill/>
        </p:spPr>
        <p:txBody>
          <a:bodyPr wrap="square" lIns="0" rIns="0" tIns="0" bIns="0" anchor="t">
            <a:spAutoFit/>
          </a:bodyPr>
          <a:lstStyle/>
          <a:p>
            <a:pPr algn="l">
              <a:spcAft>
                <a:spcPts val="0"/>
              </a:spcAft>
            </a:pPr>
            <a:r>
              <a:rPr sz="1800" b="1" i="0">
                <a:solidFill>
                  <a:srgbClr val="4B1248"/>
                </a:solidFill>
                <a:latin typeface="Arial"/>
              </a:rPr>
              <a:t>What it costs a month (approx.)</a:t>
            </a:r>
          </a:p>
        </p:txBody>
      </p:sp>
      <p:graphicFrame>
        <p:nvGraphicFramePr>
          <p:cNvPr id="26" name="Table 25"/>
          <p:cNvGraphicFramePr>
            <a:graphicFrameLocks noGrp="1"/>
          </p:cNvGraphicFramePr>
          <p:nvPr/>
        </p:nvGraphicFramePr>
        <p:xfrm>
          <a:off x="11567160" y="4370832"/>
          <a:ext cx="5989320" cy="3108960"/>
        </p:xfrm>
        <a:graphic>
          <a:graphicData uri="http://schemas.openxmlformats.org/drawingml/2006/table">
            <a:tbl>
              <a:tblPr firstRow="1">
                <a:tableStyleId>{5C22544A-7EE6-4342-B048-85BDC9FD1C3A}</a:tableStyleId>
              </a:tblPr>
              <a:tblGrid>
                <a:gridCol w="2011680"/>
                <a:gridCol w="2148840"/>
                <a:gridCol w="1828800"/>
              </a:tblGrid>
              <a:tr h="365760">
                <a:tc>
                  <a:txBody>
                    <a:bodyPr wrap="square"/>
                    <a:lstStyle/>
                    <a:p>
                      <a:pPr algn="l"/>
                      <a:r>
                        <a:rPr sz="1200" b="1">
                          <a:solidFill>
                            <a:srgbClr val="FFFFFF"/>
                          </a:solidFill>
                          <a:latin typeface="Arial"/>
                        </a:rPr>
                        <a:t>Item</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4B1248"/>
                    </a:solidFill>
                  </a:tcPr>
                </a:tc>
                <a:tc>
                  <a:txBody>
                    <a:bodyPr wrap="square"/>
                    <a:lstStyle/>
                    <a:p>
                      <a:pPr algn="l"/>
                      <a:r>
                        <a:rPr sz="1200" b="1">
                          <a:solidFill>
                            <a:srgbClr val="FFFFFF"/>
                          </a:solidFill>
                          <a:latin typeface="Arial"/>
                        </a:rPr>
                        <a:t>Sizing</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4B1248"/>
                    </a:solidFill>
                  </a:tcPr>
                </a:tc>
                <a:tc>
                  <a:txBody>
                    <a:bodyPr wrap="square"/>
                    <a:lstStyle/>
                    <a:p>
                      <a:pPr algn="l"/>
                      <a:r>
                        <a:rPr sz="1200" b="1">
                          <a:solidFill>
                            <a:srgbClr val="FFFFFF"/>
                          </a:solidFill>
                          <a:latin typeface="Arial"/>
                        </a:rPr>
                        <a:t>₹ a month</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4B1248"/>
                    </a:solidFill>
                  </a:tcPr>
                </a:tc>
              </a:tr>
              <a:tr h="457200">
                <a:tc>
                  <a:txBody>
                    <a:bodyPr wrap="square"/>
                    <a:lstStyle/>
                    <a:p>
                      <a:pPr algn="l"/>
                      <a:r>
                        <a:rPr sz="1200" b="1">
                          <a:solidFill>
                            <a:srgbClr val="4B1248"/>
                          </a:solidFill>
                          <a:latin typeface="Arial"/>
                        </a:rPr>
                        <a:t>Weekly model retraining</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l"/>
                      <a:r>
                        <a:rPr sz="1200" b="0">
                          <a:solidFill>
                            <a:srgbClr val="2A0B2F"/>
                          </a:solidFill>
                          <a:latin typeface="Arial"/>
                        </a:rPr>
                        <a:t>CPU, about 1,500 vCPU-hours a week</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r"/>
                      <a:r>
                        <a:rPr sz="1200" b="0">
                          <a:solidFill>
                            <a:srgbClr val="2A0B2F"/>
                          </a:solidFill>
                          <a:latin typeface="Arial"/>
                        </a:rPr>
                        <a:t>27,000</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r>
              <a:tr h="457200">
                <a:tc>
                  <a:txBody>
                    <a:bodyPr wrap="square"/>
                    <a:lstStyle/>
                    <a:p>
                      <a:pPr algn="l"/>
                      <a:r>
                        <a:rPr sz="1200" b="1">
                          <a:solidFill>
                            <a:srgbClr val="4B1248"/>
                          </a:solidFill>
                          <a:latin typeface="Arial"/>
                        </a:rPr>
                        <a:t>Nightly alerts for every listing</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l"/>
                      <a:r>
                        <a:rPr sz="1200" b="0">
                          <a:solidFill>
                            <a:srgbClr val="2A0B2F"/>
                          </a:solidFill>
                          <a:latin typeface="Arial"/>
                        </a:rPr>
                        <a:t>CPU, about 1 hour on 64 cores</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r"/>
                      <a:r>
                        <a:rPr sz="1200" b="0">
                          <a:solidFill>
                            <a:srgbClr val="2A0B2F"/>
                          </a:solidFill>
                          <a:latin typeface="Arial"/>
                        </a:rPr>
                        <a:t>8,000</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r>
              <a:tr h="457200">
                <a:tc>
                  <a:txBody>
                    <a:bodyPr wrap="square"/>
                    <a:lstStyle/>
                    <a:p>
                      <a:pPr algn="l"/>
                      <a:r>
                        <a:rPr sz="1200" b="1">
                          <a:solidFill>
                            <a:srgbClr val="4B1248"/>
                          </a:solidFill>
                          <a:latin typeface="Arial"/>
                        </a:rPr>
                        <a:t>Live pricing API</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l"/>
                      <a:r>
                        <a:rPr sz="1200" b="0">
                          <a:solidFill>
                            <a:srgbClr val="2A0B2F"/>
                          </a:solidFill>
                          <a:latin typeface="Arial"/>
                        </a:rPr>
                        <a:t>2 to 4 small servers, about 5 ms a request</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r"/>
                      <a:r>
                        <a:rPr sz="1200" b="0">
                          <a:solidFill>
                            <a:srgbClr val="2A0B2F"/>
                          </a:solidFill>
                          <a:latin typeface="Arial"/>
                        </a:rPr>
                        <a:t>24,000–48,000</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r>
              <a:tr h="457200">
                <a:tc>
                  <a:txBody>
                    <a:bodyPr wrap="square"/>
                    <a:lstStyle/>
                    <a:p>
                      <a:pPr algn="l"/>
                      <a:r>
                        <a:rPr sz="1200" b="1">
                          <a:solidFill>
                            <a:srgbClr val="4B1248"/>
                          </a:solidFill>
                          <a:latin typeface="Arial"/>
                        </a:rPr>
                        <a:t>Reading reviews, embedding new photos</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l"/>
                      <a:r>
                        <a:rPr sz="1200" b="0">
                          <a:solidFill>
                            <a:srgbClr val="2A0B2F"/>
                          </a:solidFill>
                          <a:latin typeface="Arial"/>
                        </a:rPr>
                        <a:t>1 GPU (T4), about 2 hours a day</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r"/>
                      <a:r>
                        <a:rPr sz="1200" b="0">
                          <a:solidFill>
                            <a:srgbClr val="2A0B2F"/>
                          </a:solidFill>
                          <a:latin typeface="Arial"/>
                        </a:rPr>
                        <a:t>3,500 (41,000 if always on)</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r>
              <a:tr h="457200">
                <a:tc>
                  <a:txBody>
                    <a:bodyPr wrap="square"/>
                    <a:lstStyle/>
                    <a:p>
                      <a:pPr algn="l"/>
                      <a:r>
                        <a:rPr sz="1200" b="1">
                          <a:solidFill>
                            <a:srgbClr val="4B1248"/>
                          </a:solidFill>
                          <a:latin typeface="Arial"/>
                        </a:rPr>
                        <a:t>Storage</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l"/>
                      <a:r>
                        <a:rPr sz="1200" b="0">
                          <a:solidFill>
                            <a:srgbClr val="2A0B2F"/>
                          </a:solidFill>
                          <a:latin typeface="Arial"/>
                        </a:rPr>
                        <a:t>Under 1 TB: features, reviews, embeddings</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c>
                  <a:txBody>
                    <a:bodyPr wrap="square"/>
                    <a:lstStyle/>
                    <a:p>
                      <a:pPr algn="r"/>
                      <a:r>
                        <a:rPr sz="1200" b="0">
                          <a:solidFill>
                            <a:srgbClr val="2A0B2F"/>
                          </a:solidFill>
                          <a:latin typeface="Arial"/>
                        </a:rPr>
                        <a:t>2,500</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FFFFFF"/>
                    </a:solidFill>
                  </a:tcPr>
                </a:tc>
              </a:tr>
              <a:tr h="457200">
                <a:tc>
                  <a:txBody>
                    <a:bodyPr wrap="square"/>
                    <a:lstStyle/>
                    <a:p>
                      <a:pPr algn="l"/>
                      <a:r>
                        <a:rPr sz="1200" b="1">
                          <a:solidFill>
                            <a:srgbClr val="4B1248"/>
                          </a:solidFill>
                          <a:latin typeface="Arial"/>
                        </a:rPr>
                        <a:t>Total</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EFE3F1"/>
                    </a:solidFill>
                  </a:tcPr>
                </a:tc>
                <a:tc>
                  <a:txBody>
                    <a:bodyPr wrap="square"/>
                    <a:lstStyle/>
                    <a:p>
                      <a:pPr algn="l"/>
                      <a:r>
                        <a:rPr sz="1200" b="1">
                          <a:solidFill>
                            <a:srgbClr val="4B1248"/>
                          </a:solidFill>
                          <a:latin typeface="Arial"/>
                        </a:rPr>
                        <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EFE3F1"/>
                    </a:solidFill>
                  </a:tcPr>
                </a:tc>
                <a:tc>
                  <a:txBody>
                    <a:bodyPr wrap="square"/>
                    <a:lstStyle/>
                    <a:p>
                      <a:pPr algn="r"/>
                      <a:r>
                        <a:rPr sz="1200" b="1">
                          <a:solidFill>
                            <a:srgbClr val="4B1248"/>
                          </a:solidFill>
                          <a:latin typeface="Arial"/>
                        </a:rPr>
                        <a:t>64,000 to 1.25 lakh</a:t>
                      </a:r>
                    </a:p>
                  </a:txBody>
                  <a:tcPr marL="73152" marR="73152" marT="27432" marB="27432" anchor="ctr">
                    <a:lnL w="9525">
                      <a:solidFill>
                        <a:srgbClr val="E3D5E6"/>
                      </a:solidFill>
                    </a:lnL>
                    <a:lnR w="9525">
                      <a:solidFill>
                        <a:srgbClr val="E3D5E6"/>
                      </a:solidFill>
                    </a:lnR>
                    <a:lnT w="9525">
                      <a:solidFill>
                        <a:srgbClr val="E3D5E6"/>
                      </a:solidFill>
                    </a:lnT>
                    <a:lnB w="9525">
                      <a:solidFill>
                        <a:srgbClr val="E3D5E6"/>
                      </a:solidFill>
                    </a:lnB>
                    <a:solidFill>
                      <a:srgbClr val="EFE3F1"/>
                    </a:solidFill>
                  </a:tcPr>
                </a:tc>
              </a:tr>
            </a:tbl>
          </a:graphicData>
        </a:graphic>
      </p:graphicFrame>
      <p:sp>
        <p:nvSpPr>
          <p:cNvPr id="27" name="Rounded Rectangle 26"/>
          <p:cNvSpPr/>
          <p:nvPr/>
        </p:nvSpPr>
        <p:spPr>
          <a:xfrm>
            <a:off x="11567160" y="7726679"/>
            <a:ext cx="5989320" cy="1371600"/>
          </a:xfrm>
          <a:prstGeom prst="roundRect">
            <a:avLst>
              <a:gd name="adj" fmla="val 4000"/>
            </a:avLst>
          </a:prstGeom>
          <a:solidFill>
            <a:srgbClr val="4B1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95760" y="7790688"/>
            <a:ext cx="5532120" cy="1243584"/>
          </a:xfrm>
          <a:prstGeom prst="rect">
            <a:avLst/>
          </a:prstGeom>
          <a:noFill/>
        </p:spPr>
        <p:txBody>
          <a:bodyPr wrap="square" lIns="0" rIns="0" tIns="0" bIns="0" anchor="ctr">
            <a:spAutoFit/>
          </a:bodyPr>
          <a:lstStyle/>
          <a:p>
            <a:pPr algn="l">
              <a:spcAft>
                <a:spcPts val="600"/>
              </a:spcAft>
            </a:pPr>
            <a:r>
              <a:rPr sz="1300" b="1" i="0">
                <a:solidFill>
                  <a:srgbClr val="FFFFFF"/>
                </a:solidFill>
                <a:latin typeface="Arial"/>
              </a:rPr>
              <a:t>No GPU is needed for the pricing models: </a:t>
            </a:r>
            <a:r>
              <a:rPr sz="1300" b="0" i="0">
                <a:solidFill>
                  <a:srgbClr val="FFFFFF"/>
                </a:solidFill>
                <a:latin typeface="Arial"/>
              </a:rPr>
              <a:t>they are small regressions. The GPU only reads reviews and new photos.</a:t>
            </a:r>
          </a:p>
          <a:p>
            <a:pPr algn="l">
              <a:spcAft>
                <a:spcPts val="0"/>
              </a:spcAft>
            </a:pPr>
            <a:r>
              <a:rPr sz="1300" b="1" i="0">
                <a:solidFill>
                  <a:srgbClr val="F7C6DC"/>
                </a:solidFill>
                <a:latin typeface="Arial"/>
              </a:rPr>
              <a:t>Spread over 5 lakh sellers that is about 25 paise per seller a month. </a:t>
            </a:r>
            <a:r>
              <a:rPr sz="1300" b="0" i="0">
                <a:solidFill>
                  <a:srgbClr val="F7C6DC"/>
                </a:solidFill>
                <a:latin typeface="Arial"/>
              </a:rPr>
              <a:t>Avoiding one below-cost sale a month (Seller 6 lost about ₹10 per paid order) repays it about 40 times.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How we'd prove it works, what could go wrong, and how it ships</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A randomised pilot with new-to-online soap and t-shirt sellers before any wider rollout</a:t>
            </a:r>
            <a:endParaRPr lang="en-US" sz="1700" dirty="0"/>
          </a:p>
        </p:txBody>
      </p:sp>
      <p:sp>
        <p:nvSpPr>
          <p:cNvPr id="4" name="Text 2"/>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10</a:t>
            </a:r>
            <a:endParaRPr lang="en-US" sz="1200" dirty="0"/>
          </a:p>
        </p:txBody>
      </p:sp>
      <p:sp>
        <p:nvSpPr>
          <p:cNvPr id="5" name="Shape 3"/>
          <p:cNvSpPr/>
          <p:nvPr/>
        </p:nvSpPr>
        <p:spPr>
          <a:xfrm>
            <a:off x="731520" y="3886200"/>
            <a:ext cx="5120640" cy="5212080"/>
          </a:xfrm>
          <a:prstGeom prst="roundRect">
            <a:avLst>
              <a:gd name="adj" fmla="val 2143"/>
            </a:avLst>
          </a:prstGeom>
          <a:solidFill>
            <a:srgbClr val="F6EEF7"/>
          </a:solidFill>
          <a:ln w="12700">
            <a:solidFill>
              <a:srgbClr val="F6EEF7"/>
            </a:solidFill>
            <a:prstDash val="solid"/>
          </a:ln>
        </p:spPr>
        <p:txBody>
          <a:bodyPr/>
          <a:p/>
        </p:txBody>
      </p:sp>
      <p:sp>
        <p:nvSpPr>
          <p:cNvPr id="6" name="Text 4"/>
          <p:cNvSpPr txBox="1"/>
          <p:nvPr/>
        </p:nvSpPr>
        <p:spPr>
          <a:xfrm>
            <a:off x="1005840" y="4041648"/>
            <a:ext cx="457200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Measuring success</a:t>
            </a:r>
            <a:endParaRPr lang="en-US" sz="1800" dirty="0"/>
          </a:p>
        </p:txBody>
      </p:sp>
      <p:sp>
        <p:nvSpPr>
          <p:cNvPr id="7" name="Text 5"/>
          <p:cNvSpPr txBox="1"/>
          <p:nvPr/>
        </p:nvSpPr>
        <p:spPr>
          <a:xfrm>
            <a:off x="1005840" y="4526280"/>
            <a:ext cx="4572000" cy="4434840"/>
          </a:xfrm>
          <a:prstGeom prst="rect">
            <a:avLst/>
          </a:prstGeom>
          <a:noFill/>
          <a:ln/>
        </p:spPr>
        <p:txBody>
          <a:bodyPr wrap="square" lIns="0" tIns="0" rIns="0" bIns="0" rtlCol="0" anchor="t"/>
          <a:lstStyle/>
          <a:p>
            <a:pPr marL="0" indent="0">
              <a:spcAft>
                <a:spcPts val="200"/>
              </a:spcAft>
              <a:buNone/>
            </a:pPr>
            <a:r>
              <a:rPr lang="en-US" sz="1400" b="1" dirty="0">
                <a:solidFill>
                  <a:srgbClr val="C2185B"/>
                </a:solidFill>
                <a:latin typeface="Arial" pitchFamily="34" charset="0"/>
                <a:ea typeface="Arial" pitchFamily="34" charset="-122"/>
                <a:cs typeface="Arial" pitchFamily="34" charset="-120"/>
              </a:rPr>
              <a:t>Primary</a:t>
            </a:r>
            <a:endParaRPr lang="en-US" sz="1400" dirty="0"/>
          </a:p>
          <a:p>
            <a:pPr marL="0" indent="0">
              <a:spcAft>
                <a:spcPts val="1200"/>
              </a:spcAft>
              <a:buNone/>
            </a:pPr>
            <a:r>
              <a:rPr lang="en-US" sz="1800" b="1" dirty="0">
                <a:solidFill>
                  <a:srgbClr val="4B1248"/>
                </a:solidFill>
                <a:latin typeface="Arial" pitchFamily="34" charset="0"/>
                <a:ea typeface="Arial" pitchFamily="34" charset="-122"/>
                <a:cs typeface="Arial" pitchFamily="34" charset="-120"/>
              </a:rPr>
              <a:t>Net seller profit per 1,000 listing views</a:t>
            </a:r>
            <a:endParaRPr lang="en-US" sz="1400" dirty="0"/>
          </a:p>
          <a:p>
            <a:pPr marL="0" indent="0">
              <a:spcAft>
                <a:spcPts val="200"/>
              </a:spcAft>
              <a:buNone/>
            </a:pPr>
            <a:r>
              <a:rPr lang="en-US" sz="1400" b="1" dirty="0">
                <a:solidFill>
                  <a:srgbClr val="C2185B"/>
                </a:solidFill>
                <a:latin typeface="Arial" pitchFamily="34" charset="0"/>
                <a:ea typeface="Arial" pitchFamily="34" charset="-122"/>
                <a:cs typeface="Arial" pitchFamily="34" charset="-120"/>
              </a:rPr>
              <a:t>Seller outcomes</a:t>
            </a:r>
            <a:endParaRPr lang="en-US" sz="1400" dirty="0"/>
          </a:p>
          <a:p>
            <a:pPr marL="0" indent="0">
              <a:spcAft>
                <a:spcPts val="1200"/>
              </a:spcAft>
              <a:buNone/>
            </a:pPr>
            <a:r>
              <a:rPr lang="en-US" sz="1500" dirty="0">
                <a:solidFill>
                  <a:srgbClr val="2A0B2F"/>
                </a:solidFill>
                <a:latin typeface="Arial" pitchFamily="34" charset="0"/>
                <a:ea typeface="Arial" pitchFamily="34" charset="-122"/>
                <a:cs typeface="Arial" pitchFamily="34" charset="-120"/>
              </a:rPr>
              <a:t>Fewer new listings priced below their floor; 90-day listing survival; time to first order</a:t>
            </a:r>
            <a:endParaRPr lang="en-US" sz="1400" dirty="0"/>
          </a:p>
          <a:p>
            <a:pPr marL="0" indent="0">
              <a:spcAft>
                <a:spcPts val="200"/>
              </a:spcAft>
              <a:buNone/>
            </a:pPr>
            <a:r>
              <a:rPr lang="en-US" sz="1400" b="1" dirty="0">
                <a:solidFill>
                  <a:srgbClr val="C2185B"/>
                </a:solidFill>
                <a:latin typeface="Arial" pitchFamily="34" charset="0"/>
                <a:ea typeface="Arial" pitchFamily="34" charset="-122"/>
                <a:cs typeface="Arial" pitchFamily="34" charset="-120"/>
              </a:rPr>
              <a:t>Guardrails</a:t>
            </a:r>
            <a:endParaRPr lang="en-US" sz="1400" dirty="0"/>
          </a:p>
          <a:p>
            <a:pPr marL="0" indent="0">
              <a:spcAft>
                <a:spcPts val="1200"/>
              </a:spcAft>
              <a:buNone/>
            </a:pPr>
            <a:r>
              <a:rPr lang="en-US" sz="1500" dirty="0">
                <a:solidFill>
                  <a:srgbClr val="2A0B2F"/>
                </a:solidFill>
                <a:latin typeface="Arial" pitchFamily="34" charset="0"/>
                <a:ea typeface="Arial" pitchFamily="34" charset="-122"/>
                <a:cs typeface="Arial" pitchFamily="34" charset="-120"/>
              </a:rPr>
              <a:t>Conversion; return and RTO rate; price complaints in reviews; seller opt-outs</a:t>
            </a:r>
            <a:endParaRPr lang="en-US" sz="1400" dirty="0"/>
          </a:p>
          <a:p>
            <a:pPr marL="0" indent="0">
              <a:spcAft>
                <a:spcPts val="200"/>
              </a:spcAft>
              <a:buNone/>
            </a:pPr>
            <a:r>
              <a:rPr lang="en-US" sz="1400" b="1" dirty="0">
                <a:solidFill>
                  <a:srgbClr val="C2185B"/>
                </a:solidFill>
                <a:latin typeface="Arial" pitchFamily="34" charset="0"/>
                <a:ea typeface="Arial" pitchFamily="34" charset="-122"/>
                <a:cs typeface="Arial" pitchFamily="34" charset="-120"/>
              </a:rPr>
              <a:t>Learning the true price effect</a:t>
            </a:r>
            <a:endParaRPr lang="en-US" sz="1400" dirty="0"/>
          </a:p>
          <a:p>
            <a:pPr marL="0" indent="0">
              <a:spcAft>
                <a:spcPts val="200"/>
              </a:spcAft>
              <a:buNone/>
            </a:pPr>
            <a:r>
              <a:rPr lang="en-US" sz="1500" dirty="0">
                <a:solidFill>
                  <a:srgbClr val="2A0B2F"/>
                </a:solidFill>
                <a:latin typeface="Arial" pitchFamily="34" charset="0"/>
                <a:ea typeface="Arial" pitchFamily="34" charset="-122"/>
                <a:cs typeface="Arial" pitchFamily="34" charset="-120"/>
              </a:rPr>
              <a:t>Small randomised price tests inside the pilot, because sellers' own price moves blur it in historical data</a:t>
            </a:r>
            <a:endParaRPr lang="en-US" sz="1400" dirty="0"/>
          </a:p>
        </p:txBody>
      </p:sp>
      <p:sp>
        <p:nvSpPr>
          <p:cNvPr id="8" name="Text 6"/>
          <p:cNvSpPr txBox="1"/>
          <p:nvPr/>
        </p:nvSpPr>
        <p:spPr>
          <a:xfrm>
            <a:off x="6126480" y="3886200"/>
            <a:ext cx="603504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Risks and how we control them</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26480" y="4389120"/>
          <a:ext cx="6035040" cy="4754880"/>
        </p:xfrm>
        <a:graphic>
          <a:graphicData uri="http://schemas.openxmlformats.org/drawingml/2006/table">
            <a:tbl>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11480">
                <a:tc>
                  <a:txBody>
                    <a:bodyPr/>
                    <a:lstStyle/>
                    <a:p>
                      <a:pPr marL="0" indent="0">
                        <a:buNone/>
                      </a:pPr>
                      <a:r>
                        <a:rPr lang="en-US" sz="1450" b="1" dirty="0">
                          <a:solidFill>
                            <a:srgbClr val="FFFFFF"/>
                          </a:solidFill>
                          <a:latin typeface="Arial" pitchFamily="34" charset="0"/>
                          <a:ea typeface="Arial" pitchFamily="34" charset="-122"/>
                          <a:cs typeface="Arial" pitchFamily="34" charset="-120"/>
                        </a:rPr>
                        <a:t>Risk</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solidFill>
                      <a:srgbClr val="4B1248"/>
                    </a:solidFill>
                  </a:tcPr>
                </a:tc>
                <a:tc>
                  <a:txBody>
                    <a:bodyPr/>
                    <a:lstStyle/>
                    <a:p>
                      <a:pPr marL="0" indent="0">
                        <a:buNone/>
                      </a:pPr>
                      <a:r>
                        <a:rPr lang="en-US" sz="1450" b="1" dirty="0">
                          <a:solidFill>
                            <a:srgbClr val="FFFFFF"/>
                          </a:solidFill>
                          <a:latin typeface="Arial" pitchFamily="34" charset="0"/>
                          <a:ea typeface="Arial" pitchFamily="34" charset="-122"/>
                          <a:cs typeface="Arial" pitchFamily="34" charset="-120"/>
                        </a:rPr>
                        <a:t>Control</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solidFill>
                      <a:srgbClr val="4B1248"/>
                    </a:solidFill>
                  </a:tcPr>
                </a:tc>
                <a:extLst>
                  <a:ext uri="{0D108BD9-81ED-4DB2-BD59-A6C34878D82A}">
                    <a16:rowId xmlns:a16="http://schemas.microsoft.com/office/drawing/2014/main" val="10000"/>
                  </a:ext>
                </a:extLst>
              </a:tr>
              <a:tr h="868680">
                <a:tc>
                  <a:txBody>
                    <a:bodyPr/>
                    <a:lstStyle/>
                    <a:p>
                      <a:pPr marL="0" indent="0">
                        <a:buNone/>
                      </a:pPr>
                      <a:r>
                        <a:rPr lang="en-US" sz="1450" b="1" dirty="0">
                          <a:solidFill>
                            <a:srgbClr val="4B1248"/>
                          </a:solidFill>
                          <a:latin typeface="Arial" pitchFamily="34" charset="0"/>
                          <a:ea typeface="Arial" pitchFamily="34" charset="-122"/>
                          <a:cs typeface="Arial" pitchFamily="34" charset="-120"/>
                        </a:rPr>
                        <a:t>Models learnt on synthetic data</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50" dirty="0">
                          <a:solidFill>
                            <a:srgbClr val="2A0B2F"/>
                          </a:solidFill>
                          <a:latin typeface="Arial" pitchFamily="34" charset="0"/>
                          <a:ea typeface="Arial" pitchFamily="34" charset="-122"/>
                          <a:cs typeface="Arial" pitchFamily="34" charset="-120"/>
                        </a:rPr>
                        <a:t>Retrain on Meesho's history and backtest before any seller sees a number</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buNone/>
                      </a:pPr>
                      <a:r>
                        <a:rPr lang="en-US" sz="1450" b="1" dirty="0">
                          <a:solidFill>
                            <a:srgbClr val="4B1248"/>
                          </a:solidFill>
                          <a:latin typeface="Arial" pitchFamily="34" charset="0"/>
                          <a:ea typeface="Arial" pitchFamily="34" charset="-122"/>
                          <a:cs typeface="Arial" pitchFamily="34" charset="-120"/>
                        </a:rPr>
                        <a:t>Price effect confused with quality</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50" dirty="0">
                          <a:solidFill>
                            <a:srgbClr val="2A0B2F"/>
                          </a:solidFill>
                          <a:latin typeface="Arial" pitchFamily="34" charset="0"/>
                          <a:ea typeface="Arial" pitchFamily="34" charset="-122"/>
                          <a:cs typeface="Arial" pitchFamily="34" charset="-120"/>
                        </a:rPr>
                        <a:t>Learn within each listing; confirm with randomised price tests</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450" b="1" dirty="0">
                          <a:solidFill>
                            <a:srgbClr val="4B1248"/>
                          </a:solidFill>
                          <a:latin typeface="Arial" pitchFamily="34" charset="0"/>
                          <a:ea typeface="Arial" pitchFamily="34" charset="-122"/>
                          <a:cs typeface="Arial" pitchFamily="34" charset="-120"/>
                        </a:rPr>
                        <a:t>Sellers don't trust a black box</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50" dirty="0">
                          <a:solidFill>
                            <a:srgbClr val="2A0B2F"/>
                          </a:solidFill>
                          <a:latin typeface="Arial" pitchFamily="34" charset="0"/>
                          <a:ea typeface="Arial" pitchFamily="34" charset="-122"/>
                          <a:cs typeface="Arial" pitchFamily="34" charset="-120"/>
                        </a:rPr>
                        <a:t>Every number shows its working; the seller decides</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3"/>
                  </a:ext>
                </a:extLst>
              </a:tr>
              <a:tr h="868680">
                <a:tc>
                  <a:txBody>
                    <a:bodyPr/>
                    <a:lstStyle/>
                    <a:p>
                      <a:pPr marL="0" indent="0">
                        <a:buNone/>
                      </a:pPr>
                      <a:r>
                        <a:rPr lang="en-US" sz="1450" b="1" dirty="0">
                          <a:solidFill>
                            <a:srgbClr val="4B1248"/>
                          </a:solidFill>
                          <a:latin typeface="Arial" pitchFamily="34" charset="0"/>
                          <a:ea typeface="Arial" pitchFamily="34" charset="-122"/>
                          <a:cs typeface="Arial" pitchFamily="34" charset="-120"/>
                        </a:rPr>
                        <a:t>Everyone nudged to one price</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50" dirty="0">
                          <a:solidFill>
                            <a:srgbClr val="2A0B2F"/>
                          </a:solidFill>
                          <a:latin typeface="Arial" pitchFamily="34" charset="0"/>
                          <a:ea typeface="Arial" pitchFamily="34" charset="-122"/>
                          <a:cs typeface="Arial" pitchFamily="34" charset="-120"/>
                        </a:rPr>
                        <a:t>The floor is seller-specific; the band is only a reference</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4"/>
                  </a:ext>
                </a:extLst>
              </a:tr>
              <a:tr h="868680">
                <a:tc>
                  <a:txBody>
                    <a:bodyPr/>
                    <a:lstStyle/>
                    <a:p>
                      <a:pPr marL="0" indent="0">
                        <a:buNone/>
                      </a:pPr>
                      <a:r>
                        <a:rPr lang="en-US" sz="1450" b="1" dirty="0">
                          <a:solidFill>
                            <a:srgbClr val="4B1248"/>
                          </a:solidFill>
                          <a:latin typeface="Arial" pitchFamily="34" charset="0"/>
                          <a:ea typeface="Arial" pitchFamily="34" charset="-122"/>
                          <a:cs typeface="Arial" pitchFamily="34" charset="-120"/>
                        </a:rPr>
                        <a:t>Wrong costs typed in</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marL="0" indent="0">
                        <a:buNone/>
                      </a:pPr>
                      <a:r>
                        <a:rPr lang="en-US" sz="1450" dirty="0">
                          <a:solidFill>
                            <a:srgbClr val="2A0B2F"/>
                          </a:solidFill>
                          <a:latin typeface="Arial" pitchFamily="34" charset="0"/>
                          <a:ea typeface="Arial" pitchFamily="34" charset="-122"/>
                          <a:cs typeface="Arial" pitchFamily="34" charset="-120"/>
                        </a:rPr>
                        <a:t>Flag costs far from category norms before showing a price</a:t>
                      </a:r>
                      <a:endParaRPr lang="en-US" sz="1450" dirty="0">
                        <a:latin typeface="Arial" charset="0"/>
                        <a:ea typeface="Arial" charset="0"/>
                        <a:cs typeface="Arial" charset="0"/>
                      </a:endParaRPr>
                    </a:p>
                  </a:txBody>
                  <a:tcPr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7"/>
          <p:cNvSpPr txBox="1"/>
          <p:nvPr/>
        </p:nvSpPr>
        <p:spPr>
          <a:xfrm>
            <a:off x="12435840" y="3886200"/>
            <a:ext cx="512064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Rollout</a:t>
            </a:r>
            <a:endParaRPr lang="en-US" sz="1800" dirty="0"/>
          </a:p>
        </p:txBody>
      </p:sp>
      <p:sp>
        <p:nvSpPr>
          <p:cNvPr id="9" name="Shape 8"/>
          <p:cNvSpPr/>
          <p:nvPr/>
        </p:nvSpPr>
        <p:spPr>
          <a:xfrm>
            <a:off x="12435840" y="4434840"/>
            <a:ext cx="1143000" cy="457200"/>
          </a:xfrm>
          <a:prstGeom prst="roundRect">
            <a:avLst>
              <a:gd name="adj" fmla="val 20000"/>
            </a:avLst>
          </a:prstGeom>
          <a:solidFill>
            <a:srgbClr val="F5A623"/>
          </a:solidFill>
          <a:ln w="12700">
            <a:solidFill>
              <a:srgbClr val="F5A623"/>
            </a:solidFill>
            <a:prstDash val="solid"/>
          </a:ln>
        </p:spPr>
        <p:txBody>
          <a:bodyPr/>
          <a:p/>
        </p:txBody>
      </p:sp>
      <p:sp>
        <p:nvSpPr>
          <p:cNvPr id="12" name="Text 9"/>
          <p:cNvSpPr txBox="1"/>
          <p:nvPr/>
        </p:nvSpPr>
        <p:spPr>
          <a:xfrm>
            <a:off x="12435840" y="4434840"/>
            <a:ext cx="1143000" cy="457200"/>
          </a:xfrm>
          <a:prstGeom prst="rect">
            <a:avLst/>
          </a:prstGeom>
          <a:noFill/>
          <a:ln/>
        </p:spPr>
        <p:txBody>
          <a:bodyPr wrap="square" lIns="0" tIns="0" rIns="0" bIns="0" rtlCol="0" anchor="ctr"/>
          <a:lstStyle/>
          <a:p>
            <a:pPr marL="0" indent="0" algn="ctr">
              <a:buNone/>
            </a:pPr>
            <a:r>
              <a:rPr lang="en-US" sz="1300" b="1" dirty="0">
                <a:solidFill>
                  <a:srgbClr val="2A0B2F"/>
                </a:solidFill>
                <a:latin typeface="Arial" pitchFamily="34" charset="0"/>
                <a:ea typeface="Arial" pitchFamily="34" charset="-122"/>
                <a:cs typeface="Arial" pitchFamily="34" charset="-120"/>
              </a:rPr>
              <a:t>30 days</a:t>
            </a:r>
            <a:endParaRPr lang="en-US" sz="1300" dirty="0"/>
          </a:p>
        </p:txBody>
      </p:sp>
      <p:sp>
        <p:nvSpPr>
          <p:cNvPr id="13" name="Text 10"/>
          <p:cNvSpPr txBox="1"/>
          <p:nvPr/>
        </p:nvSpPr>
        <p:spPr>
          <a:xfrm>
            <a:off x="13761720" y="4361688"/>
            <a:ext cx="3794760" cy="1005840"/>
          </a:xfrm>
          <a:prstGeom prst="rect">
            <a:avLst/>
          </a:prstGeom>
          <a:noFill/>
          <a:ln/>
        </p:spPr>
        <p:txBody>
          <a:bodyPr wrap="square" lIns="0" tIns="0" rIns="0" bIns="0" rtlCol="0" anchor="t"/>
          <a:lstStyle/>
          <a:p>
            <a:pPr marL="0" indent="0">
              <a:buNone/>
            </a:pPr>
            <a:r>
              <a:rPr lang="en-US" sz="1350" dirty="0">
                <a:solidFill>
                  <a:srgbClr val="2A0B2F"/>
                </a:solidFill>
                <a:latin typeface="Arial" pitchFamily="34" charset="0"/>
                <a:ea typeface="Arial" pitchFamily="34" charset="-122"/>
                <a:cs typeface="Arial" pitchFamily="34" charset="-120"/>
              </a:rPr>
              <a:t>Floor and the bill in the listing flow. Seller types making cost, packaging and gifts; Meesho fills fees, return and RTO rates, GST.</a:t>
            </a:r>
            <a:endParaRPr lang="en-US" sz="1350" dirty="0"/>
          </a:p>
        </p:txBody>
      </p:sp>
      <p:sp>
        <p:nvSpPr>
          <p:cNvPr id="14" name="Shape 11"/>
          <p:cNvSpPr/>
          <p:nvPr/>
        </p:nvSpPr>
        <p:spPr>
          <a:xfrm>
            <a:off x="12435840" y="5440680"/>
            <a:ext cx="1143000" cy="457200"/>
          </a:xfrm>
          <a:prstGeom prst="roundRect">
            <a:avLst>
              <a:gd name="adj" fmla="val 20000"/>
            </a:avLst>
          </a:prstGeom>
          <a:solidFill>
            <a:srgbClr val="F5A623"/>
          </a:solidFill>
          <a:ln w="12700">
            <a:solidFill>
              <a:srgbClr val="F5A623"/>
            </a:solidFill>
            <a:prstDash val="solid"/>
          </a:ln>
        </p:spPr>
        <p:txBody>
          <a:bodyPr/>
          <a:p/>
        </p:txBody>
      </p:sp>
      <p:sp>
        <p:nvSpPr>
          <p:cNvPr id="15" name="Text 12"/>
          <p:cNvSpPr txBox="1"/>
          <p:nvPr/>
        </p:nvSpPr>
        <p:spPr>
          <a:xfrm>
            <a:off x="12435840" y="5440680"/>
            <a:ext cx="1143000" cy="457200"/>
          </a:xfrm>
          <a:prstGeom prst="rect">
            <a:avLst/>
          </a:prstGeom>
          <a:noFill/>
          <a:ln/>
        </p:spPr>
        <p:txBody>
          <a:bodyPr wrap="square" lIns="0" tIns="0" rIns="0" bIns="0" rtlCol="0" anchor="ctr"/>
          <a:lstStyle/>
          <a:p>
            <a:pPr marL="0" indent="0" algn="ctr">
              <a:buNone/>
            </a:pPr>
            <a:r>
              <a:rPr lang="en-US" sz="1300" b="1" dirty="0">
                <a:solidFill>
                  <a:srgbClr val="2A0B2F"/>
                </a:solidFill>
                <a:latin typeface="Arial" pitchFamily="34" charset="0"/>
                <a:ea typeface="Arial" pitchFamily="34" charset="-122"/>
                <a:cs typeface="Arial" pitchFamily="34" charset="-120"/>
              </a:rPr>
              <a:t>60 days</a:t>
            </a:r>
            <a:endParaRPr lang="en-US" sz="1300" dirty="0"/>
          </a:p>
        </p:txBody>
      </p:sp>
      <p:sp>
        <p:nvSpPr>
          <p:cNvPr id="16" name="Text 13"/>
          <p:cNvSpPr txBox="1"/>
          <p:nvPr/>
        </p:nvSpPr>
        <p:spPr>
          <a:xfrm>
            <a:off x="13761720" y="5367528"/>
            <a:ext cx="3794760" cy="603504"/>
          </a:xfrm>
          <a:prstGeom prst="rect">
            <a:avLst/>
          </a:prstGeom>
          <a:noFill/>
          <a:ln/>
        </p:spPr>
        <p:txBody>
          <a:bodyPr wrap="square" lIns="0" tIns="0" rIns="0" bIns="0" rtlCol="0" anchor="ctr"/>
          <a:lstStyle/>
          <a:p>
            <a:pPr marL="0" indent="0">
              <a:buNone/>
            </a:pPr>
            <a:r>
              <a:rPr lang="en-US" sz="1350" dirty="0">
                <a:solidFill>
                  <a:srgbClr val="2A0B2F"/>
                </a:solidFill>
                <a:latin typeface="Arial" pitchFamily="34" charset="0"/>
                <a:ea typeface="Arial" pitchFamily="34" charset="-122"/>
                <a:cs typeface="Arial" pitchFamily="34" charset="-120"/>
              </a:rPr>
              <a:t>Start price and range live for soap and t-shirts.</a:t>
            </a:r>
            <a:endParaRPr lang="en-US" sz="1350" dirty="0"/>
          </a:p>
        </p:txBody>
      </p:sp>
      <p:sp>
        <p:nvSpPr>
          <p:cNvPr id="17" name="Shape 14"/>
          <p:cNvSpPr/>
          <p:nvPr/>
        </p:nvSpPr>
        <p:spPr>
          <a:xfrm>
            <a:off x="12435840" y="6080760"/>
            <a:ext cx="1143000" cy="457200"/>
          </a:xfrm>
          <a:prstGeom prst="roundRect">
            <a:avLst>
              <a:gd name="adj" fmla="val 20000"/>
            </a:avLst>
          </a:prstGeom>
          <a:solidFill>
            <a:srgbClr val="F5A623"/>
          </a:solidFill>
          <a:ln w="12700">
            <a:solidFill>
              <a:srgbClr val="F5A623"/>
            </a:solidFill>
            <a:prstDash val="solid"/>
          </a:ln>
        </p:spPr>
        <p:txBody>
          <a:bodyPr/>
          <a:p/>
        </p:txBody>
      </p:sp>
      <p:sp>
        <p:nvSpPr>
          <p:cNvPr id="18" name="Text 15"/>
          <p:cNvSpPr txBox="1"/>
          <p:nvPr/>
        </p:nvSpPr>
        <p:spPr>
          <a:xfrm>
            <a:off x="12435840" y="6080760"/>
            <a:ext cx="1143000" cy="457200"/>
          </a:xfrm>
          <a:prstGeom prst="rect">
            <a:avLst/>
          </a:prstGeom>
          <a:noFill/>
          <a:ln/>
        </p:spPr>
        <p:txBody>
          <a:bodyPr wrap="square" lIns="0" tIns="0" rIns="0" bIns="0" rtlCol="0" anchor="ctr"/>
          <a:lstStyle/>
          <a:p>
            <a:pPr marL="0" indent="0" algn="ctr">
              <a:buNone/>
            </a:pPr>
            <a:r>
              <a:rPr lang="en-US" sz="1300" b="1" dirty="0">
                <a:solidFill>
                  <a:srgbClr val="2A0B2F"/>
                </a:solidFill>
                <a:latin typeface="Arial" pitchFamily="34" charset="0"/>
                <a:ea typeface="Arial" pitchFamily="34" charset="-122"/>
                <a:cs typeface="Arial" pitchFamily="34" charset="-120"/>
              </a:rPr>
              <a:t>90 days</a:t>
            </a:r>
            <a:endParaRPr lang="en-US" sz="1300" dirty="0"/>
          </a:p>
        </p:txBody>
      </p:sp>
      <p:sp>
        <p:nvSpPr>
          <p:cNvPr id="19" name="Text 16"/>
          <p:cNvSpPr txBox="1"/>
          <p:nvPr/>
        </p:nvSpPr>
        <p:spPr>
          <a:xfrm>
            <a:off x="13761720" y="6007608"/>
            <a:ext cx="3794760" cy="603504"/>
          </a:xfrm>
          <a:prstGeom prst="rect">
            <a:avLst/>
          </a:prstGeom>
          <a:noFill/>
          <a:ln/>
        </p:spPr>
        <p:txBody>
          <a:bodyPr wrap="square" lIns="0" tIns="0" rIns="0" bIns="0" rtlCol="0" anchor="ctr"/>
          <a:lstStyle/>
          <a:p>
            <a:pPr marL="0" indent="0">
              <a:buNone/>
            </a:pPr>
            <a:r>
              <a:rPr lang="en-US" sz="1350" dirty="0">
                <a:solidFill>
                  <a:srgbClr val="2A0B2F"/>
                </a:solidFill>
                <a:latin typeface="Arial" pitchFamily="34" charset="0"/>
                <a:ea typeface="Arial" pitchFamily="34" charset="-122"/>
                <a:cs typeface="Arial" pitchFamily="34" charset="-120"/>
              </a:rPr>
              <a:t>Launch-lower planner and repricing alerts.</a:t>
            </a:r>
            <a:endParaRPr lang="en-US" sz="1350" dirty="0"/>
          </a:p>
        </p:txBody>
      </p:sp>
      <p:sp>
        <p:nvSpPr>
          <p:cNvPr id="20" name="Shape 17"/>
          <p:cNvSpPr/>
          <p:nvPr/>
        </p:nvSpPr>
        <p:spPr>
          <a:xfrm>
            <a:off x="12435840" y="7086600"/>
            <a:ext cx="5120640" cy="2011680"/>
          </a:xfrm>
          <a:prstGeom prst="roundRect">
            <a:avLst>
              <a:gd name="adj" fmla="val 5455"/>
            </a:avLst>
          </a:prstGeom>
          <a:solidFill>
            <a:srgbClr val="4B1248"/>
          </a:solidFill>
          <a:ln w="12700">
            <a:solidFill>
              <a:srgbClr val="4B1248"/>
            </a:solidFill>
            <a:prstDash val="solid"/>
          </a:ln>
        </p:spPr>
        <p:txBody>
          <a:bodyPr/>
          <a:p/>
        </p:txBody>
      </p:sp>
      <p:sp>
        <p:nvSpPr>
          <p:cNvPr id="21" name="Text 18"/>
          <p:cNvSpPr txBox="1"/>
          <p:nvPr/>
        </p:nvSpPr>
        <p:spPr>
          <a:xfrm>
            <a:off x="12710160" y="7178040"/>
            <a:ext cx="4572000" cy="1828800"/>
          </a:xfrm>
          <a:prstGeom prst="rect">
            <a:avLst/>
          </a:prstGeom>
          <a:noFill/>
          <a:ln/>
        </p:spPr>
        <p:txBody>
          <a:bodyPr wrap="square" lIns="0" tIns="0" rIns="0" bIns="0" rtlCol="0" anchor="ctr"/>
          <a:lstStyle/>
          <a:p>
            <a:pPr marL="0" indent="0">
              <a:spcAft>
                <a:spcPts val="600"/>
              </a:spcAft>
              <a:buNone/>
            </a:pPr>
            <a:r>
              <a:rPr lang="en-US" sz="1600" b="1" dirty="0">
                <a:solidFill>
                  <a:srgbClr val="FFFFFF"/>
                </a:solidFill>
                <a:latin typeface="Arial" pitchFamily="34" charset="0"/>
                <a:ea typeface="Arial" pitchFamily="34" charset="-122"/>
                <a:cs typeface="Arial" pitchFamily="34" charset="-120"/>
              </a:rPr>
              <a:t>The 10x part</a:t>
            </a:r>
            <a:endParaRPr lang="en-US" sz="1600" dirty="0"/>
          </a:p>
          <a:p>
            <a:pPr marL="0" indent="0">
              <a:buNone/>
            </a:pPr>
            <a:r>
              <a:rPr lang="en-US" sz="1500" dirty="0">
                <a:solidFill>
                  <a:srgbClr val="FFFFFF"/>
                </a:solidFill>
                <a:latin typeface="Arial" pitchFamily="34" charset="0"/>
                <a:ea typeface="Arial" pitchFamily="34" charset="-122"/>
                <a:cs typeface="Arial" pitchFamily="34" charset="-120"/>
              </a:rPr>
              <a:t>Every seller who types in their costs adds data nobody has today: which below-cost launches pay back, by category and rating. The advice improves with every launch.</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marL="0" indent="0">
              <a:buNone/>
            </a:pPr>
            <a:r>
              <a:rPr lang="en-US" sz="3600" b="1" dirty="0">
                <a:solidFill>
                  <a:srgbClr val="4B1248"/>
                </a:solidFill>
                <a:latin typeface="Arial" pitchFamily="34" charset="0"/>
                <a:ea typeface="Arial" pitchFamily="34" charset="-122"/>
                <a:cs typeface="Arial" pitchFamily="34" charset="-120"/>
              </a:rPr>
              <a:t>Appendix: sources, data and demo assumptions</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marL="0" indent="0">
              <a:buNone/>
            </a:pPr>
            <a:r>
              <a:rPr lang="en-US" sz="1700" i="1" dirty="0">
                <a:solidFill>
                  <a:srgbClr val="67516B"/>
                </a:solidFill>
                <a:latin typeface="Arial" pitchFamily="34" charset="0"/>
                <a:ea typeface="Arial" pitchFamily="34" charset="-122"/>
                <a:cs typeface="Arial" pitchFamily="34" charset="-120"/>
              </a:rPr>
              <a:t>Every number in the deck traces back to one of these. Links work in PowerPoint and in the PDF.</a:t>
            </a:r>
            <a:endParaRPr lang="en-US" sz="1700" dirty="0"/>
          </a:p>
        </p:txBody>
      </p:sp>
      <p:sp>
        <p:nvSpPr>
          <p:cNvPr id="4" name="Text 2"/>
          <p:cNvSpPr txBox="1"/>
          <p:nvPr/>
        </p:nvSpPr>
        <p:spPr>
          <a:xfrm>
            <a:off x="17007840" y="9198864"/>
            <a:ext cx="548640" cy="329184"/>
          </a:xfrm>
          <a:prstGeom prst="rect">
            <a:avLst/>
          </a:prstGeom>
          <a:noFill/>
          <a:ln/>
        </p:spPr>
        <p:txBody>
          <a:bodyPr wrap="square" lIns="0" tIns="0" rIns="0" bIns="0" rtlCol="0" anchor="ctr"/>
          <a:lstStyle/>
          <a:p>
            <a:pPr marL="0" indent="0" algn="r">
              <a:buNone/>
            </a:pPr>
            <a:r>
              <a:rPr lang="en-US" sz="1200" dirty="0">
                <a:solidFill>
                  <a:srgbClr val="67516B"/>
                </a:solidFill>
                <a:latin typeface="Arial" pitchFamily="34" charset="0"/>
                <a:ea typeface="Arial" pitchFamily="34" charset="-122"/>
                <a:cs typeface="Arial" pitchFamily="34" charset="-120"/>
              </a:rPr>
              <a:t>A1</a:t>
            </a:r>
            <a:endParaRPr lang="en-US" sz="1200" dirty="0"/>
          </a:p>
        </p:txBody>
      </p:sp>
      <p:sp>
        <p:nvSpPr>
          <p:cNvPr id="5" name="Shape 3"/>
          <p:cNvSpPr/>
          <p:nvPr/>
        </p:nvSpPr>
        <p:spPr>
          <a:xfrm>
            <a:off x="731520" y="3886200"/>
            <a:ext cx="5425440" cy="5212080"/>
          </a:xfrm>
          <a:prstGeom prst="roundRect">
            <a:avLst>
              <a:gd name="adj" fmla="val 2105"/>
            </a:avLst>
          </a:prstGeom>
          <a:solidFill>
            <a:srgbClr val="F6EEF7"/>
          </a:solidFill>
          <a:ln w="12700">
            <a:solidFill>
              <a:srgbClr val="F6EEF7"/>
            </a:solidFill>
            <a:prstDash val="solid"/>
          </a:ln>
        </p:spPr>
        <p:txBody>
          <a:bodyPr/>
          <a:p/>
        </p:txBody>
      </p:sp>
      <p:sp>
        <p:nvSpPr>
          <p:cNvPr id="6" name="Text 4"/>
          <p:cNvSpPr txBox="1"/>
          <p:nvPr/>
        </p:nvSpPr>
        <p:spPr>
          <a:xfrm>
            <a:off x="1005840" y="4023360"/>
            <a:ext cx="487680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Our primary research</a:t>
            </a:r>
            <a:endParaRPr lang="en-US" sz="1800" dirty="0"/>
          </a:p>
        </p:txBody>
      </p:sp>
      <p:sp>
        <p:nvSpPr>
          <p:cNvPr id="7" name="Text 5"/>
          <p:cNvSpPr txBox="1"/>
          <p:nvPr/>
        </p:nvSpPr>
        <p:spPr>
          <a:xfrm>
            <a:off x="1005840" y="4572000"/>
            <a:ext cx="4876800" cy="4389120"/>
          </a:xfrm>
          <a:prstGeom prst="rect">
            <a:avLst/>
          </a:prstGeom>
          <a:noFill/>
          <a:ln/>
        </p:spPr>
        <p:txBody>
          <a:bodyPr wrap="square" lIns="0" tIns="0" rIns="0" bIns="0" rtlCol="0" anchor="t"/>
          <a:lstStyle/>
          <a:p>
            <a:pPr marL="0" indent="0">
              <a:buNone/>
            </a:pPr>
            <a:r>
              <a:rPr lang="en-US" sz="1500" b="1" dirty="0">
                <a:solidFill>
                  <a:srgbClr val="2A0B2F"/>
                </a:solidFill>
                <a:latin typeface="Arial" pitchFamily="34" charset="0"/>
                <a:ea typeface="Arial" pitchFamily="34" charset="-122"/>
                <a:cs typeface="Arial" pitchFamily="34" charset="-120"/>
              </a:rPr>
              <a:t>Seller interviews, n = 7</a:t>
            </a:r>
            <a:endParaRPr lang="en-US" sz="1500" dirty="0"/>
          </a:p>
          <a:p>
            <a:pPr marL="0" indent="0">
              <a:buNone/>
            </a:pPr>
            <a:r>
              <a:rPr lang="en-US" sz="1500" dirty="0">
                <a:solidFill>
                  <a:srgbClr val="67516B"/>
                </a:solidFill>
                <a:latin typeface="Arial" pitchFamily="34" charset="0"/>
                <a:ea typeface="Arial" pitchFamily="34" charset="-122"/>
                <a:cs typeface="Arial" pitchFamily="34" charset="-120"/>
              </a:rPr>
              <a:t>Instagram outreach; how each seller sets a </a:t>
            </a:r>
            <a:r>
              <a:rPr lang="en-US" sz="1500" dirty="0" smtClean="0">
                <a:solidFill>
                  <a:srgbClr val="67516B"/>
                </a:solidFill>
                <a:latin typeface="Arial" pitchFamily="34" charset="0"/>
                <a:ea typeface="Arial" pitchFamily="34" charset="-122"/>
                <a:cs typeface="Arial" pitchFamily="34" charset="-120"/>
              </a:rPr>
              <a:t>price. </a:t>
            </a:r>
            <a:r>
              <a:rPr lang="en-US" sz="1500" u="sng" dirty="0">
                <a:solidFill>
                  <a:srgbClr val="C2185B"/>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xmlns="" val="tx"/>
                    </a:ext>
                  </a:extLst>
                </a:hlinkClick>
              </a:rPr>
              <a:t>Interview folder</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307 live meesho.com listings, 8 categories</a:t>
            </a:r>
            <a:endParaRPr lang="en-US" sz="1500" dirty="0"/>
          </a:p>
          <a:p>
            <a:pPr marL="0" indent="0">
              <a:buNone/>
            </a:pPr>
            <a:r>
              <a:rPr lang="en-US" sz="1500" dirty="0">
                <a:solidFill>
                  <a:srgbClr val="67516B"/>
                </a:solidFill>
                <a:latin typeface="Arial" pitchFamily="34" charset="0"/>
                <a:ea typeface="Arial" pitchFamily="34" charset="-122"/>
                <a:cs typeface="Arial" pitchFamily="34" charset="-120"/>
              </a:rPr>
              <a:t>Category, price, rating and review </a:t>
            </a:r>
            <a:r>
              <a:rPr lang="en-US" sz="1500" dirty="0" smtClean="0">
                <a:solidFill>
                  <a:srgbClr val="67516B"/>
                </a:solidFill>
                <a:latin typeface="Arial" pitchFamily="34" charset="0"/>
                <a:ea typeface="Arial" pitchFamily="34" charset="-122"/>
                <a:cs typeface="Arial" pitchFamily="34" charset="-120"/>
              </a:rPr>
              <a:t>count. </a:t>
            </a:r>
            <a:r>
              <a:rPr lang="en-US" sz="1500" u="sng" dirty="0">
                <a:solidFill>
                  <a:srgbClr val="C2185B"/>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xmlns="" val="tx"/>
                    </a:ext>
                  </a:extLst>
                </a:hlinkClick>
              </a:rPr>
              <a:t>Listings sheet</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Team research folder</a:t>
            </a:r>
            <a:endParaRPr lang="en-US" sz="1500" dirty="0"/>
          </a:p>
          <a:p>
            <a:pPr marL="0" indent="0">
              <a:buNone/>
            </a:pPr>
            <a:r>
              <a:rPr lang="en-US" sz="1500" dirty="0">
                <a:solidFill>
                  <a:srgbClr val="67516B"/>
                </a:solidFill>
                <a:latin typeface="Arial" pitchFamily="34" charset="0"/>
                <a:ea typeface="Arial" pitchFamily="34" charset="-122"/>
                <a:cs typeface="Arial" pitchFamily="34" charset="-120"/>
              </a:rPr>
              <a:t>Listing data and supporting files. </a:t>
            </a:r>
            <a:r>
              <a:rPr lang="en-US" sz="1500" u="sng" dirty="0">
                <a:solidFill>
                  <a:srgbClr val="C2185B"/>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xmlns="" val="tx"/>
                    </a:ext>
                  </a:extLst>
                </a:hlinkClick>
              </a:rPr>
              <a:t>meesho-dice folder</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Demo video of the working prototype</a:t>
            </a:r>
            <a:endParaRPr lang="en-US" sz="1500" dirty="0"/>
          </a:p>
          <a:p>
            <a:pPr marL="0" indent="0">
              <a:buNone/>
            </a:pPr>
            <a:r>
              <a:rPr lang="en-US" sz="1500" u="sng" dirty="0" smtClean="0">
                <a:solidFill>
                  <a:srgbClr val="C2185B"/>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xmlns="" val="tx"/>
                    </a:ext>
                  </a:extLst>
                </a:hlinkClick>
              </a:rPr>
              <a:t>Watch </a:t>
            </a:r>
            <a:r>
              <a:rPr lang="en-US" sz="1500" u="sng" dirty="0">
                <a:solidFill>
                  <a:srgbClr val="C2185B"/>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xmlns="" val="tx"/>
                    </a:ext>
                  </a:extLst>
                </a:hlinkClick>
              </a:rPr>
              <a:t>on Loom</a:t>
            </a:r>
            <a:endParaRPr lang="en-US" sz="1500" dirty="0"/>
          </a:p>
        </p:txBody>
      </p:sp>
      <p:sp>
        <p:nvSpPr>
          <p:cNvPr id="8" name="Shape 6"/>
          <p:cNvSpPr/>
          <p:nvPr/>
        </p:nvSpPr>
        <p:spPr>
          <a:xfrm>
            <a:off x="6431280" y="3886200"/>
            <a:ext cx="5425440" cy="5212080"/>
          </a:xfrm>
          <a:prstGeom prst="roundRect">
            <a:avLst>
              <a:gd name="adj" fmla="val 2105"/>
            </a:avLst>
          </a:prstGeom>
          <a:solidFill>
            <a:srgbClr val="F6EEF7"/>
          </a:solidFill>
          <a:ln w="12700">
            <a:solidFill>
              <a:srgbClr val="F6EEF7"/>
            </a:solidFill>
            <a:prstDash val="solid"/>
          </a:ln>
        </p:spPr>
        <p:txBody>
          <a:bodyPr/>
          <a:p/>
        </p:txBody>
      </p:sp>
      <p:sp>
        <p:nvSpPr>
          <p:cNvPr id="9" name="Text 7"/>
          <p:cNvSpPr txBox="1"/>
          <p:nvPr/>
        </p:nvSpPr>
        <p:spPr>
          <a:xfrm>
            <a:off x="6705600" y="4023360"/>
            <a:ext cx="487680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Public sources</a:t>
            </a:r>
            <a:endParaRPr lang="en-US" sz="1800" dirty="0"/>
          </a:p>
        </p:txBody>
      </p:sp>
      <p:sp>
        <p:nvSpPr>
          <p:cNvPr id="10" name="Text 8"/>
          <p:cNvSpPr txBox="1"/>
          <p:nvPr/>
        </p:nvSpPr>
        <p:spPr>
          <a:xfrm>
            <a:off x="6705600" y="4572000"/>
            <a:ext cx="4876800" cy="4389120"/>
          </a:xfrm>
          <a:prstGeom prst="rect">
            <a:avLst/>
          </a:prstGeom>
          <a:noFill/>
          <a:ln/>
        </p:spPr>
        <p:txBody>
          <a:bodyPr wrap="square" lIns="0" tIns="0" rIns="0" bIns="0" rtlCol="0" anchor="t"/>
          <a:lstStyle/>
          <a:p>
            <a:pPr marL="0" indent="0">
              <a:buNone/>
            </a:pPr>
            <a:r>
              <a:rPr lang="en-US" sz="1500" b="1" dirty="0">
                <a:solidFill>
                  <a:srgbClr val="2A0B2F"/>
                </a:solidFill>
                <a:latin typeface="Arial" pitchFamily="34" charset="0"/>
                <a:ea typeface="Arial" pitchFamily="34" charset="-122"/>
                <a:cs typeface="Arial" pitchFamily="34" charset="-120"/>
              </a:rPr>
              <a:t>Meesho Tech blog: price recommendation</a:t>
            </a:r>
            <a:endParaRPr lang="en-US" sz="1500" dirty="0"/>
          </a:p>
          <a:p>
            <a:pPr marL="0" indent="0">
              <a:buNone/>
            </a:pPr>
            <a:r>
              <a:rPr lang="en-US" sz="1500" dirty="0">
                <a:solidFill>
                  <a:srgbClr val="67516B"/>
                </a:solidFill>
                <a:latin typeface="Arial" pitchFamily="34" charset="0"/>
                <a:ea typeface="Arial" pitchFamily="34" charset="-122"/>
                <a:cs typeface="Arial" pitchFamily="34" charset="-120"/>
              </a:rPr>
              <a:t>How Meesho matches products today (slides 6, 7). </a:t>
            </a:r>
            <a:r>
              <a:rPr lang="en-US" sz="1500" u="sng" dirty="0">
                <a:solidFill>
                  <a:srgbClr val="C2185B"/>
                </a:solidFill>
                <a:latin typeface="Arial" pitchFamily="34" charset="0"/>
                <a:ea typeface="Arial" pitchFamily="34" charset="-122"/>
                <a:cs typeface="Arial" pitchFamily="34" charset="-120"/>
                <a:hlinkClick r:id="rId8">
                  <a:extLst>
                    <a:ext uri="{A12FA001-AC4F-418D-AE19-62706E023703}">
                      <ahyp:hlinkClr xmlns:ahyp="http://schemas.microsoft.com/office/drawing/2018/hyperlinkcolor" xmlns="" val="tx"/>
                    </a:ext>
                  </a:extLst>
                </a:hlinkClick>
              </a:rPr>
              <a:t>medium.com/meesho-tech</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Meesho supplier pricing page</a:t>
            </a:r>
            <a:endParaRPr lang="en-US" sz="1500" dirty="0"/>
          </a:p>
          <a:p>
            <a:pPr marL="0" indent="0">
              <a:buNone/>
            </a:pPr>
            <a:r>
              <a:rPr lang="en-US" sz="1500" dirty="0">
                <a:solidFill>
                  <a:srgbClr val="67516B"/>
                </a:solidFill>
                <a:latin typeface="Arial" pitchFamily="34" charset="0"/>
                <a:ea typeface="Arial" pitchFamily="34" charset="-122"/>
                <a:cs typeface="Arial" pitchFamily="34" charset="-120"/>
              </a:rPr>
              <a:t>Seller fees and delivery charges. </a:t>
            </a:r>
            <a:r>
              <a:rPr lang="en-US" sz="1500" u="sng" dirty="0">
                <a:solidFill>
                  <a:srgbClr val="C2185B"/>
                </a:solidFill>
                <a:latin typeface="Arial" pitchFamily="34" charset="0"/>
                <a:ea typeface="Arial" pitchFamily="34" charset="-122"/>
                <a:cs typeface="Arial" pitchFamily="34" charset="-120"/>
                <a:hlinkClick r:id="rId9">
                  <a:extLst>
                    <a:ext uri="{A12FA001-AC4F-418D-AE19-62706E023703}">
                      <ahyp:hlinkClr xmlns:ahyp="http://schemas.microsoft.com/office/drawing/2018/hyperlinkcolor" xmlns="" val="tx"/>
                    </a:ext>
                  </a:extLst>
                </a:hlinkClick>
              </a:rPr>
              <a:t>supplier.meesho.com/pricing</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Meesho seller fees explained</a:t>
            </a:r>
            <a:endParaRPr lang="en-US" sz="1500" dirty="0"/>
          </a:p>
          <a:p>
            <a:pPr marL="0" indent="0">
              <a:buNone/>
            </a:pPr>
            <a:r>
              <a:rPr lang="en-US" sz="1500" dirty="0">
                <a:solidFill>
                  <a:srgbClr val="67516B"/>
                </a:solidFill>
                <a:latin typeface="Arial" pitchFamily="34" charset="0"/>
                <a:ea typeface="Arial" pitchFamily="34" charset="-122"/>
                <a:cs typeface="Arial" pitchFamily="34" charset="-120"/>
              </a:rPr>
              <a:t>Fee breakdown used in Round 1. </a:t>
            </a:r>
            <a:r>
              <a:rPr lang="en-US" sz="1500" u="sng" dirty="0">
                <a:solidFill>
                  <a:srgbClr val="C2185B"/>
                </a:solidFill>
                <a:latin typeface="Arial" pitchFamily="34" charset="0"/>
                <a:ea typeface="Arial" pitchFamily="34" charset="-122"/>
                <a:cs typeface="Arial" pitchFamily="34" charset="-120"/>
                <a:hlinkClick r:id="rId10">
                  <a:extLst>
                    <a:ext uri="{A12FA001-AC4F-418D-AE19-62706E023703}">
                      <ahyp:hlinkClr xmlns:ahyp="http://schemas.microsoft.com/office/drawing/2018/hyperlinkcolor" xmlns="" val="tx"/>
                    </a:ext>
                  </a:extLst>
                </a:hlinkClick>
              </a:rPr>
              <a:t>ecomvanshika.com</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Meesho Limited offer documents</a:t>
            </a:r>
            <a:endParaRPr lang="en-US" sz="1500" dirty="0"/>
          </a:p>
          <a:p>
            <a:pPr marL="0" indent="0">
              <a:buNone/>
            </a:pPr>
            <a:r>
              <a:rPr lang="en-US" sz="1500" dirty="0">
                <a:solidFill>
                  <a:srgbClr val="67516B"/>
                </a:solidFill>
                <a:latin typeface="Arial" pitchFamily="34" charset="0"/>
                <a:ea typeface="Arial" pitchFamily="34" charset="-122"/>
                <a:cs typeface="Arial" pitchFamily="34" charset="-120"/>
              </a:rPr>
              <a:t>Seller base and scale. </a:t>
            </a:r>
            <a:r>
              <a:rPr lang="en-US" sz="1500" u="sng" dirty="0">
                <a:solidFill>
                  <a:srgbClr val="C2185B"/>
                </a:solidFill>
                <a:latin typeface="Arial" pitchFamily="34" charset="0"/>
                <a:ea typeface="Arial" pitchFamily="34" charset="-122"/>
                <a:cs typeface="Arial" pitchFamily="34" charset="-120"/>
                <a:hlinkClick r:id="rId11">
                  <a:extLst>
                    <a:ext uri="{A12FA001-AC4F-418D-AE19-62706E023703}">
                      <ahyp:hlinkClr xmlns:ahyp="http://schemas.microsoft.com/office/drawing/2018/hyperlinkcolor" xmlns="" val="tx"/>
                    </a:ext>
                  </a:extLst>
                </a:hlinkClick>
              </a:rPr>
              <a:t>Notice to investors (RHP)</a:t>
            </a:r>
            <a:r>
              <a:rPr lang="en-US" sz="1500" dirty="0">
                <a:solidFill>
                  <a:srgbClr val="2A0B2F"/>
                </a:solidFill>
                <a:latin typeface="Arial" pitchFamily="34" charset="0"/>
                <a:ea typeface="Arial" pitchFamily="34" charset="-122"/>
                <a:cs typeface="Arial" pitchFamily="34" charset="-120"/>
              </a:rPr>
              <a:t>, </a:t>
            </a:r>
            <a:r>
              <a:rPr lang="en-US" sz="1500" u="sng" dirty="0">
                <a:solidFill>
                  <a:srgbClr val="C2185B"/>
                </a:solidFill>
                <a:latin typeface="Arial" pitchFamily="34" charset="0"/>
                <a:ea typeface="Arial" pitchFamily="34" charset="-122"/>
                <a:cs typeface="Arial" pitchFamily="34" charset="-120"/>
                <a:hlinkClick r:id="rId12">
                  <a:extLst>
                    <a:ext uri="{A12FA001-AC4F-418D-AE19-62706E023703}">
                      <ahyp:hlinkClr xmlns:ahyp="http://schemas.microsoft.com/office/drawing/2018/hyperlinkcolor" xmlns="" val="tx"/>
                    </a:ext>
                  </a:extLst>
                </a:hlinkClick>
              </a:rPr>
              <a:t>IPO details</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Competitor pricing tools [1] to [7]</a:t>
            </a:r>
            <a:endParaRPr lang="en-US" sz="1500" dirty="0"/>
          </a:p>
          <a:p>
            <a:pPr>
              <a:spcAft>
                <a:spcPts val="1800"/>
              </a:spcAft>
            </a:pPr>
            <a:r>
              <a:rPr lang="en-US" sz="1500" b="1" dirty="0">
                <a:solidFill>
                  <a:srgbClr val="67516B"/>
                </a:solidFill>
                <a:latin typeface="Arial" pitchFamily="34" charset="0"/>
                <a:ea typeface="Arial" pitchFamily="34" charset="-122"/>
                <a:cs typeface="Arial" pitchFamily="34" charset="-120"/>
              </a:rPr>
              <a:t>[1] </a:t>
            </a:r>
            <a:r>
              <a:rPr lang="en-US" sz="1500" u="sng" dirty="0">
                <a:solidFill>
                  <a:srgbClr val="67516B"/>
                </a:solidFill>
                <a:latin typeface="Arial" pitchFamily="34" charset="0"/>
                <a:ea typeface="Arial" pitchFamily="34" charset="-122"/>
                <a:cs typeface="Arial" pitchFamily="34" charset="-120"/>
                <a:hlinkClick r:id="rId13"/>
              </a:rPr>
              <a:t>Amazon Automate Pricing (Amazon seller tools)</a:t>
            </a:r>
            <a:r>
              <a:rPr lang="en-US" sz="1500" dirty="0">
                <a:solidFill>
                  <a:srgbClr val="67516B"/>
                </a:solidFill>
                <a:latin typeface="Arial" pitchFamily="34" charset="0"/>
                <a:ea typeface="Arial" pitchFamily="34" charset="-122"/>
                <a:cs typeface="Arial" pitchFamily="34" charset="-120"/>
              </a:rPr>
              <a:t>    </a:t>
            </a:r>
            <a:r>
              <a:rPr lang="en-US" sz="1500" b="1" dirty="0">
                <a:solidFill>
                  <a:srgbClr val="67516B"/>
                </a:solidFill>
                <a:latin typeface="Arial" pitchFamily="34" charset="0"/>
                <a:ea typeface="Arial" pitchFamily="34" charset="-122"/>
                <a:cs typeface="Arial" pitchFamily="34" charset="-120"/>
              </a:rPr>
              <a:t>[2] </a:t>
            </a:r>
            <a:r>
              <a:rPr lang="en-US" sz="1500" u="sng" dirty="0" err="1">
                <a:solidFill>
                  <a:srgbClr val="67516B"/>
                </a:solidFill>
                <a:latin typeface="Arial" pitchFamily="34" charset="0"/>
                <a:ea typeface="Arial" pitchFamily="34" charset="-122"/>
                <a:cs typeface="Arial" pitchFamily="34" charset="-120"/>
                <a:hlinkClick r:id="rId14"/>
              </a:rPr>
              <a:t>Meesho</a:t>
            </a:r>
            <a:r>
              <a:rPr lang="en-US" sz="1500" u="sng" dirty="0">
                <a:solidFill>
                  <a:srgbClr val="67516B"/>
                </a:solidFill>
                <a:latin typeface="Arial" pitchFamily="34" charset="0"/>
                <a:ea typeface="Arial" pitchFamily="34" charset="-122"/>
                <a:cs typeface="Arial" pitchFamily="34" charset="-120"/>
                <a:hlinkClick r:id="rId14"/>
              </a:rPr>
              <a:t> Tech blog: price recommendation</a:t>
            </a:r>
            <a:r>
              <a:rPr lang="en-US" sz="1500" dirty="0">
                <a:solidFill>
                  <a:srgbClr val="67516B"/>
                </a:solidFill>
                <a:latin typeface="Arial" pitchFamily="34" charset="0"/>
                <a:ea typeface="Arial" pitchFamily="34" charset="-122"/>
                <a:cs typeface="Arial" pitchFamily="34" charset="-120"/>
                <a:hlinkClick r:id="rId14"/>
              </a:rPr>
              <a:t> </a:t>
            </a:r>
            <a:r>
              <a:rPr lang="en-US" sz="1500" dirty="0">
                <a:solidFill>
                  <a:srgbClr val="67516B"/>
                </a:solidFill>
                <a:latin typeface="Arial" pitchFamily="34" charset="0"/>
                <a:ea typeface="Arial" pitchFamily="34" charset="-122"/>
                <a:cs typeface="Arial" pitchFamily="34" charset="-120"/>
              </a:rPr>
              <a:t>   </a:t>
            </a:r>
            <a:r>
              <a:rPr lang="en-US" sz="1500" b="1" dirty="0">
                <a:solidFill>
                  <a:srgbClr val="67516B"/>
                </a:solidFill>
                <a:latin typeface="Arial" pitchFamily="34" charset="0"/>
                <a:ea typeface="Arial" pitchFamily="34" charset="-122"/>
                <a:cs typeface="Arial" pitchFamily="34" charset="-120"/>
              </a:rPr>
              <a:t>[3] </a:t>
            </a:r>
            <a:r>
              <a:rPr lang="en-US" sz="1500" u="sng" dirty="0">
                <a:solidFill>
                  <a:srgbClr val="67516B"/>
                </a:solidFill>
                <a:latin typeface="Arial" pitchFamily="34" charset="0"/>
                <a:ea typeface="Arial" pitchFamily="34" charset="-122"/>
                <a:cs typeface="Arial" pitchFamily="34" charset="-120"/>
                <a:hlinkClick r:id="rId15"/>
              </a:rPr>
              <a:t>eBay price prediction talk (</a:t>
            </a:r>
            <a:r>
              <a:rPr lang="en-US" sz="1500" u="sng" dirty="0" err="1">
                <a:solidFill>
                  <a:srgbClr val="67516B"/>
                </a:solidFill>
                <a:latin typeface="Arial" pitchFamily="34" charset="0"/>
                <a:ea typeface="Arial" pitchFamily="34" charset="-122"/>
                <a:cs typeface="Arial" pitchFamily="34" charset="-120"/>
                <a:hlinkClick r:id="rId15"/>
              </a:rPr>
              <a:t>ZenML</a:t>
            </a:r>
            <a:r>
              <a:rPr lang="en-US" sz="1500" u="sng" dirty="0">
                <a:solidFill>
                  <a:srgbClr val="67516B"/>
                </a:solidFill>
                <a:latin typeface="Arial" pitchFamily="34" charset="0"/>
                <a:ea typeface="Arial" pitchFamily="34" charset="-122"/>
                <a:cs typeface="Arial" pitchFamily="34" charset="-120"/>
                <a:hlinkClick r:id="rId15"/>
              </a:rPr>
              <a:t>)</a:t>
            </a:r>
            <a:r>
              <a:rPr lang="en-US" sz="1500" dirty="0">
                <a:solidFill>
                  <a:srgbClr val="67516B"/>
                </a:solidFill>
                <a:latin typeface="Arial" pitchFamily="34" charset="0"/>
                <a:ea typeface="Arial" pitchFamily="34" charset="-122"/>
                <a:cs typeface="Arial" pitchFamily="34" charset="-120"/>
                <a:hlinkClick r:id="rId15"/>
              </a:rPr>
              <a:t>    </a:t>
            </a:r>
            <a:r>
              <a:rPr lang="en-US" sz="1500" b="1" dirty="0">
                <a:solidFill>
                  <a:srgbClr val="67516B"/>
                </a:solidFill>
                <a:latin typeface="Arial" pitchFamily="34" charset="0"/>
                <a:ea typeface="Arial" pitchFamily="34" charset="-122"/>
                <a:cs typeface="Arial" pitchFamily="34" charset="-120"/>
              </a:rPr>
              <a:t>[4] </a:t>
            </a:r>
            <a:r>
              <a:rPr lang="en-US" sz="1500" u="sng" dirty="0" err="1">
                <a:solidFill>
                  <a:srgbClr val="67516B"/>
                </a:solidFill>
                <a:latin typeface="Arial" pitchFamily="34" charset="0"/>
                <a:ea typeface="Arial" pitchFamily="34" charset="-122"/>
                <a:cs typeface="Arial" pitchFamily="34" charset="-120"/>
                <a:hlinkClick r:id="rId16"/>
              </a:rPr>
              <a:t>Mercari</a:t>
            </a:r>
            <a:r>
              <a:rPr lang="en-US" sz="1500" u="sng" dirty="0">
                <a:solidFill>
                  <a:srgbClr val="67516B"/>
                </a:solidFill>
                <a:latin typeface="Arial" pitchFamily="34" charset="0"/>
                <a:ea typeface="Arial" pitchFamily="34" charset="-122"/>
                <a:cs typeface="Arial" pitchFamily="34" charset="-120"/>
                <a:hlinkClick r:id="rId16"/>
              </a:rPr>
              <a:t> price guidance and Smart Pricing (</a:t>
            </a:r>
            <a:r>
              <a:rPr lang="en-US" sz="1500" u="sng" dirty="0" err="1">
                <a:solidFill>
                  <a:srgbClr val="67516B"/>
                </a:solidFill>
                <a:latin typeface="Arial" pitchFamily="34" charset="0"/>
                <a:ea typeface="Arial" pitchFamily="34" charset="-122"/>
                <a:cs typeface="Arial" pitchFamily="34" charset="-120"/>
                <a:hlinkClick r:id="rId16"/>
              </a:rPr>
              <a:t>Mercari</a:t>
            </a:r>
            <a:r>
              <a:rPr lang="en-US" sz="1500" u="sng" dirty="0">
                <a:solidFill>
                  <a:srgbClr val="67516B"/>
                </a:solidFill>
                <a:latin typeface="Arial" pitchFamily="34" charset="0"/>
                <a:ea typeface="Arial" pitchFamily="34" charset="-122"/>
                <a:cs typeface="Arial" pitchFamily="34" charset="-120"/>
                <a:hlinkClick r:id="rId16"/>
              </a:rPr>
              <a:t> Engineering)</a:t>
            </a:r>
            <a:r>
              <a:rPr lang="en-US" sz="1500" dirty="0">
                <a:solidFill>
                  <a:srgbClr val="67516B"/>
                </a:solidFill>
                <a:latin typeface="Arial" pitchFamily="34" charset="0"/>
                <a:ea typeface="Arial" pitchFamily="34" charset="-122"/>
                <a:cs typeface="Arial" pitchFamily="34" charset="-120"/>
              </a:rPr>
              <a:t>    </a:t>
            </a:r>
            <a:r>
              <a:rPr lang="en-US" sz="1500" b="1" dirty="0">
                <a:solidFill>
                  <a:srgbClr val="67516B"/>
                </a:solidFill>
                <a:latin typeface="Arial" pitchFamily="34" charset="0"/>
                <a:ea typeface="Arial" pitchFamily="34" charset="-122"/>
                <a:cs typeface="Arial" pitchFamily="34" charset="-120"/>
              </a:rPr>
              <a:t>[5] </a:t>
            </a:r>
            <a:r>
              <a:rPr lang="en-US" sz="1500" u="sng" dirty="0">
                <a:solidFill>
                  <a:srgbClr val="67516B"/>
                </a:solidFill>
                <a:latin typeface="Arial" pitchFamily="34" charset="0"/>
                <a:ea typeface="Arial" pitchFamily="34" charset="-122"/>
                <a:cs typeface="Arial" pitchFamily="34" charset="-120"/>
                <a:hlinkClick r:id="rId17"/>
              </a:rPr>
              <a:t>Airbnb dynamic pricing, KDD 2018</a:t>
            </a:r>
            <a:r>
              <a:rPr lang="en-US" sz="1500" dirty="0">
                <a:solidFill>
                  <a:srgbClr val="67516B"/>
                </a:solidFill>
                <a:latin typeface="Arial" pitchFamily="34" charset="0"/>
                <a:ea typeface="Arial" pitchFamily="34" charset="-122"/>
                <a:cs typeface="Arial" pitchFamily="34" charset="-120"/>
              </a:rPr>
              <a:t>    </a:t>
            </a:r>
            <a:r>
              <a:rPr lang="en-US" sz="1500" b="1" dirty="0">
                <a:solidFill>
                  <a:srgbClr val="67516B"/>
                </a:solidFill>
                <a:latin typeface="Arial" pitchFamily="34" charset="0"/>
                <a:ea typeface="Arial" pitchFamily="34" charset="-122"/>
                <a:cs typeface="Arial" pitchFamily="34" charset="-120"/>
              </a:rPr>
              <a:t>[6] </a:t>
            </a:r>
            <a:r>
              <a:rPr lang="en-US" sz="1500" u="sng" dirty="0">
                <a:solidFill>
                  <a:srgbClr val="67516B"/>
                </a:solidFill>
                <a:latin typeface="Arial" pitchFamily="34" charset="0"/>
                <a:ea typeface="Arial" pitchFamily="34" charset="-122"/>
                <a:cs typeface="Arial" pitchFamily="34" charset="-120"/>
                <a:hlinkClick r:id="rId18"/>
              </a:rPr>
              <a:t>Flipkart Commerce Cloud (Chain Store Age)</a:t>
            </a:r>
            <a:r>
              <a:rPr lang="en-US" sz="1500" dirty="0">
                <a:solidFill>
                  <a:srgbClr val="67516B"/>
                </a:solidFill>
                <a:latin typeface="Arial" pitchFamily="34" charset="0"/>
                <a:ea typeface="Arial" pitchFamily="34" charset="-122"/>
                <a:cs typeface="Arial" pitchFamily="34" charset="-120"/>
              </a:rPr>
              <a:t>    </a:t>
            </a:r>
            <a:r>
              <a:rPr lang="en-US" sz="1500" b="1" dirty="0">
                <a:solidFill>
                  <a:srgbClr val="67516B"/>
                </a:solidFill>
                <a:latin typeface="Arial" pitchFamily="34" charset="0"/>
                <a:ea typeface="Arial" pitchFamily="34" charset="-122"/>
                <a:cs typeface="Arial" pitchFamily="34" charset="-120"/>
              </a:rPr>
              <a:t>[7] </a:t>
            </a:r>
            <a:r>
              <a:rPr lang="en-US" sz="1500" u="sng" dirty="0" err="1">
                <a:solidFill>
                  <a:srgbClr val="67516B"/>
                </a:solidFill>
                <a:latin typeface="Arial" pitchFamily="34" charset="0"/>
                <a:ea typeface="Arial" pitchFamily="34" charset="-122"/>
                <a:cs typeface="Arial" pitchFamily="34" charset="-120"/>
                <a:hlinkClick r:id="rId19"/>
              </a:rPr>
              <a:t>Competera</a:t>
            </a:r>
            <a:r>
              <a:rPr lang="en-US" sz="1500" u="sng" dirty="0">
                <a:solidFill>
                  <a:srgbClr val="67516B"/>
                </a:solidFill>
                <a:latin typeface="Arial" pitchFamily="34" charset="0"/>
                <a:ea typeface="Arial" pitchFamily="34" charset="-122"/>
                <a:cs typeface="Arial" pitchFamily="34" charset="-120"/>
                <a:hlinkClick r:id="rId19"/>
              </a:rPr>
              <a:t> </a:t>
            </a:r>
            <a:r>
              <a:rPr lang="en-US" sz="1500" u="sng" dirty="0" smtClean="0">
                <a:solidFill>
                  <a:srgbClr val="67516B"/>
                </a:solidFill>
                <a:latin typeface="Arial" pitchFamily="34" charset="0"/>
                <a:ea typeface="Arial" pitchFamily="34" charset="-122"/>
                <a:cs typeface="Arial" pitchFamily="34" charset="-120"/>
                <a:hlinkClick r:id="rId19"/>
              </a:rPr>
              <a:t>platform </a:t>
            </a:r>
            <a:r>
              <a:rPr lang="en-US" sz="1500" dirty="0" smtClean="0">
                <a:solidFill>
                  <a:srgbClr val="67516B"/>
                </a:solidFill>
                <a:latin typeface="Arial" pitchFamily="34" charset="0"/>
                <a:ea typeface="Arial" pitchFamily="34" charset="-122"/>
                <a:cs typeface="Arial" pitchFamily="34" charset="-120"/>
              </a:rPr>
              <a:t>on </a:t>
            </a:r>
            <a:r>
              <a:rPr lang="en-US" sz="1500" dirty="0">
                <a:solidFill>
                  <a:srgbClr val="67516B"/>
                </a:solidFill>
                <a:latin typeface="Arial" pitchFamily="34" charset="0"/>
                <a:ea typeface="Arial" pitchFamily="34" charset="-122"/>
                <a:cs typeface="Arial" pitchFamily="34" charset="-120"/>
              </a:rPr>
              <a:t>slide 7.</a:t>
            </a:r>
            <a:endParaRPr lang="en-US" sz="1500" dirty="0"/>
          </a:p>
        </p:txBody>
      </p:sp>
      <p:sp>
        <p:nvSpPr>
          <p:cNvPr id="11" name="Shape 9"/>
          <p:cNvSpPr/>
          <p:nvPr/>
        </p:nvSpPr>
        <p:spPr>
          <a:xfrm>
            <a:off x="12131040" y="3886200"/>
            <a:ext cx="5425440" cy="5212080"/>
          </a:xfrm>
          <a:prstGeom prst="roundRect">
            <a:avLst>
              <a:gd name="adj" fmla="val 2105"/>
            </a:avLst>
          </a:prstGeom>
          <a:solidFill>
            <a:srgbClr val="EFE3F1"/>
          </a:solidFill>
          <a:ln w="12700">
            <a:solidFill>
              <a:srgbClr val="EFE3F1"/>
            </a:solidFill>
            <a:prstDash val="solid"/>
          </a:ln>
        </p:spPr>
        <p:txBody>
          <a:bodyPr/>
          <a:p/>
        </p:txBody>
      </p:sp>
      <p:sp>
        <p:nvSpPr>
          <p:cNvPr id="12" name="Text 10"/>
          <p:cNvSpPr txBox="1"/>
          <p:nvPr/>
        </p:nvSpPr>
        <p:spPr>
          <a:xfrm>
            <a:off x="12405360" y="4023360"/>
            <a:ext cx="4876800" cy="411480"/>
          </a:xfrm>
          <a:prstGeom prst="rect">
            <a:avLst/>
          </a:prstGeom>
          <a:noFill/>
          <a:ln/>
        </p:spPr>
        <p:txBody>
          <a:bodyPr wrap="square" lIns="0" tIns="0" rIns="0" bIns="0" rtlCol="0" anchor="t"/>
          <a:lstStyle/>
          <a:p>
            <a:pPr marL="0" indent="0">
              <a:buNone/>
            </a:pPr>
            <a:r>
              <a:rPr lang="en-US" sz="1800" b="1" dirty="0">
                <a:solidFill>
                  <a:srgbClr val="4B1248"/>
                </a:solidFill>
                <a:latin typeface="Arial" pitchFamily="34" charset="0"/>
                <a:ea typeface="Arial" pitchFamily="34" charset="-122"/>
                <a:cs typeface="Arial" pitchFamily="34" charset="-120"/>
              </a:rPr>
              <a:t>Demo data and assumptions</a:t>
            </a:r>
            <a:endParaRPr lang="en-US" sz="1800" dirty="0"/>
          </a:p>
        </p:txBody>
      </p:sp>
      <p:sp>
        <p:nvSpPr>
          <p:cNvPr id="13" name="Text 11"/>
          <p:cNvSpPr txBox="1"/>
          <p:nvPr/>
        </p:nvSpPr>
        <p:spPr>
          <a:xfrm>
            <a:off x="12405360" y="4572000"/>
            <a:ext cx="4876800" cy="4389120"/>
          </a:xfrm>
          <a:prstGeom prst="rect">
            <a:avLst/>
          </a:prstGeom>
          <a:noFill/>
          <a:ln/>
        </p:spPr>
        <p:txBody>
          <a:bodyPr wrap="square" lIns="0" tIns="0" rIns="0" bIns="0" rtlCol="0" anchor="t"/>
          <a:lstStyle/>
          <a:p>
            <a:pPr marL="0" indent="0">
              <a:buNone/>
            </a:pPr>
            <a:r>
              <a:rPr lang="en-US" sz="1500" b="1" dirty="0">
                <a:solidFill>
                  <a:srgbClr val="2A0B2F"/>
                </a:solidFill>
                <a:latin typeface="Arial" pitchFamily="34" charset="0"/>
                <a:ea typeface="Arial" pitchFamily="34" charset="-122"/>
                <a:cs typeface="Arial" pitchFamily="34" charset="-120"/>
              </a:rPr>
              <a:t>Synthetic data, built to show the method</a:t>
            </a:r>
            <a:endParaRPr lang="en-US" sz="1500" dirty="0"/>
          </a:p>
          <a:p>
            <a:pPr marL="0" indent="0">
              <a:spcAft>
                <a:spcPts val="1800"/>
              </a:spcAft>
              <a:buNone/>
            </a:pPr>
            <a:r>
              <a:rPr lang="en-US" sz="1500" dirty="0">
                <a:solidFill>
                  <a:srgbClr val="67516B"/>
                </a:solidFill>
                <a:latin typeface="Arial" pitchFamily="34" charset="0"/>
                <a:ea typeface="Arial" pitchFamily="34" charset="-122"/>
                <a:cs typeface="Arial" pitchFamily="34" charset="-120"/>
              </a:rPr>
              <a:t>300 listings (150 soap, 150 t-shirt), 7,627 listing-weeks, 28,639 reviews, Sep 2025 to Sep 2026. Not a forecast for real sellers</a:t>
            </a:r>
            <a:r>
              <a:rPr lang="en-US" sz="1500" dirty="0" smtClean="0">
                <a:solidFill>
                  <a:srgbClr val="67516B"/>
                </a:solidFill>
                <a:latin typeface="Arial" pitchFamily="34" charset="0"/>
                <a:ea typeface="Arial" pitchFamily="34" charset="-122"/>
                <a:cs typeface="Arial" pitchFamily="34" charset="-120"/>
              </a:rPr>
              <a:t>. </a:t>
            </a:r>
            <a:r>
              <a:rPr lang="en-US" sz="1500" dirty="0" smtClean="0">
                <a:solidFill>
                  <a:srgbClr val="67516B"/>
                </a:solidFill>
                <a:latin typeface="Arial" pitchFamily="34" charset="0"/>
                <a:ea typeface="Arial" pitchFamily="34" charset="-122"/>
                <a:cs typeface="Arial" pitchFamily="34" charset="-120"/>
                <a:hlinkClick r:id="rId20"/>
              </a:rPr>
              <a:t>Synthetic Data</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Costs assumed in the demo</a:t>
            </a:r>
            <a:endParaRPr lang="en-US" sz="1500" dirty="0"/>
          </a:p>
          <a:p>
            <a:pPr marL="0" indent="0">
              <a:spcAft>
                <a:spcPts val="1800"/>
              </a:spcAft>
              <a:buNone/>
            </a:pPr>
            <a:r>
              <a:rPr lang="en-US" sz="1500" dirty="0">
                <a:solidFill>
                  <a:srgbClr val="67516B"/>
                </a:solidFill>
                <a:latin typeface="Arial" pitchFamily="34" charset="0"/>
                <a:ea typeface="Arial" pitchFamily="34" charset="-122"/>
                <a:cs typeface="Arial" pitchFamily="34" charset="-120"/>
              </a:rPr>
              <a:t>Delivery ₹30 per soap and ₹70 per t-shirt parcel; a return pickup costs the same; RTO parcels come back intact; GST 5%.</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Returns</a:t>
            </a:r>
            <a:endParaRPr lang="en-US" sz="1500" dirty="0"/>
          </a:p>
          <a:p>
            <a:pPr marL="0" indent="0">
              <a:spcAft>
                <a:spcPts val="1800"/>
              </a:spcAft>
              <a:buNone/>
            </a:pPr>
            <a:r>
              <a:rPr lang="en-US" sz="1500" dirty="0">
                <a:solidFill>
                  <a:srgbClr val="67516B"/>
                </a:solidFill>
                <a:latin typeface="Arial" pitchFamily="34" charset="0"/>
                <a:ea typeface="Arial" pitchFamily="34" charset="-122"/>
                <a:cs typeface="Arial" pitchFamily="34" charset="-120"/>
              </a:rPr>
              <a:t>A returned soap can't be resold; about 70% of returned t-shirts go back to stock.</a:t>
            </a:r>
            <a:endParaRPr lang="en-US" sz="1500" dirty="0"/>
          </a:p>
          <a:p>
            <a:pPr marL="0" indent="0">
              <a:buNone/>
            </a:pPr>
            <a:r>
              <a:rPr lang="en-US" sz="1500" b="1" dirty="0">
                <a:solidFill>
                  <a:srgbClr val="2A0B2F"/>
                </a:solidFill>
                <a:latin typeface="Arial" pitchFamily="34" charset="0"/>
                <a:ea typeface="Arial" pitchFamily="34" charset="-122"/>
                <a:cs typeface="Arial" pitchFamily="34" charset="-120"/>
              </a:rPr>
              <a:t>How the models were checked</a:t>
            </a:r>
            <a:endParaRPr lang="en-US" sz="1500" dirty="0"/>
          </a:p>
          <a:p>
            <a:pPr marL="0" indent="0">
              <a:spcAft>
                <a:spcPts val="1800"/>
              </a:spcAft>
              <a:buNone/>
            </a:pPr>
            <a:r>
              <a:rPr lang="en-US" sz="1500" dirty="0">
                <a:solidFill>
                  <a:srgbClr val="67516B"/>
                </a:solidFill>
                <a:latin typeface="Arial" pitchFamily="34" charset="0"/>
                <a:ea typeface="Arial" pitchFamily="34" charset="-122"/>
                <a:cs typeface="Arial" pitchFamily="34" charset="-120"/>
              </a:rPr>
              <a:t>Hold-out backtest (31% and 41% error, against 153% and 87% for a simple average) and a run against the simulator that generated the data.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4685</Words>
  <Application>Microsoft Office PowerPoint</Application>
  <PresentationFormat>Custom</PresentationFormat>
  <Paragraphs>451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Confidence: Meesho DICE Challenge S3, Round 2</dc:title>
  <dc:subject>PptxGenJS Presentation</dc:subject>
  <dc:creator>Team Edge Case, IIT Roorkee</dc:creator>
  <cp:lastModifiedBy>HP</cp:lastModifiedBy>
  <cp:revision>3</cp:revision>
  <dcterms:created xsi:type="dcterms:W3CDTF">2026-10-04T12:06:56Z</dcterms:created>
  <dcterms:modified xsi:type="dcterms:W3CDTF">2026-10-04T12:26:26Z</dcterms:modified>
</cp:coreProperties>
</file>